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nstrument Serif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1.jpe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3572170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Estimación de costes en ingeniería de software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693121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Modelos: COCOMO y Estimación Ágil (Scrum). Calidad e Ingeniería de Software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0238" y="1324127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Introducción: ¿Qué y por qué importa?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45476" y="3535566"/>
            <a:ext cx="4590459" cy="3023149"/>
            <a:chOff x="0" y="0"/>
            <a:chExt cx="6120613" cy="40308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20511" cy="4030726"/>
            </a:xfrm>
            <a:custGeom>
              <a:avLst/>
              <a:gdLst/>
              <a:ahLst/>
              <a:cxnLst/>
              <a:rect l="l" t="t" r="r" b="b"/>
              <a:pathLst>
                <a:path w="6120511" h="4030726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5961253" y="0"/>
                  </a:lnTo>
                  <a:cubicBezTo>
                    <a:pt x="6049264" y="0"/>
                    <a:pt x="6120511" y="71374"/>
                    <a:pt x="6120511" y="159258"/>
                  </a:cubicBezTo>
                  <a:lnTo>
                    <a:pt x="6120511" y="3871468"/>
                  </a:lnTo>
                  <a:cubicBezTo>
                    <a:pt x="6120511" y="3959479"/>
                    <a:pt x="6049137" y="4030726"/>
                    <a:pt x="5961253" y="4030726"/>
                  </a:cubicBezTo>
                  <a:lnTo>
                    <a:pt x="159258" y="4030726"/>
                  </a:lnTo>
                  <a:cubicBezTo>
                    <a:pt x="71374" y="4030853"/>
                    <a:pt x="0" y="3959479"/>
                    <a:pt x="0" y="3871595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143284" y="3823839"/>
            <a:ext cx="1610316" cy="42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dirty="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¿</a:t>
            </a:r>
            <a:r>
              <a:rPr lang="en-US" sz="2700" dirty="0" err="1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Qué</a:t>
            </a:r>
            <a:r>
              <a:rPr lang="en-US" sz="2700" dirty="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es?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43284" y="4351144"/>
            <a:ext cx="3994842" cy="129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Calculo anticipado de esfuerzo, tiempo y recursos necesarios para desarrollar software.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709922" y="3535566"/>
            <a:ext cx="4590602" cy="3023149"/>
            <a:chOff x="0" y="0"/>
            <a:chExt cx="6120803" cy="40308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20765" cy="4030726"/>
            </a:xfrm>
            <a:custGeom>
              <a:avLst/>
              <a:gdLst/>
              <a:ahLst/>
              <a:cxnLst/>
              <a:rect l="l" t="t" r="r" b="b"/>
              <a:pathLst>
                <a:path w="6120765" h="4030726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5961507" y="0"/>
                  </a:lnTo>
                  <a:cubicBezTo>
                    <a:pt x="6049518" y="0"/>
                    <a:pt x="6120765" y="71374"/>
                    <a:pt x="6120765" y="159258"/>
                  </a:cubicBezTo>
                  <a:lnTo>
                    <a:pt x="6120765" y="3871468"/>
                  </a:lnTo>
                  <a:cubicBezTo>
                    <a:pt x="6120765" y="3959479"/>
                    <a:pt x="6049391" y="4030726"/>
                    <a:pt x="5961507" y="4030726"/>
                  </a:cubicBezTo>
                  <a:lnTo>
                    <a:pt x="159258" y="4030726"/>
                  </a:lnTo>
                  <a:cubicBezTo>
                    <a:pt x="71374" y="4030853"/>
                    <a:pt x="0" y="3959479"/>
                    <a:pt x="0" y="3871595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07731" y="382384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Importancia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07731" y="4351144"/>
            <a:ext cx="3994995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Determina presupuesto, viabilidad, planificación de equipos y base contractual.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845476" y="6832702"/>
            <a:ext cx="9455048" cy="2115893"/>
            <a:chOff x="0" y="0"/>
            <a:chExt cx="12606731" cy="28211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606782" cy="2821178"/>
            </a:xfrm>
            <a:custGeom>
              <a:avLst/>
              <a:gdLst/>
              <a:ahLst/>
              <a:cxnLst/>
              <a:rect l="l" t="t" r="r" b="b"/>
              <a:pathLst>
                <a:path w="12606782" h="2821178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2447270" y="0"/>
                  </a:lnTo>
                  <a:cubicBezTo>
                    <a:pt x="12535408" y="0"/>
                    <a:pt x="12606782" y="71374"/>
                    <a:pt x="12606782" y="159512"/>
                  </a:cubicBezTo>
                  <a:lnTo>
                    <a:pt x="12606782" y="2661666"/>
                  </a:lnTo>
                  <a:cubicBezTo>
                    <a:pt x="12606782" y="2749804"/>
                    <a:pt x="12535408" y="2821178"/>
                    <a:pt x="12447270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143284" y="712097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Desafíos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3284" y="7648280"/>
            <a:ext cx="885944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Intangibilidad, requisitos cambiantes, variabilidad de productividad e incertidumbres.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2055466"/>
            <a:ext cx="12710370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Enfoques principales de estimación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527527"/>
            <a:ext cx="1104900" cy="682828"/>
            <a:chOff x="0" y="0"/>
            <a:chExt cx="1473200" cy="91043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473200" cy="910463"/>
            </a:xfrm>
            <a:custGeom>
              <a:avLst/>
              <a:gdLst/>
              <a:ahLst/>
              <a:cxnLst/>
              <a:rect l="l" t="t" r="r" b="b"/>
              <a:pathLst>
                <a:path w="1473200" h="910463">
                  <a:moveTo>
                    <a:pt x="0" y="0"/>
                  </a:moveTo>
                  <a:lnTo>
                    <a:pt x="1473200" y="0"/>
                  </a:lnTo>
                  <a:lnTo>
                    <a:pt x="1473200" y="910463"/>
                  </a:lnTo>
                  <a:lnTo>
                    <a:pt x="0" y="910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7" b="-214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51497" y="3518002"/>
            <a:ext cx="235074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Paramétrico (COCOMO)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51497" y="4488209"/>
            <a:ext cx="2350741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Fórmulas basadas en métricas del proyecto. Buena precisión en proyectos grandes y estables.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156597" y="3527527"/>
            <a:ext cx="1104900" cy="682828"/>
            <a:chOff x="0" y="0"/>
            <a:chExt cx="1473200" cy="91043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473200" cy="910463"/>
            </a:xfrm>
            <a:custGeom>
              <a:avLst/>
              <a:gdLst/>
              <a:ahLst/>
              <a:cxnLst/>
              <a:rect l="l" t="t" r="r" b="b"/>
              <a:pathLst>
                <a:path w="1473200" h="910463">
                  <a:moveTo>
                    <a:pt x="0" y="0"/>
                  </a:moveTo>
                  <a:lnTo>
                    <a:pt x="1473200" y="0"/>
                  </a:lnTo>
                  <a:lnTo>
                    <a:pt x="1473200" y="910463"/>
                  </a:lnTo>
                  <a:lnTo>
                    <a:pt x="0" y="910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7" b="-214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15855" y="3518002"/>
            <a:ext cx="235089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Ágil (Story Points)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15855" y="4488209"/>
            <a:ext cx="2350894" cy="281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Estimación relativa con puntos de historia; flexible e iterativo, ideal para cambios.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21108" y="3527527"/>
            <a:ext cx="1104900" cy="682828"/>
            <a:chOff x="0" y="0"/>
            <a:chExt cx="1473200" cy="91043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473200" cy="910463"/>
            </a:xfrm>
            <a:custGeom>
              <a:avLst/>
              <a:gdLst/>
              <a:ahLst/>
              <a:cxnLst/>
              <a:rect l="l" t="t" r="r" b="b"/>
              <a:pathLst>
                <a:path w="1473200" h="910463">
                  <a:moveTo>
                    <a:pt x="0" y="0"/>
                  </a:moveTo>
                  <a:lnTo>
                    <a:pt x="1473200" y="0"/>
                  </a:lnTo>
                  <a:lnTo>
                    <a:pt x="1473200" y="910463"/>
                  </a:lnTo>
                  <a:lnTo>
                    <a:pt x="0" y="910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17" b="-214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780366" y="3518002"/>
            <a:ext cx="235089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Juicio experto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80366" y="4045296"/>
            <a:ext cx="2350894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Basado en experiencia senior: rápido pero subjetivo.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485609" y="3527527"/>
            <a:ext cx="1104900" cy="682828"/>
            <a:chOff x="0" y="0"/>
            <a:chExt cx="1473200" cy="910438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473200" cy="910463"/>
            </a:xfrm>
            <a:custGeom>
              <a:avLst/>
              <a:gdLst/>
              <a:ahLst/>
              <a:cxnLst/>
              <a:rect l="l" t="t" r="r" b="b"/>
              <a:pathLst>
                <a:path w="1473200" h="910463">
                  <a:moveTo>
                    <a:pt x="0" y="0"/>
                  </a:moveTo>
                  <a:lnTo>
                    <a:pt x="1473200" y="0"/>
                  </a:lnTo>
                  <a:lnTo>
                    <a:pt x="1473200" y="910463"/>
                  </a:lnTo>
                  <a:lnTo>
                    <a:pt x="0" y="910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17" b="-214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944877" y="3518002"/>
            <a:ext cx="235089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Analogía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44877" y="4045296"/>
            <a:ext cx="2350894" cy="236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Comparar con proyectos previos similares; requiere historial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18867"/>
            <a:ext cx="10760716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COCOMO — Historia y modos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620270"/>
            <a:ext cx="7805890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COCOMO (Boehm, 1981). Modelo algorítmico que estima esfuerzo a partir del tamaño en LOC (KLOC). COCOMO II (1995) adapta el modelo a entornos modernos.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4395340"/>
            <a:ext cx="7805890" cy="4423324"/>
            <a:chOff x="0" y="0"/>
            <a:chExt cx="10407853" cy="589776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407904" cy="5897753"/>
            </a:xfrm>
            <a:custGeom>
              <a:avLst/>
              <a:gdLst/>
              <a:ahLst/>
              <a:cxnLst/>
              <a:rect l="l" t="t" r="r" b="b"/>
              <a:pathLst>
                <a:path w="10407904" h="5897753">
                  <a:moveTo>
                    <a:pt x="0" y="0"/>
                  </a:moveTo>
                  <a:lnTo>
                    <a:pt x="10407904" y="0"/>
                  </a:lnTo>
                  <a:lnTo>
                    <a:pt x="10407904" y="5897753"/>
                  </a:lnTo>
                  <a:lnTo>
                    <a:pt x="0" y="589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" r="-71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9499406" y="2568026"/>
            <a:ext cx="3761184" cy="3542852"/>
          </a:xfrm>
          <a:custGeom>
            <a:avLst/>
            <a:gdLst/>
            <a:ahLst/>
            <a:cxnLst/>
            <a:rect l="l" t="t" r="r" b="b"/>
            <a:pathLst>
              <a:path w="3761184" h="3542852">
                <a:moveTo>
                  <a:pt x="0" y="0"/>
                </a:moveTo>
                <a:lnTo>
                  <a:pt x="3761185" y="0"/>
                </a:lnTo>
                <a:lnTo>
                  <a:pt x="3761185" y="3542852"/>
                </a:lnTo>
                <a:lnTo>
                  <a:pt x="0" y="3542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4" b="-125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1" name="Group 11"/>
          <p:cNvGrpSpPr/>
          <p:nvPr/>
        </p:nvGrpSpPr>
        <p:grpSpPr>
          <a:xfrm>
            <a:off x="11209811" y="2780700"/>
            <a:ext cx="340223" cy="425206"/>
            <a:chOff x="0" y="0"/>
            <a:chExt cx="453631" cy="5669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629" cy="566936"/>
            </a:xfrm>
            <a:custGeom>
              <a:avLst/>
              <a:gdLst/>
              <a:ahLst/>
              <a:cxnLst/>
              <a:rect l="l" t="t" r="r" b="b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52" r="-110352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53631" cy="566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21018" y="3692423"/>
            <a:ext cx="311795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Orgánico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21018" y="4333132"/>
            <a:ext cx="3117952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Proyectos pequeños, &lt;50 KLOC. Equipos experimentados.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3544102" y="2568026"/>
            <a:ext cx="3761184" cy="3542852"/>
          </a:xfrm>
          <a:custGeom>
            <a:avLst/>
            <a:gdLst/>
            <a:ahLst/>
            <a:cxnLst/>
            <a:rect l="l" t="t" r="r" b="b"/>
            <a:pathLst>
              <a:path w="3761184" h="3542852">
                <a:moveTo>
                  <a:pt x="0" y="0"/>
                </a:moveTo>
                <a:lnTo>
                  <a:pt x="3761185" y="0"/>
                </a:lnTo>
                <a:lnTo>
                  <a:pt x="3761185" y="3542852"/>
                </a:lnTo>
                <a:lnTo>
                  <a:pt x="0" y="3542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4" b="-125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7" name="Group 17"/>
          <p:cNvGrpSpPr/>
          <p:nvPr/>
        </p:nvGrpSpPr>
        <p:grpSpPr>
          <a:xfrm>
            <a:off x="15254507" y="2780700"/>
            <a:ext cx="340223" cy="425206"/>
            <a:chOff x="0" y="0"/>
            <a:chExt cx="453631" cy="5669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3629" cy="566936"/>
            </a:xfrm>
            <a:custGeom>
              <a:avLst/>
              <a:gdLst/>
              <a:ahLst/>
              <a:cxnLst/>
              <a:rect l="l" t="t" r="r" b="b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52" r="-110352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453631" cy="566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2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865723" y="3692423"/>
            <a:ext cx="3117952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Semiacoplado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65723" y="4333132"/>
            <a:ext cx="311795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50–300 KLOC. Mezcla de experiencia.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499406" y="6394399"/>
            <a:ext cx="7805890" cy="2635596"/>
          </a:xfrm>
          <a:custGeom>
            <a:avLst/>
            <a:gdLst/>
            <a:ahLst/>
            <a:cxnLst/>
            <a:rect l="l" t="t" r="r" b="b"/>
            <a:pathLst>
              <a:path w="7805890" h="2635596">
                <a:moveTo>
                  <a:pt x="0" y="0"/>
                </a:moveTo>
                <a:lnTo>
                  <a:pt x="7805890" y="0"/>
                </a:lnTo>
                <a:lnTo>
                  <a:pt x="7805890" y="2635596"/>
                </a:lnTo>
                <a:lnTo>
                  <a:pt x="0" y="26355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04" b="-204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23" name="Group 23"/>
          <p:cNvGrpSpPr/>
          <p:nvPr/>
        </p:nvGrpSpPr>
        <p:grpSpPr>
          <a:xfrm>
            <a:off x="13232082" y="6607073"/>
            <a:ext cx="340223" cy="425206"/>
            <a:chOff x="0" y="0"/>
            <a:chExt cx="453631" cy="5669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3629" cy="566936"/>
            </a:xfrm>
            <a:custGeom>
              <a:avLst/>
              <a:gdLst/>
              <a:ahLst/>
              <a:cxnLst/>
              <a:rect l="l" t="t" r="r" b="b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52" r="-110352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453631" cy="566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3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821018" y="751879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Embebido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21018" y="8159506"/>
            <a:ext cx="7162648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&gt;300 KLOC. Alta complejidad, requisitos rígidos.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0238" y="1716434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Fórmulas clave de COCOMO Básico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850238" y="3932634"/>
            <a:ext cx="567033" cy="354359"/>
            <a:chOff x="0" y="0"/>
            <a:chExt cx="756044" cy="4724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56048" cy="472480"/>
            </a:xfrm>
            <a:custGeom>
              <a:avLst/>
              <a:gdLst/>
              <a:ahLst/>
              <a:cxnLst/>
              <a:rect l="l" t="t" r="r" b="b"/>
              <a:pathLst>
                <a:path w="756048" h="472480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81" r="-30180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756044" cy="482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B5F71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50238" y="4376442"/>
            <a:ext cx="4580934" cy="38100"/>
            <a:chOff x="0" y="0"/>
            <a:chExt cx="6107913" cy="508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6107938" cy="50800"/>
            </a:xfrm>
            <a:custGeom>
              <a:avLst/>
              <a:gdLst/>
              <a:ahLst/>
              <a:cxnLst/>
              <a:rect l="l" t="t" r="r" b="b"/>
              <a:pathLst>
                <a:path w="6107938" h="50800">
                  <a:moveTo>
                    <a:pt x="0" y="0"/>
                  </a:moveTo>
                  <a:lnTo>
                    <a:pt x="6107938" y="0"/>
                  </a:lnTo>
                  <a:lnTo>
                    <a:pt x="6107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r="-6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850238" y="458480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Esfuerzo (E)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50238" y="5112096"/>
            <a:ext cx="4580934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 = a × (KLOC)^b — resultado en Personas‑Mes.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714684" y="3932634"/>
            <a:ext cx="567033" cy="354359"/>
            <a:chOff x="0" y="0"/>
            <a:chExt cx="756044" cy="4724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6048" cy="472480"/>
            </a:xfrm>
            <a:custGeom>
              <a:avLst/>
              <a:gdLst/>
              <a:ahLst/>
              <a:cxnLst/>
              <a:rect l="l" t="t" r="r" b="b"/>
              <a:pathLst>
                <a:path w="756048" h="472480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81" r="-30180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756044" cy="482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B5F71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14684" y="4404722"/>
            <a:ext cx="4581077" cy="38100"/>
            <a:chOff x="0" y="0"/>
            <a:chExt cx="6108103" cy="508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6108065" cy="50800"/>
            </a:xfrm>
            <a:custGeom>
              <a:avLst/>
              <a:gdLst/>
              <a:ahLst/>
              <a:cxnLst/>
              <a:rect l="l" t="t" r="r" b="b"/>
              <a:pathLst>
                <a:path w="6108065" h="50800">
                  <a:moveTo>
                    <a:pt x="0" y="0"/>
                  </a:moveTo>
                  <a:lnTo>
                    <a:pt x="6108065" y="0"/>
                  </a:lnTo>
                  <a:lnTo>
                    <a:pt x="6108065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" r="-5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714684" y="458480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Tiempo (T)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14684" y="5112096"/>
            <a:ext cx="4581077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 = c × (E)^d — resultado en meses.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850238" y="6610645"/>
            <a:ext cx="567033" cy="354359"/>
            <a:chOff x="0" y="0"/>
            <a:chExt cx="756044" cy="4724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6048" cy="472480"/>
            </a:xfrm>
            <a:custGeom>
              <a:avLst/>
              <a:gdLst/>
              <a:ahLst/>
              <a:cxnLst/>
              <a:rect l="l" t="t" r="r" b="b"/>
              <a:pathLst>
                <a:path w="756048" h="472480">
                  <a:moveTo>
                    <a:pt x="0" y="0"/>
                  </a:moveTo>
                  <a:lnTo>
                    <a:pt x="756048" y="0"/>
                  </a:lnTo>
                  <a:lnTo>
                    <a:pt x="756048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81" r="-30180"/>
              </a:stretch>
            </a:blipFill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56044" cy="482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B5F71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850238" y="7026031"/>
            <a:ext cx="9445523" cy="38100"/>
            <a:chOff x="0" y="0"/>
            <a:chExt cx="12594031" cy="5080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2594082" cy="50800"/>
            </a:xfrm>
            <a:custGeom>
              <a:avLst/>
              <a:gdLst/>
              <a:ahLst/>
              <a:cxnLst/>
              <a:rect l="l" t="t" r="r" b="b"/>
              <a:pathLst>
                <a:path w="12594082" h="50800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" r="-16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850238" y="7262813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Personas (P)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50238" y="7790107"/>
            <a:ext cx="9445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 = E / T — equipo necesario.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1391393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Ejemplo resuelto — COCOMO Básico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512344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Proyecto universitario: 30.000 líneas → KLOC = 30. Modo: Orgánico (a=2.4, b=1.05, c=2.5, d=0.38).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7476" y="4829023"/>
            <a:ext cx="4590459" cy="2115893"/>
            <a:chOff x="0" y="0"/>
            <a:chExt cx="6120613" cy="28211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20638" cy="2821178"/>
            </a:xfrm>
            <a:custGeom>
              <a:avLst/>
              <a:gdLst/>
              <a:ahLst/>
              <a:cxnLst/>
              <a:rect l="l" t="t" r="r" b="b"/>
              <a:pathLst>
                <a:path w="6120638" h="2821178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5961126" y="0"/>
                  </a:lnTo>
                  <a:cubicBezTo>
                    <a:pt x="6049264" y="0"/>
                    <a:pt x="6120638" y="71374"/>
                    <a:pt x="6120638" y="159512"/>
                  </a:cubicBezTo>
                  <a:lnTo>
                    <a:pt x="6120638" y="2661666"/>
                  </a:lnTo>
                  <a:cubicBezTo>
                    <a:pt x="6120638" y="2749804"/>
                    <a:pt x="6049264" y="2821178"/>
                    <a:pt x="5961126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5284" y="511730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Esfuerzo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284" y="5644601"/>
            <a:ext cx="399484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 = 2.4 × 30^1.05 ≈ 86.4 Personas‑Mes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851922" y="4829023"/>
            <a:ext cx="4590602" cy="2115893"/>
            <a:chOff x="0" y="0"/>
            <a:chExt cx="6120803" cy="28211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20765" cy="2821178"/>
            </a:xfrm>
            <a:custGeom>
              <a:avLst/>
              <a:gdLst/>
              <a:ahLst/>
              <a:cxnLst/>
              <a:rect l="l" t="t" r="r" b="b"/>
              <a:pathLst>
                <a:path w="6120765" h="2821178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5961253" y="0"/>
                  </a:lnTo>
                  <a:cubicBezTo>
                    <a:pt x="6049391" y="0"/>
                    <a:pt x="6120765" y="71374"/>
                    <a:pt x="6120765" y="159512"/>
                  </a:cubicBezTo>
                  <a:lnTo>
                    <a:pt x="6120765" y="2661666"/>
                  </a:lnTo>
                  <a:cubicBezTo>
                    <a:pt x="6120765" y="2749804"/>
                    <a:pt x="6049391" y="2821178"/>
                    <a:pt x="5961253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149731" y="511730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Tiempo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49731" y="5644601"/>
            <a:ext cx="3994995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 = 2.5 × 86.4^0.38 ≈ 13.7 meses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87476" y="7218902"/>
            <a:ext cx="9455048" cy="1662265"/>
            <a:chOff x="0" y="0"/>
            <a:chExt cx="12606731" cy="22163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606655" cy="2216277"/>
            </a:xfrm>
            <a:custGeom>
              <a:avLst/>
              <a:gdLst/>
              <a:ahLst/>
              <a:cxnLst/>
              <a:rect l="l" t="t" r="r" b="b"/>
              <a:pathLst>
                <a:path w="12606655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85284" y="750718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Personas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5284" y="8034490"/>
            <a:ext cx="8859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 = 86.4 / 13.7 ≈ 6.3 → 7 personas (≈14 meses)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797271"/>
            <a:ext cx="15249230" cy="808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COCOMO Intermedio — Factores de costo (EAF)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74377"/>
            <a:ext cx="10381507" cy="82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COCOMO Intermedio multiplica el esfuerzo básico por EAF (producto de 15 multiplicadores agrupados en 4 categorías: producto, hardware, personal y proyecto).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248320"/>
            <a:ext cx="10381507" cy="5882726"/>
            <a:chOff x="0" y="0"/>
            <a:chExt cx="13842009" cy="784363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3841985" cy="7843647"/>
            </a:xfrm>
            <a:custGeom>
              <a:avLst/>
              <a:gdLst/>
              <a:ahLst/>
              <a:cxnLst/>
              <a:rect l="l" t="t" r="r" b="b"/>
              <a:pathLst>
                <a:path w="13841985" h="7843647">
                  <a:moveTo>
                    <a:pt x="0" y="0"/>
                  </a:moveTo>
                  <a:lnTo>
                    <a:pt x="13841985" y="0"/>
                  </a:lnTo>
                  <a:lnTo>
                    <a:pt x="13841985" y="7843647"/>
                  </a:lnTo>
                  <a:lnTo>
                    <a:pt x="0" y="784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" b="-28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11999414" y="2195665"/>
            <a:ext cx="631184" cy="631184"/>
          </a:xfrm>
          <a:custGeom>
            <a:avLst/>
            <a:gdLst/>
            <a:ahLst/>
            <a:cxnLst/>
            <a:rect l="l" t="t" r="r" b="b"/>
            <a:pathLst>
              <a:path w="631184" h="631184">
                <a:moveTo>
                  <a:pt x="0" y="0"/>
                </a:moveTo>
                <a:lnTo>
                  <a:pt x="631184" y="0"/>
                </a:lnTo>
                <a:lnTo>
                  <a:pt x="631184" y="631184"/>
                </a:lnTo>
                <a:lnTo>
                  <a:pt x="0" y="631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11999414" y="3098302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99414" y="3670106"/>
            <a:ext cx="5305720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Confiabilidad requerida (0.75–1.40)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999414" y="4558903"/>
            <a:ext cx="631184" cy="631184"/>
          </a:xfrm>
          <a:custGeom>
            <a:avLst/>
            <a:gdLst/>
            <a:ahLst/>
            <a:cxnLst/>
            <a:rect l="l" t="t" r="r" b="b"/>
            <a:pathLst>
              <a:path w="631184" h="631184">
                <a:moveTo>
                  <a:pt x="0" y="0"/>
                </a:moveTo>
                <a:lnTo>
                  <a:pt x="631184" y="0"/>
                </a:lnTo>
                <a:lnTo>
                  <a:pt x="631184" y="631184"/>
                </a:lnTo>
                <a:lnTo>
                  <a:pt x="0" y="631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92" r="-1492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TextBox 14"/>
          <p:cNvSpPr txBox="1"/>
          <p:nvPr/>
        </p:nvSpPr>
        <p:spPr>
          <a:xfrm>
            <a:off x="11999414" y="5461549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CPLX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99414" y="6033345"/>
            <a:ext cx="5305720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Complejidad del producto (0.70–1.65)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1999414" y="6922141"/>
            <a:ext cx="631184" cy="631184"/>
          </a:xfrm>
          <a:custGeom>
            <a:avLst/>
            <a:gdLst/>
            <a:ahLst/>
            <a:cxnLst/>
            <a:rect l="l" t="t" r="r" b="b"/>
            <a:pathLst>
              <a:path w="631184" h="631184">
                <a:moveTo>
                  <a:pt x="0" y="0"/>
                </a:moveTo>
                <a:lnTo>
                  <a:pt x="631184" y="0"/>
                </a:lnTo>
                <a:lnTo>
                  <a:pt x="631184" y="631184"/>
                </a:lnTo>
                <a:lnTo>
                  <a:pt x="0" y="631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92" r="-1492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TextBox 17"/>
          <p:cNvSpPr txBox="1"/>
          <p:nvPr/>
        </p:nvSpPr>
        <p:spPr>
          <a:xfrm>
            <a:off x="11999414" y="7824787"/>
            <a:ext cx="3156499" cy="40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ACAP / PCAP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99414" y="8396583"/>
            <a:ext cx="5305720" cy="82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Habilidad de analistas y programadores (rangos que reducen o aumentan esfuerzo)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1175299"/>
            <a:ext cx="9445523" cy="2676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Ejemplo COCOMO Intermedio (mismo proyecto)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182218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 E = 86.4 PM y factores aplicados: RELY 1.15, ACAP 1.00, PCAP 0.86, TOOL 0.91, CPLX 1.30 →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7476" y="5498897"/>
            <a:ext cx="9455048" cy="1662265"/>
            <a:chOff x="0" y="0"/>
            <a:chExt cx="12606731" cy="22163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06655" cy="2216277"/>
            </a:xfrm>
            <a:custGeom>
              <a:avLst/>
              <a:gdLst/>
              <a:ahLst/>
              <a:cxnLst/>
              <a:rect l="l" t="t" r="r" b="b"/>
              <a:pathLst>
                <a:path w="12606655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5284" y="5787180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EAF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284" y="6314484"/>
            <a:ext cx="8859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EAF ≈ 1.171 (producto de multiplicadores)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87476" y="7435158"/>
            <a:ext cx="9455048" cy="1662265"/>
            <a:chOff x="0" y="0"/>
            <a:chExt cx="12606731" cy="22163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06655" cy="2216277"/>
            </a:xfrm>
            <a:custGeom>
              <a:avLst/>
              <a:gdLst/>
              <a:ahLst/>
              <a:cxnLst/>
              <a:rect l="l" t="t" r="r" b="b"/>
              <a:pathLst>
                <a:path w="12606655" h="221627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85284" y="772343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 ajustado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5284" y="8250736"/>
            <a:ext cx="8859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E_ajustado = 86.4 × 1.171 ≈ 101.2 Personas‑Mes (+17%)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86285"/>
            <a:ext cx="14640963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Estimación Ágil (Scrum): conceptos clave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3630" y="2723255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Story Points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3630" y="3363963"/>
            <a:ext cx="603467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Unidad abstracta que mide esfuerzo relativo: complejidad, trabajo, riesgo.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3630" y="5021313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Planning Poker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13630" y="5662022"/>
            <a:ext cx="603467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Técnica de estimación en equipo para evitar sesgo de anclaje.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13630" y="731936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Velocity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3630" y="7960071"/>
            <a:ext cx="603467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Media de Story Points completados por sprint; sirve para predecir duración.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649595" y="2765374"/>
            <a:ext cx="8655548" cy="4904784"/>
            <a:chOff x="0" y="0"/>
            <a:chExt cx="11540731" cy="653971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1540744" cy="6539738"/>
            </a:xfrm>
            <a:custGeom>
              <a:avLst/>
              <a:gdLst/>
              <a:ahLst/>
              <a:cxnLst/>
              <a:rect l="l" t="t" r="r" b="b"/>
              <a:pathLst>
                <a:path w="11540744" h="6539738">
                  <a:moveTo>
                    <a:pt x="0" y="0"/>
                  </a:moveTo>
                  <a:lnTo>
                    <a:pt x="11540744" y="0"/>
                  </a:lnTo>
                  <a:lnTo>
                    <a:pt x="11540744" y="6539738"/>
                  </a:lnTo>
                  <a:lnTo>
                    <a:pt x="0" y="6539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r="-9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649595" y="7893844"/>
            <a:ext cx="8655548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Escala típica: Fibonacci 1,2,3,5,8,13… para forzar discusión en historias grandes.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858861"/>
            <a:ext cx="11516916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Ejemplo Ágil y comparativa final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330921"/>
            <a:ext cx="2312489" cy="2890542"/>
            <a:chOff x="0" y="0"/>
            <a:chExt cx="3083319" cy="385405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3083306" cy="3854069"/>
            </a:xfrm>
            <a:custGeom>
              <a:avLst/>
              <a:gdLst/>
              <a:ahLst/>
              <a:cxnLst/>
              <a:rect l="l" t="t" r="r" b="b"/>
              <a:pathLst>
                <a:path w="3083306" h="3854069">
                  <a:moveTo>
                    <a:pt x="0" y="0"/>
                  </a:moveTo>
                  <a:lnTo>
                    <a:pt x="3083306" y="0"/>
                  </a:lnTo>
                  <a:lnTo>
                    <a:pt x="3083306" y="3854069"/>
                  </a:lnTo>
                  <a:lnTo>
                    <a:pt x="0" y="3854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2" r="-123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59086" y="3321396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Ejemplo Scrum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9086" y="3848700"/>
            <a:ext cx="5307654" cy="236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Equipo 5 personas, salario 2.000$/mes, sprint 2 semanas, backlog 150 SP, velocidad 25 SP/sprint → 6 sprints (3 meses), coste total $30.000, coste/SP = $200.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21108" y="3330921"/>
            <a:ext cx="2312641" cy="2890685"/>
            <a:chOff x="0" y="0"/>
            <a:chExt cx="3083522" cy="385424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3083560" cy="3854196"/>
            </a:xfrm>
            <a:custGeom>
              <a:avLst/>
              <a:gdLst/>
              <a:ahLst/>
              <a:cxnLst/>
              <a:rect l="l" t="t" r="r" b="b"/>
              <a:pathLst>
                <a:path w="3083560" h="3854196">
                  <a:moveTo>
                    <a:pt x="0" y="0"/>
                  </a:moveTo>
                  <a:lnTo>
                    <a:pt x="3083560" y="0"/>
                  </a:lnTo>
                  <a:lnTo>
                    <a:pt x="3083560" y="3854196"/>
                  </a:lnTo>
                  <a:lnTo>
                    <a:pt x="0" y="3854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1" r="-120" b="-1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988108" y="3321396"/>
            <a:ext cx="5202736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COCOMO vs Scrum (Resumen)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88108" y="3848700"/>
            <a:ext cx="5307654" cy="2817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COCOMO: predictivo, KLOC, Personas‑Mes, ideal para proyectos grandes y estables. Scrum: iterativo, SP y sprints, flexible ante cambios. Híbrido: presupuesto inicial con COCOMO y ejecución con Scrum.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6984654"/>
            <a:ext cx="16303523" cy="1105500"/>
            <a:chOff x="0" y="0"/>
            <a:chExt cx="21738031" cy="147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37955" cy="1473962"/>
            </a:xfrm>
            <a:custGeom>
              <a:avLst/>
              <a:gdLst/>
              <a:ahLst/>
              <a:cxnLst/>
              <a:rect l="l" t="t" r="r" b="b"/>
              <a:pathLst>
                <a:path w="21737955" h="1473962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315212"/>
                  </a:lnTo>
                  <a:cubicBezTo>
                    <a:pt x="21737955" y="1402842"/>
                    <a:pt x="21666836" y="1473962"/>
                    <a:pt x="21579205" y="1473962"/>
                  </a:cubicBezTo>
                  <a:lnTo>
                    <a:pt x="158750" y="1473962"/>
                  </a:lnTo>
                  <a:cubicBezTo>
                    <a:pt x="71120" y="1473962"/>
                    <a:pt x="0" y="1402842"/>
                    <a:pt x="0" y="1315212"/>
                  </a:cubicBezTo>
                  <a:close/>
                </a:path>
              </a:pathLst>
            </a:custGeom>
            <a:solidFill>
              <a:srgbClr val="D4D5DE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75750" y="7386190"/>
            <a:ext cx="354359" cy="283521"/>
            <a:chOff x="0" y="0"/>
            <a:chExt cx="472478" cy="378028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71" r="-8" b="-655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13630" y="7215340"/>
            <a:ext cx="1601301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Referencias: Boehm 1981, Boehm et al. 1995, Cohn 2005, Schwaber &amp; Sutherland 2020, USC COCOMO 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668</Words>
  <Application>Microsoft Office PowerPoint</Application>
  <PresentationFormat>Personalizado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Instrument Serif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Estimacion-de-costes.pptx</dc:title>
  <cp:lastModifiedBy>Josue Chango</cp:lastModifiedBy>
  <cp:revision>2</cp:revision>
  <dcterms:created xsi:type="dcterms:W3CDTF">2006-08-16T00:00:00Z</dcterms:created>
  <dcterms:modified xsi:type="dcterms:W3CDTF">2026-06-17T03:02:32Z</dcterms:modified>
  <dc:identifier>DAHMx6QjC2s</dc:identifier>
</cp:coreProperties>
</file>