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82" r:id="rId5"/>
    <p:sldId id="283" r:id="rId6"/>
    <p:sldId id="285" r:id="rId7"/>
    <p:sldId id="284" r:id="rId8"/>
    <p:sldId id="288" r:id="rId9"/>
    <p:sldId id="289" r:id="rId10"/>
    <p:sldId id="290" r:id="rId11"/>
    <p:sldId id="291" r:id="rId12"/>
    <p:sldId id="292" r:id="rId13"/>
    <p:sldId id="293" r:id="rId14"/>
    <p:sldId id="294" r:id="rId15"/>
  </p:sldIdLst>
  <p:sldSz cx="12192000" cy="6858000"/>
  <p:notesSz cx="7315200" cy="9601200"/>
  <p:custDataLst>
    <p:custData r:id="rId2"/>
    <p:custData r:id="rId1"/>
    <p:custData r:id="rId3"/>
  </p:custDataLst>
  <p:defaultTextStyle>
    <a:defPPr>
      <a:defRPr lang="es-MX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e Chango" userId="682578236ea14458" providerId="LiveId" clId="{B2E26223-E62B-4222-82C0-46BC356EADF8}"/>
    <pc:docChg chg="modSld">
      <pc:chgData name="Josue Chango" userId="682578236ea14458" providerId="LiveId" clId="{B2E26223-E62B-4222-82C0-46BC356EADF8}" dt="2026-07-10T13:14:42.614" v="1" actId="1076"/>
      <pc:docMkLst>
        <pc:docMk/>
      </pc:docMkLst>
      <pc:sldChg chg="modSp mod">
        <pc:chgData name="Josue Chango" userId="682578236ea14458" providerId="LiveId" clId="{B2E26223-E62B-4222-82C0-46BC356EADF8}" dt="2026-07-10T13:07:12.673" v="0" actId="732"/>
        <pc:sldMkLst>
          <pc:docMk/>
          <pc:sldMk cId="2763634077" sldId="291"/>
        </pc:sldMkLst>
        <pc:picChg chg="mod modCrop">
          <ac:chgData name="Josue Chango" userId="682578236ea14458" providerId="LiveId" clId="{B2E26223-E62B-4222-82C0-46BC356EADF8}" dt="2026-07-10T13:07:12.673" v="0" actId="732"/>
          <ac:picMkLst>
            <pc:docMk/>
            <pc:sldMk cId="2763634077" sldId="291"/>
            <ac:picMk id="3" creationId="{1510BAFE-20CA-0C39-E50B-502259174C19}"/>
          </ac:picMkLst>
        </pc:picChg>
      </pc:sldChg>
      <pc:sldChg chg="modSp mod">
        <pc:chgData name="Josue Chango" userId="682578236ea14458" providerId="LiveId" clId="{B2E26223-E62B-4222-82C0-46BC356EADF8}" dt="2026-07-10T13:14:42.614" v="1" actId="1076"/>
        <pc:sldMkLst>
          <pc:docMk/>
          <pc:sldMk cId="471206058" sldId="294"/>
        </pc:sldMkLst>
        <pc:spChg chg="mod">
          <ac:chgData name="Josue Chango" userId="682578236ea14458" providerId="LiveId" clId="{B2E26223-E62B-4222-82C0-46BC356EADF8}" dt="2026-07-10T13:14:42.614" v="1" actId="1076"/>
          <ac:spMkLst>
            <pc:docMk/>
            <pc:sldMk cId="471206058" sldId="294"/>
            <ac:spMk id="4" creationId="{FDAC7E36-8743-92B8-90A7-7586FFC2C7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 anchor="ctr"/>
          <a:lstStyle>
            <a:lvl1pPr algn="l">
              <a:defRPr sz="13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 anchor="ctr"/>
          <a:lstStyle>
            <a:lvl1pPr algn="r">
              <a:defRPr sz="13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 anchor="ctr"/>
          <a:lstStyle>
            <a:lvl1pPr algn="r">
              <a:defRPr sz="13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167179-F96C-502C-A699-5ED1D9162614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0777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167179-F96C-502C-A699-5ED1D9162614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103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167179-F96C-502C-A699-5ED1D9162614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25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167179-F96C-502C-A699-5ED1D9162614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1534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167179-F96C-502C-A699-5ED1D9162614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542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167179-F96C-502C-A699-5ED1D9162614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27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167179-F96C-502C-A699-5ED1D9162614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5028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167179-F96C-502C-A699-5ED1D9162614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037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167179-F96C-502C-A699-5ED1D9162614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04136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167179-F96C-502C-A699-5ED1D9162614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4599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167179-F96C-502C-A699-5ED1D9162614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195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Diapositiva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065619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510474614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194347122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EDACDD8-23F0-4FDB-95EC-103B9609C985}" type="datetimeFigureOut">
              <a:rPr lang="es-MX"/>
              <a:t>10/07/2026</a:t>
            </a:fld>
            <a:endParaRPr lang="es-MX"/>
          </a:p>
        </p:txBody>
      </p:sp>
      <p:sp>
        <p:nvSpPr>
          <p:cNvPr id="1115701442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1953206855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7FBD700-2B04-4CDB-BABB-4079ACEF034A}" type="slidenum">
              <a:rPr lang="es-MX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ítulo y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303366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62180741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MX"/>
          </a:p>
        </p:txBody>
      </p:sp>
      <p:sp>
        <p:nvSpPr>
          <p:cNvPr id="1558527162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EDACDD8-23F0-4FDB-95EC-103B9609C985}" type="datetimeFigureOut">
              <a:rPr lang="es-MX"/>
              <a:t>10/07/2026</a:t>
            </a:fld>
            <a:endParaRPr lang="es-MX"/>
          </a:p>
        </p:txBody>
      </p:sp>
      <p:sp>
        <p:nvSpPr>
          <p:cNvPr id="725367057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450094622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7FBD700-2B04-4CDB-BABB-4079ACEF034A}" type="slidenum">
              <a:rPr lang="es-MX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Encabezado de sec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841088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80793763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1395982421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EDACDD8-23F0-4FDB-95EC-103B9609C985}" type="datetimeFigureOut">
              <a:rPr lang="es-MX"/>
              <a:t>10/07/2026</a:t>
            </a:fld>
            <a:endParaRPr lang="es-MX"/>
          </a:p>
        </p:txBody>
      </p:sp>
      <p:sp>
        <p:nvSpPr>
          <p:cNvPr id="1176298825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1199562326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7FBD700-2B04-4CDB-BABB-4079ACEF034A}" type="slidenum">
              <a:rPr lang="es-MX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os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738491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19969236" name="Marcador de conteni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MX"/>
          </a:p>
        </p:txBody>
      </p:sp>
      <p:sp>
        <p:nvSpPr>
          <p:cNvPr id="932610270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MX"/>
          </a:p>
        </p:txBody>
      </p:sp>
      <p:sp>
        <p:nvSpPr>
          <p:cNvPr id="120584471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EDACDD8-23F0-4FDB-95EC-103B9609C985}" type="datetimeFigureOut">
              <a:rPr lang="es-MX"/>
              <a:t>10/07/2026</a:t>
            </a:fld>
            <a:endParaRPr lang="es-MX"/>
          </a:p>
        </p:txBody>
      </p:sp>
      <p:sp>
        <p:nvSpPr>
          <p:cNvPr id="1774940186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550935536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7FBD700-2B04-4CDB-BABB-4079ACEF034A}" type="slidenum">
              <a:rPr lang="es-MX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717107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2015071905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1750556197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MX"/>
          </a:p>
        </p:txBody>
      </p:sp>
      <p:sp>
        <p:nvSpPr>
          <p:cNvPr id="349726891" name="Marcador de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9209512" name="Marcador de conteni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MX"/>
          </a:p>
        </p:txBody>
      </p:sp>
      <p:sp>
        <p:nvSpPr>
          <p:cNvPr id="1866120144" name="Marcador de fech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EDACDD8-23F0-4FDB-95EC-103B9609C985}" type="datetimeFigureOut">
              <a:rPr lang="es-MX"/>
              <a:t>10/07/2026</a:t>
            </a:fld>
            <a:endParaRPr lang="es-MX"/>
          </a:p>
        </p:txBody>
      </p:sp>
      <p:sp>
        <p:nvSpPr>
          <p:cNvPr id="1425604487" name="Marcador de pie de pá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981328145" name="Marcador de número de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7FBD700-2B04-4CDB-BABB-4079ACEF034A}" type="slidenum">
              <a:rPr lang="es-MX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Solo el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454063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272391856" name="Marcador de fech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EDACDD8-23F0-4FDB-95EC-103B9609C985}" type="datetimeFigureOut">
              <a:rPr lang="es-MX"/>
              <a:t>10/07/2026</a:t>
            </a:fld>
            <a:endParaRPr lang="es-MX"/>
          </a:p>
        </p:txBody>
      </p:sp>
      <p:sp>
        <p:nvSpPr>
          <p:cNvPr id="1615421835" name="Marcador de pie de pá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838517532" name="Marcador de número de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7FBD700-2B04-4CDB-BABB-4079ACEF034A}" type="slidenum">
              <a:rPr lang="es-MX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En bl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839931" name="Marcador de fech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EDACDD8-23F0-4FDB-95EC-103B9609C985}" type="datetimeFigureOut">
              <a:rPr lang="es-MX"/>
              <a:t>10/07/2026</a:t>
            </a:fld>
            <a:endParaRPr lang="es-MX"/>
          </a:p>
        </p:txBody>
      </p:sp>
      <p:sp>
        <p:nvSpPr>
          <p:cNvPr id="1410857040" name="Marcador de pie de pá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1854845052" name="Marcador de número de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7FBD700-2B04-4CDB-BABB-4079ACEF034A}" type="slidenum">
              <a:rPr lang="es-MX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ido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157512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45316765" name="Marcador de conteni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MX"/>
          </a:p>
        </p:txBody>
      </p:sp>
      <p:sp>
        <p:nvSpPr>
          <p:cNvPr id="924247896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1950290646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EDACDD8-23F0-4FDB-95EC-103B9609C985}" type="datetimeFigureOut">
              <a:rPr lang="es-MX"/>
              <a:t>10/07/2026</a:t>
            </a:fld>
            <a:endParaRPr lang="es-MX"/>
          </a:p>
        </p:txBody>
      </p:sp>
      <p:sp>
        <p:nvSpPr>
          <p:cNvPr id="1958087697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1949358973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7FBD700-2B04-4CDB-BABB-4079ACEF034A}" type="slidenum">
              <a:rPr lang="es-MX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n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059754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523804111" name="Marcador de posición de imagen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s-MX"/>
          </a:p>
        </p:txBody>
      </p:sp>
      <p:sp>
        <p:nvSpPr>
          <p:cNvPr id="1603874086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2099894398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EDACDD8-23F0-4FDB-95EC-103B9609C985}" type="datetimeFigureOut">
              <a:rPr lang="es-MX"/>
              <a:t>10/07/2026</a:t>
            </a:fld>
            <a:endParaRPr lang="es-MX"/>
          </a:p>
        </p:txBody>
      </p:sp>
      <p:sp>
        <p:nvSpPr>
          <p:cNvPr id="1301336467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1981447932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7FBD700-2B04-4CDB-BABB-4079ACEF034A}" type="slidenum">
              <a:rPr lang="es-MX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ítulo y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773359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105379999" name="Marcador de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MX"/>
          </a:p>
        </p:txBody>
      </p:sp>
      <p:sp>
        <p:nvSpPr>
          <p:cNvPr id="990144289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EDACDD8-23F0-4FDB-95EC-103B9609C985}" type="datetimeFigureOut">
              <a:rPr lang="es-MX"/>
              <a:t>10/07/2026</a:t>
            </a:fld>
            <a:endParaRPr lang="es-MX"/>
          </a:p>
        </p:txBody>
      </p:sp>
      <p:sp>
        <p:nvSpPr>
          <p:cNvPr id="164456779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798561458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7FBD700-2B04-4CDB-BABB-4079ACEF034A}" type="slidenum">
              <a:rPr lang="es-MX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Título vertical y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580079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22962840" name="Marcador de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MX"/>
          </a:p>
        </p:txBody>
      </p:sp>
      <p:sp>
        <p:nvSpPr>
          <p:cNvPr id="520529004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EDACDD8-23F0-4FDB-95EC-103B9609C985}" type="datetimeFigureOut">
              <a:rPr lang="es-MX"/>
              <a:t>10/07/2026</a:t>
            </a:fld>
            <a:endParaRPr lang="es-MX"/>
          </a:p>
        </p:txBody>
      </p:sp>
      <p:sp>
        <p:nvSpPr>
          <p:cNvPr id="1137022255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1841965253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7FBD700-2B04-4CDB-BABB-4079ACEF034A}" type="slidenum">
              <a:rPr lang="es-MX"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167602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847777786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MX"/>
          </a:p>
        </p:txBody>
      </p:sp>
      <p:sp>
        <p:nvSpPr>
          <p:cNvPr id="1893043148" name="Marcador de fech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FEDACDD8-23F0-4FDB-95EC-103B9609C985}" type="datetimeFigureOut">
              <a:rPr lang="es-MX"/>
              <a:t>10/07/2026</a:t>
            </a:fld>
            <a:endParaRPr lang="es-MX"/>
          </a:p>
        </p:txBody>
      </p:sp>
      <p:sp>
        <p:nvSpPr>
          <p:cNvPr id="2063877476" name="Marcador de pie de pá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954089479" name="Marcador de número de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17FBD700-2B04-4CDB-BABB-4079ACEF034A}" type="slidenum">
              <a:rPr lang="es-MX"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36846" name="Picture 2" descr="ESPE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249788" y="289832"/>
            <a:ext cx="4704767" cy="1314450"/>
          </a:xfrm>
          <a:prstGeom prst="rect">
            <a:avLst/>
          </a:prstGeom>
          <a:noFill/>
        </p:spPr>
      </p:pic>
      <p:sp>
        <p:nvSpPr>
          <p:cNvPr id="1255849421" name="Rectángulo 1"/>
          <p:cNvSpPr/>
          <p:nvPr/>
        </p:nvSpPr>
        <p:spPr bwMode="auto"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416073571" name="Rectángulo 2"/>
          <p:cNvSpPr/>
          <p:nvPr/>
        </p:nvSpPr>
        <p:spPr bwMode="auto">
          <a:xfrm>
            <a:off x="8509518" y="652209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713477027" name="CuadroTexto 3"/>
          <p:cNvSpPr txBox="1"/>
          <p:nvPr/>
        </p:nvSpPr>
        <p:spPr bwMode="auto">
          <a:xfrm>
            <a:off x="9486902" y="5899866"/>
            <a:ext cx="21950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MX" sz="1200">
                <a:latin typeface="Arial"/>
              </a:rPr>
              <a:t>Arias Martínez Darwin René</a:t>
            </a:r>
            <a:endParaRPr lang="es-MX" sz="120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62617AC-7155-F840-0D9D-01426E51C525}"/>
              </a:ext>
            </a:extLst>
          </p:cNvPr>
          <p:cNvSpPr txBox="1"/>
          <p:nvPr/>
        </p:nvSpPr>
        <p:spPr>
          <a:xfrm>
            <a:off x="639097" y="16966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Preparación del Entorno en Ubuntu 24.04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765263A-39DA-C261-E282-0B47F8979FF8}"/>
              </a:ext>
            </a:extLst>
          </p:cNvPr>
          <p:cNvSpPr txBox="1"/>
          <p:nvPr/>
        </p:nvSpPr>
        <p:spPr>
          <a:xfrm>
            <a:off x="1219174" y="3244334"/>
            <a:ext cx="2320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/>
              <a:t>prometheus.yml</a:t>
            </a:r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52D0031-0379-923D-FFF3-D725FA745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126" y="2775563"/>
            <a:ext cx="6233700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3233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36846" name="Picture 2" descr="ESPE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249789" y="289832"/>
            <a:ext cx="3555296" cy="993303"/>
          </a:xfrm>
          <a:prstGeom prst="rect">
            <a:avLst/>
          </a:prstGeom>
          <a:noFill/>
        </p:spPr>
      </p:pic>
      <p:sp>
        <p:nvSpPr>
          <p:cNvPr id="1255849421" name="Rectángulo 1"/>
          <p:cNvSpPr/>
          <p:nvPr/>
        </p:nvSpPr>
        <p:spPr bwMode="auto"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416073571" name="Rectángulo 2"/>
          <p:cNvSpPr/>
          <p:nvPr/>
        </p:nvSpPr>
        <p:spPr bwMode="auto">
          <a:xfrm>
            <a:off x="8509518" y="652209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713477027" name="CuadroTexto 3"/>
          <p:cNvSpPr txBox="1"/>
          <p:nvPr/>
        </p:nvSpPr>
        <p:spPr bwMode="auto">
          <a:xfrm>
            <a:off x="9486902" y="5899866"/>
            <a:ext cx="21950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MX" sz="1200">
                <a:latin typeface="Arial"/>
              </a:rPr>
              <a:t>Arias Martínez Darwin René</a:t>
            </a:r>
            <a:endParaRPr lang="es-MX" sz="120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765263A-39DA-C261-E282-0B47F8979FF8}"/>
              </a:ext>
            </a:extLst>
          </p:cNvPr>
          <p:cNvSpPr txBox="1"/>
          <p:nvPr/>
        </p:nvSpPr>
        <p:spPr>
          <a:xfrm>
            <a:off x="914400" y="2775563"/>
            <a:ext cx="2320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/>
              <a:t>docker-compose.yml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734FE8B-2713-7CC6-CAA3-875EDEAB3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2232" y="922603"/>
            <a:ext cx="8219768" cy="505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37915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36846" name="Picture 2" descr="ESPE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249789" y="289832"/>
            <a:ext cx="3555296" cy="993303"/>
          </a:xfrm>
          <a:prstGeom prst="rect">
            <a:avLst/>
          </a:prstGeom>
          <a:noFill/>
        </p:spPr>
      </p:pic>
      <p:sp>
        <p:nvSpPr>
          <p:cNvPr id="1255849421" name="Rectángulo 1"/>
          <p:cNvSpPr/>
          <p:nvPr/>
        </p:nvSpPr>
        <p:spPr bwMode="auto"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416073571" name="Rectángulo 2"/>
          <p:cNvSpPr/>
          <p:nvPr/>
        </p:nvSpPr>
        <p:spPr bwMode="auto">
          <a:xfrm>
            <a:off x="8509518" y="652209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713477027" name="CuadroTexto 3"/>
          <p:cNvSpPr txBox="1"/>
          <p:nvPr/>
        </p:nvSpPr>
        <p:spPr bwMode="auto">
          <a:xfrm>
            <a:off x="9486902" y="5899866"/>
            <a:ext cx="21950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MX" sz="1200">
                <a:latin typeface="Arial"/>
              </a:rPr>
              <a:t>Arias Martínez Darwin René</a:t>
            </a:r>
            <a:endParaRPr lang="es-MX" sz="120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765263A-39DA-C261-E282-0B47F8979FF8}"/>
              </a:ext>
            </a:extLst>
          </p:cNvPr>
          <p:cNvSpPr txBox="1"/>
          <p:nvPr/>
        </p:nvSpPr>
        <p:spPr>
          <a:xfrm>
            <a:off x="560439" y="1507202"/>
            <a:ext cx="3421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Levantar la infraestructura completa: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672AD56-6278-C502-421D-90E1D4A3AFD8}"/>
              </a:ext>
            </a:extLst>
          </p:cNvPr>
          <p:cNvSpPr txBox="1"/>
          <p:nvPr/>
        </p:nvSpPr>
        <p:spPr>
          <a:xfrm>
            <a:off x="757085" y="28994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>
                <a:highlight>
                  <a:srgbClr val="FFFF00"/>
                </a:highlight>
              </a:rPr>
              <a:t>docker</a:t>
            </a:r>
            <a:r>
              <a:rPr lang="es-MX" dirty="0">
                <a:highlight>
                  <a:srgbClr val="FFFF00"/>
                </a:highlight>
              </a:rPr>
              <a:t> </a:t>
            </a:r>
            <a:r>
              <a:rPr lang="es-MX" dirty="0" err="1">
                <a:highlight>
                  <a:srgbClr val="FFFF00"/>
                </a:highlight>
              </a:rPr>
              <a:t>compose</a:t>
            </a:r>
            <a:r>
              <a:rPr lang="es-MX" dirty="0">
                <a:highlight>
                  <a:srgbClr val="FFFF00"/>
                </a:highlight>
              </a:rPr>
              <a:t> up -d</a:t>
            </a:r>
          </a:p>
        </p:txBody>
      </p:sp>
    </p:spTree>
    <p:extLst>
      <p:ext uri="{BB962C8B-B14F-4D97-AF65-F5344CB8AC3E}">
        <p14:creationId xmlns:p14="http://schemas.microsoft.com/office/powerpoint/2010/main" val="23475470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36846" name="Picture 2" descr="ESPE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249789" y="289832"/>
            <a:ext cx="3555296" cy="993303"/>
          </a:xfrm>
          <a:prstGeom prst="rect">
            <a:avLst/>
          </a:prstGeom>
          <a:noFill/>
        </p:spPr>
      </p:pic>
      <p:sp>
        <p:nvSpPr>
          <p:cNvPr id="1255849421" name="Rectángulo 1"/>
          <p:cNvSpPr/>
          <p:nvPr/>
        </p:nvSpPr>
        <p:spPr bwMode="auto"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416073571" name="Rectángulo 2"/>
          <p:cNvSpPr/>
          <p:nvPr/>
        </p:nvSpPr>
        <p:spPr bwMode="auto">
          <a:xfrm>
            <a:off x="8509518" y="652209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713477027" name="CuadroTexto 3"/>
          <p:cNvSpPr txBox="1"/>
          <p:nvPr/>
        </p:nvSpPr>
        <p:spPr bwMode="auto">
          <a:xfrm>
            <a:off x="9486902" y="5899866"/>
            <a:ext cx="21950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MX" sz="1200">
                <a:latin typeface="Arial"/>
              </a:rPr>
              <a:t>Arias Martínez Darwin René</a:t>
            </a:r>
            <a:endParaRPr lang="es-MX" sz="120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765263A-39DA-C261-E282-0B47F8979FF8}"/>
              </a:ext>
            </a:extLst>
          </p:cNvPr>
          <p:cNvSpPr txBox="1"/>
          <p:nvPr/>
        </p:nvSpPr>
        <p:spPr>
          <a:xfrm>
            <a:off x="560439" y="1507202"/>
            <a:ext cx="3421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Levantar la infraestructura completa: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672AD56-6278-C502-421D-90E1D4A3AFD8}"/>
              </a:ext>
            </a:extLst>
          </p:cNvPr>
          <p:cNvSpPr txBox="1"/>
          <p:nvPr/>
        </p:nvSpPr>
        <p:spPr>
          <a:xfrm>
            <a:off x="2910348" y="21181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>
                <a:highlight>
                  <a:srgbClr val="FFFF00"/>
                </a:highlight>
              </a:rPr>
              <a:t>docker</a:t>
            </a:r>
            <a:r>
              <a:rPr lang="es-MX" dirty="0">
                <a:highlight>
                  <a:srgbClr val="FFFF00"/>
                </a:highlight>
              </a:rPr>
              <a:t> </a:t>
            </a:r>
            <a:r>
              <a:rPr lang="es-MX" dirty="0" err="1">
                <a:highlight>
                  <a:srgbClr val="FFFF00"/>
                </a:highlight>
              </a:rPr>
              <a:t>compose</a:t>
            </a:r>
            <a:r>
              <a:rPr lang="es-MX" dirty="0">
                <a:highlight>
                  <a:srgbClr val="FFFF00"/>
                </a:highlight>
              </a:rPr>
              <a:t> up -d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246B8D8-119E-F453-EE79-92479B8C2677}"/>
              </a:ext>
            </a:extLst>
          </p:cNvPr>
          <p:cNvSpPr txBox="1"/>
          <p:nvPr/>
        </p:nvSpPr>
        <p:spPr>
          <a:xfrm>
            <a:off x="658761" y="30984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Conectamos </a:t>
            </a:r>
            <a:r>
              <a:rPr lang="es-MX" dirty="0" err="1"/>
              <a:t>Grafana</a:t>
            </a:r>
            <a:r>
              <a:rPr lang="es-MX" dirty="0"/>
              <a:t> con </a:t>
            </a:r>
            <a:r>
              <a:rPr lang="es-MX" dirty="0" err="1"/>
              <a:t>Prometheus</a:t>
            </a:r>
            <a:r>
              <a:rPr lang="es-MX" dirty="0"/>
              <a:t> (La interfaz web):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1105052-E74A-C489-2198-5A9B98F28339}"/>
              </a:ext>
            </a:extLst>
          </p:cNvPr>
          <p:cNvSpPr txBox="1"/>
          <p:nvPr/>
        </p:nvSpPr>
        <p:spPr>
          <a:xfrm>
            <a:off x="3108649" y="36168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http://localhost:3000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E3B1D71-087D-49AB-B2BE-DB6566E07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8697" y="4194425"/>
            <a:ext cx="347078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Usuario: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endParaRPr kumimoji="0" lang="es-MX" altLang="es-MX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Contraseña: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admin123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71049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36846" name="Picture 2" descr="ESPE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249789" y="289832"/>
            <a:ext cx="3555296" cy="993303"/>
          </a:xfrm>
          <a:prstGeom prst="rect">
            <a:avLst/>
          </a:prstGeom>
          <a:noFill/>
        </p:spPr>
      </p:pic>
      <p:sp>
        <p:nvSpPr>
          <p:cNvPr id="1255849421" name="Rectángulo 1"/>
          <p:cNvSpPr/>
          <p:nvPr/>
        </p:nvSpPr>
        <p:spPr bwMode="auto"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416073571" name="Rectángulo 2"/>
          <p:cNvSpPr/>
          <p:nvPr/>
        </p:nvSpPr>
        <p:spPr bwMode="auto">
          <a:xfrm>
            <a:off x="8509518" y="652209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713477027" name="CuadroTexto 3"/>
          <p:cNvSpPr txBox="1"/>
          <p:nvPr/>
        </p:nvSpPr>
        <p:spPr bwMode="auto">
          <a:xfrm>
            <a:off x="9486902" y="5899866"/>
            <a:ext cx="21950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MX" sz="1200">
                <a:latin typeface="Arial"/>
              </a:rPr>
              <a:t>Arias Martínez Darwin René</a:t>
            </a:r>
            <a:endParaRPr lang="es-MX" sz="120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E3B1D71-087D-49AB-B2BE-DB6566E07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298" y="5772643"/>
            <a:ext cx="347078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Usuario: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MX" altLang="es-MX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endParaRPr kumimoji="0" lang="es-MX" altLang="es-MX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Contraseña: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admin123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0854EBC-7EDC-190E-F44E-A6E58E733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522" y="1432424"/>
            <a:ext cx="9085871" cy="450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6629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36846" name="Picture 2" descr="ESPE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249789" y="289832"/>
            <a:ext cx="3555296" cy="993303"/>
          </a:xfrm>
          <a:prstGeom prst="rect">
            <a:avLst/>
          </a:prstGeom>
          <a:noFill/>
        </p:spPr>
      </p:pic>
      <p:sp>
        <p:nvSpPr>
          <p:cNvPr id="1255849421" name="Rectángulo 1"/>
          <p:cNvSpPr/>
          <p:nvPr/>
        </p:nvSpPr>
        <p:spPr bwMode="auto"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416073571" name="Rectángulo 2"/>
          <p:cNvSpPr/>
          <p:nvPr/>
        </p:nvSpPr>
        <p:spPr bwMode="auto">
          <a:xfrm>
            <a:off x="8509518" y="652209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713477027" name="CuadroTexto 3"/>
          <p:cNvSpPr txBox="1"/>
          <p:nvPr/>
        </p:nvSpPr>
        <p:spPr bwMode="auto">
          <a:xfrm>
            <a:off x="9486902" y="5899866"/>
            <a:ext cx="21950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MX" sz="1200">
                <a:latin typeface="Arial"/>
              </a:rPr>
              <a:t>Arias Martínez Darwin René</a:t>
            </a:r>
            <a:endParaRPr lang="es-MX" sz="120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E3B1D71-087D-49AB-B2BE-DB6566E07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9025" y="357969"/>
            <a:ext cx="74331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MX" b="1" dirty="0">
                <a:solidFill>
                  <a:srgbClr val="FF0000"/>
                </a:solidFill>
              </a:rPr>
              <a:t>Configurar la fuente de datos (Data </a:t>
            </a:r>
            <a:r>
              <a:rPr lang="es-MX" b="1" dirty="0" err="1">
                <a:solidFill>
                  <a:srgbClr val="FF0000"/>
                </a:solidFill>
              </a:rPr>
              <a:t>Source</a:t>
            </a:r>
            <a:r>
              <a:rPr lang="es-MX" b="1" dirty="0">
                <a:solidFill>
                  <a:srgbClr val="FF0000"/>
                </a:solidFill>
              </a:rPr>
              <a:t>):</a:t>
            </a:r>
            <a:r>
              <a:rPr lang="es-MX" dirty="0">
                <a:solidFill>
                  <a:srgbClr val="FF0000"/>
                </a:solidFill>
              </a:rPr>
              <a:t> 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FFB8B0-D2D4-73FD-41CF-08861F5F0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35" y="1586800"/>
            <a:ext cx="901618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la interfaz de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Grafana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diles que sigan esta ruta rápida: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 en </a:t>
            </a: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Connections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(menú izquierdo) &gt;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</a:t>
            </a: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 en </a:t>
            </a: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seleccionen </a:t>
            </a: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Prometheus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MX" altLang="es-MX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la casilla </a:t>
            </a:r>
            <a:r>
              <a:rPr kumimoji="0" lang="es-MX" altLang="es-MX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Prometheus</a:t>
            </a: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server URL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deben escribir exactamente: </a:t>
            </a:r>
            <a:r>
              <a:rPr lang="es-MX" altLang="es-MX" dirty="0">
                <a:latin typeface="Arial" panose="020B0604020202020204" pitchFamily="34" charset="0"/>
              </a:rPr>
              <a:t>http://prometheus:9090 (</a:t>
            </a:r>
            <a:r>
              <a:rPr lang="es-MX" altLang="es-MX" dirty="0" err="1">
                <a:latin typeface="Arial" panose="020B0604020202020204" pitchFamily="34" charset="0"/>
              </a:rPr>
              <a:t>Grafana</a:t>
            </a:r>
            <a:r>
              <a:rPr lang="es-MX" altLang="es-MX" dirty="0">
                <a:latin typeface="Arial" panose="020B0604020202020204" pitchFamily="34" charset="0"/>
              </a:rPr>
              <a:t> sabe encontrarlo porque están en la misma red de Docker).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18910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36846" name="Picture 2" descr="ESPE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249789" y="289832"/>
            <a:ext cx="3555296" cy="993303"/>
          </a:xfrm>
          <a:prstGeom prst="rect">
            <a:avLst/>
          </a:prstGeom>
          <a:noFill/>
        </p:spPr>
      </p:pic>
      <p:sp>
        <p:nvSpPr>
          <p:cNvPr id="1255849421" name="Rectángulo 1"/>
          <p:cNvSpPr/>
          <p:nvPr/>
        </p:nvSpPr>
        <p:spPr bwMode="auto"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416073571" name="Rectángulo 2"/>
          <p:cNvSpPr/>
          <p:nvPr/>
        </p:nvSpPr>
        <p:spPr bwMode="auto">
          <a:xfrm>
            <a:off x="8509518" y="652209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713477027" name="CuadroTexto 3"/>
          <p:cNvSpPr txBox="1"/>
          <p:nvPr/>
        </p:nvSpPr>
        <p:spPr bwMode="auto">
          <a:xfrm>
            <a:off x="9486902" y="5899866"/>
            <a:ext cx="21950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MX" sz="1200">
                <a:latin typeface="Arial"/>
              </a:rPr>
              <a:t>Arias Martínez Darwin René</a:t>
            </a:r>
            <a:endParaRPr lang="es-MX" sz="120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E3B1D71-087D-49AB-B2BE-DB6566E07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9025" y="357969"/>
            <a:ext cx="74331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MX" b="1" dirty="0">
                <a:solidFill>
                  <a:srgbClr val="FF0000"/>
                </a:solidFill>
              </a:rPr>
              <a:t>Configurar la fuente de datos (Data </a:t>
            </a:r>
            <a:r>
              <a:rPr lang="es-MX" b="1" dirty="0" err="1">
                <a:solidFill>
                  <a:srgbClr val="FF0000"/>
                </a:solidFill>
              </a:rPr>
              <a:t>Source</a:t>
            </a:r>
            <a:r>
              <a:rPr lang="es-MX" b="1" dirty="0">
                <a:solidFill>
                  <a:srgbClr val="FF0000"/>
                </a:solidFill>
              </a:rPr>
              <a:t>):</a:t>
            </a:r>
            <a:r>
              <a:rPr lang="es-MX" dirty="0">
                <a:solidFill>
                  <a:srgbClr val="FF0000"/>
                </a:solidFill>
              </a:rPr>
              <a:t> 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A72E8A4-EAED-F769-66DA-8C74FA369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119" y="1842674"/>
            <a:ext cx="9183329" cy="390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66353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36846" name="Picture 2" descr="ESPE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249789" y="289832"/>
            <a:ext cx="3555296" cy="993303"/>
          </a:xfrm>
          <a:prstGeom prst="rect">
            <a:avLst/>
          </a:prstGeom>
          <a:noFill/>
        </p:spPr>
      </p:pic>
      <p:sp>
        <p:nvSpPr>
          <p:cNvPr id="1255849421" name="Rectángulo 1"/>
          <p:cNvSpPr/>
          <p:nvPr/>
        </p:nvSpPr>
        <p:spPr bwMode="auto"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416073571" name="Rectángulo 2"/>
          <p:cNvSpPr/>
          <p:nvPr/>
        </p:nvSpPr>
        <p:spPr bwMode="auto">
          <a:xfrm>
            <a:off x="8509518" y="652209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713477027" name="CuadroTexto 3"/>
          <p:cNvSpPr txBox="1"/>
          <p:nvPr/>
        </p:nvSpPr>
        <p:spPr bwMode="auto">
          <a:xfrm>
            <a:off x="9486902" y="5899866"/>
            <a:ext cx="21950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MX" sz="1200">
                <a:latin typeface="Arial"/>
              </a:rPr>
              <a:t>Arias Martínez Darwin René</a:t>
            </a:r>
            <a:endParaRPr lang="es-MX" sz="120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E3B1D71-087D-49AB-B2BE-DB6566E07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9025" y="357969"/>
            <a:ext cx="74331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MX" b="1" dirty="0">
                <a:solidFill>
                  <a:srgbClr val="FF0000"/>
                </a:solidFill>
              </a:rPr>
              <a:t>Configurar la fuente de datos (Data </a:t>
            </a:r>
            <a:r>
              <a:rPr lang="es-MX" b="1" dirty="0" err="1">
                <a:solidFill>
                  <a:srgbClr val="FF0000"/>
                </a:solidFill>
              </a:rPr>
              <a:t>Source</a:t>
            </a:r>
            <a:r>
              <a:rPr lang="es-MX" b="1" dirty="0">
                <a:solidFill>
                  <a:srgbClr val="FF0000"/>
                </a:solidFill>
              </a:rPr>
              <a:t>):</a:t>
            </a:r>
            <a:r>
              <a:rPr lang="es-MX" dirty="0">
                <a:solidFill>
                  <a:srgbClr val="FF0000"/>
                </a:solidFill>
              </a:rPr>
              <a:t> 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510BAFE-20CA-0C39-E50B-502259174C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49633"/>
          <a:stretch>
            <a:fillRect/>
          </a:stretch>
        </p:blipFill>
        <p:spPr>
          <a:xfrm>
            <a:off x="1292629" y="3434379"/>
            <a:ext cx="9395036" cy="283860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ADD40BB-9364-1255-676F-C1BBA54F9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7812" y="1483089"/>
            <a:ext cx="9104670" cy="192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En el menú izquierdo de </a:t>
            </a:r>
            <a:r>
              <a:rPr kumimoji="0" lang="es-MX" altLang="es-MX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Grafana</a:t>
            </a:r>
            <a:r>
              <a:rPr kumimoji="0" lang="es-MX" altLang="es-MX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, clic en el ícono del símbolo </a:t>
            </a:r>
            <a:r>
              <a:rPr kumimoji="0" lang="es-MX" altLang="es-MX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+</a:t>
            </a:r>
            <a:r>
              <a:rPr kumimoji="0" lang="es-MX" altLang="es-MX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 y luego en </a:t>
            </a:r>
            <a:r>
              <a:rPr kumimoji="0" lang="es-MX" altLang="es-MX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Import</a:t>
            </a:r>
            <a:r>
              <a:rPr kumimoji="0" lang="es-MX" altLang="es-MX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En la casilla que dice </a:t>
            </a:r>
            <a:r>
              <a:rPr kumimoji="0" lang="es-MX" altLang="es-MX" sz="17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Import</a:t>
            </a:r>
            <a:r>
              <a:rPr kumimoji="0" lang="es-MX" altLang="es-MX" sz="17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 </a:t>
            </a:r>
            <a:r>
              <a:rPr kumimoji="0" lang="es-MX" altLang="es-MX" sz="17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via</a:t>
            </a:r>
            <a:r>
              <a:rPr kumimoji="0" lang="es-MX" altLang="es-MX" sz="17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 grafana.com</a:t>
            </a:r>
            <a:r>
              <a:rPr kumimoji="0" lang="es-MX" altLang="es-MX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, diles que escriban el número: </a:t>
            </a:r>
            <a:r>
              <a:rPr kumimoji="0" lang="es-MX" altLang="es-MX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1860</a:t>
            </a:r>
            <a:r>
              <a:rPr kumimoji="0" lang="es-MX" altLang="es-MX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 y presionen el botón </a:t>
            </a:r>
            <a:r>
              <a:rPr kumimoji="0" lang="es-MX" altLang="es-MX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Load</a:t>
            </a:r>
            <a:r>
              <a:rPr kumimoji="0" lang="es-MX" altLang="es-MX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. </a:t>
            </a:r>
            <a:r>
              <a:rPr kumimoji="0" lang="es-MX" altLang="es-MX" sz="17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(Este es el ID del tablero oficial más famoso del mundo para monitorear servidores Linux).</a:t>
            </a:r>
            <a:endParaRPr kumimoji="0" lang="es-MX" altLang="es-MX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1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En la siguiente pantalla, en el campo </a:t>
            </a:r>
            <a:r>
              <a:rPr kumimoji="0" lang="es-MX" altLang="es-MX" sz="17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Prometheus</a:t>
            </a:r>
            <a:r>
              <a:rPr kumimoji="0" lang="es-MX" altLang="es-MX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, seleccionen la fuente de datos que acaban de crear.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Clic en </a:t>
            </a:r>
            <a:r>
              <a:rPr kumimoji="0" lang="es-MX" altLang="es-MX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Import</a:t>
            </a:r>
            <a:r>
              <a:rPr kumimoji="0" lang="es-MX" altLang="es-MX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1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363407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36846" name="Picture 2" descr="ESPE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249789" y="289832"/>
            <a:ext cx="3555296" cy="993303"/>
          </a:xfrm>
          <a:prstGeom prst="rect">
            <a:avLst/>
          </a:prstGeom>
          <a:noFill/>
        </p:spPr>
      </p:pic>
      <p:sp>
        <p:nvSpPr>
          <p:cNvPr id="1255849421" name="Rectángulo 1"/>
          <p:cNvSpPr/>
          <p:nvPr/>
        </p:nvSpPr>
        <p:spPr bwMode="auto"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416073571" name="Rectángulo 2"/>
          <p:cNvSpPr/>
          <p:nvPr/>
        </p:nvSpPr>
        <p:spPr bwMode="auto">
          <a:xfrm>
            <a:off x="8509518" y="652209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713477027" name="CuadroTexto 3"/>
          <p:cNvSpPr txBox="1"/>
          <p:nvPr/>
        </p:nvSpPr>
        <p:spPr bwMode="auto">
          <a:xfrm>
            <a:off x="9486902" y="5899866"/>
            <a:ext cx="21950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MX" sz="1200">
                <a:latin typeface="Arial"/>
              </a:rPr>
              <a:t>Arias Martínez Darwin René</a:t>
            </a:r>
            <a:endParaRPr lang="es-MX" sz="120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E3B1D71-087D-49AB-B2BE-DB6566E07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9025" y="357969"/>
            <a:ext cx="74331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MX" b="1" dirty="0">
                <a:solidFill>
                  <a:srgbClr val="FF0000"/>
                </a:solidFill>
              </a:rPr>
              <a:t>Configurar la fuente de datos (Data </a:t>
            </a:r>
            <a:r>
              <a:rPr lang="es-MX" b="1" dirty="0" err="1">
                <a:solidFill>
                  <a:srgbClr val="FF0000"/>
                </a:solidFill>
              </a:rPr>
              <a:t>Source</a:t>
            </a:r>
            <a:r>
              <a:rPr lang="es-MX" b="1" dirty="0">
                <a:solidFill>
                  <a:srgbClr val="FF0000"/>
                </a:solidFill>
              </a:rPr>
              <a:t>):</a:t>
            </a:r>
            <a:r>
              <a:rPr lang="es-MX" dirty="0">
                <a:solidFill>
                  <a:srgbClr val="FF0000"/>
                </a:solidFill>
              </a:rPr>
              <a:t> 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E064A08-564A-13FB-9387-6B39FF5B7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503" y="1863647"/>
            <a:ext cx="9458632" cy="401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7111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36846" name="Picture 2" descr="ESPE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249789" y="289832"/>
            <a:ext cx="3555296" cy="993303"/>
          </a:xfrm>
          <a:prstGeom prst="rect">
            <a:avLst/>
          </a:prstGeom>
          <a:noFill/>
        </p:spPr>
      </p:pic>
      <p:sp>
        <p:nvSpPr>
          <p:cNvPr id="1255849421" name="Rectángulo 1"/>
          <p:cNvSpPr/>
          <p:nvPr/>
        </p:nvSpPr>
        <p:spPr bwMode="auto"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416073571" name="Rectángulo 2"/>
          <p:cNvSpPr/>
          <p:nvPr/>
        </p:nvSpPr>
        <p:spPr bwMode="auto">
          <a:xfrm>
            <a:off x="8509518" y="652209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713477027" name="CuadroTexto 3"/>
          <p:cNvSpPr txBox="1"/>
          <p:nvPr/>
        </p:nvSpPr>
        <p:spPr bwMode="auto">
          <a:xfrm>
            <a:off x="9486902" y="5899866"/>
            <a:ext cx="21950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MX" sz="1200">
                <a:latin typeface="Arial"/>
              </a:rPr>
              <a:t>Arias Martínez Darwin René</a:t>
            </a:r>
            <a:endParaRPr lang="es-MX" sz="120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E3B1D71-087D-49AB-B2BE-DB6566E07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9025" y="357969"/>
            <a:ext cx="74331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MX" b="1" dirty="0">
                <a:solidFill>
                  <a:srgbClr val="FF0000"/>
                </a:solidFill>
              </a:rPr>
              <a:t>Configurar la fuente de datos (Data </a:t>
            </a:r>
            <a:r>
              <a:rPr lang="es-MX" b="1" dirty="0" err="1">
                <a:solidFill>
                  <a:srgbClr val="FF0000"/>
                </a:solidFill>
              </a:rPr>
              <a:t>Source</a:t>
            </a:r>
            <a:r>
              <a:rPr lang="es-MX" b="1" dirty="0">
                <a:solidFill>
                  <a:srgbClr val="FF0000"/>
                </a:solidFill>
              </a:rPr>
              <a:t>):</a:t>
            </a:r>
            <a:r>
              <a:rPr lang="es-MX" dirty="0">
                <a:solidFill>
                  <a:srgbClr val="FF0000"/>
                </a:solidFill>
              </a:rPr>
              <a:t> 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82B7109-43B4-DBB4-400B-2DF2538BA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433" y="1635738"/>
            <a:ext cx="9320981" cy="418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6729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36846" name="Picture 2" descr="ESPE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249789" y="289832"/>
            <a:ext cx="3555296" cy="993303"/>
          </a:xfrm>
          <a:prstGeom prst="rect">
            <a:avLst/>
          </a:prstGeom>
          <a:noFill/>
        </p:spPr>
      </p:pic>
      <p:sp>
        <p:nvSpPr>
          <p:cNvPr id="1255849421" name="Rectángulo 1"/>
          <p:cNvSpPr/>
          <p:nvPr/>
        </p:nvSpPr>
        <p:spPr bwMode="auto">
          <a:xfrm>
            <a:off x="6456784" y="6176865"/>
            <a:ext cx="5495730" cy="19594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416073571" name="Rectángulo 2"/>
          <p:cNvSpPr/>
          <p:nvPr/>
        </p:nvSpPr>
        <p:spPr bwMode="auto">
          <a:xfrm>
            <a:off x="8509518" y="6522097"/>
            <a:ext cx="3442996" cy="1026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MX"/>
          </a:p>
        </p:txBody>
      </p:sp>
      <p:sp>
        <p:nvSpPr>
          <p:cNvPr id="1713477027" name="CuadroTexto 3"/>
          <p:cNvSpPr txBox="1"/>
          <p:nvPr/>
        </p:nvSpPr>
        <p:spPr bwMode="auto">
          <a:xfrm>
            <a:off x="9486902" y="5899866"/>
            <a:ext cx="21950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MX" sz="1200">
                <a:latin typeface="Arial"/>
              </a:rPr>
              <a:t>Arias Martínez Darwin René</a:t>
            </a:r>
            <a:endParaRPr lang="es-MX" sz="120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DAC7E36-8743-92B8-90A7-7586FFC2C7CF}"/>
              </a:ext>
            </a:extLst>
          </p:cNvPr>
          <p:cNvSpPr txBox="1"/>
          <p:nvPr/>
        </p:nvSpPr>
        <p:spPr>
          <a:xfrm>
            <a:off x="2027437" y="198826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/>
              <a:t>yes &gt; /</a:t>
            </a:r>
            <a:r>
              <a:rPr lang="es-MX" sz="2400" b="1" dirty="0" err="1"/>
              <a:t>dev</a:t>
            </a:r>
            <a:r>
              <a:rPr lang="es-MX" sz="2400" b="1" dirty="0"/>
              <a:t>/</a:t>
            </a:r>
            <a:r>
              <a:rPr lang="es-MX" sz="2400" b="1" dirty="0" err="1"/>
              <a:t>null</a:t>
            </a:r>
            <a:endParaRPr lang="es-MX" sz="2400" b="1" dirty="0"/>
          </a:p>
        </p:txBody>
      </p:sp>
    </p:spTree>
    <p:extLst>
      <p:ext uri="{BB962C8B-B14F-4D97-AF65-F5344CB8AC3E}">
        <p14:creationId xmlns:p14="http://schemas.microsoft.com/office/powerpoint/2010/main" val="47120605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EBC2C9C70C024CAB1FB51A50D0AF8B" ma:contentTypeVersion="8" ma:contentTypeDescription="Create a new document." ma:contentTypeScope="" ma:versionID="7242203416935adfa878fcb9056af7ff">
  <xsd:schema xmlns:xsd="http://www.w3.org/2001/XMLSchema" xmlns:xs="http://www.w3.org/2001/XMLSchema" xmlns:p="http://schemas.microsoft.com/office/2006/metadata/properties" xmlns:ns3="a02ba6e3-a8c0-432c-8287-06aef4798156" targetNamespace="http://schemas.microsoft.com/office/2006/metadata/properties" ma:root="true" ma:fieldsID="d78527be63aeb23090cc54fdc23f2381" ns3:_="">
    <xsd:import namespace="a02ba6e3-a8c0-432c-8287-06aef479815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2ba6e3-a8c0-432c-8287-06aef47981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02ba6e3-a8c0-432c-8287-06aef4798156" xsi:nil="true"/>
  </documentManagement>
</p:properties>
</file>

<file path=customXml/itemProps1.xml><?xml version="1.0" encoding="utf-8"?>
<ds:datastoreItem xmlns:ds="http://schemas.openxmlformats.org/officeDocument/2006/customXml" ds:itemID="{6F04437A-E549-447B-878D-6DBB1D764E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2ba6e3-a8c0-432c-8287-06aef47981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27EDD29B-0D15-4D3E-88E8-6131BD7FBD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92ED97-30A0-4748-ADB2-5BE6FA33B5A2}">
  <ds:schemaRefs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a02ba6e3-a8c0-432c-8287-06aef4798156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310</Words>
  <Application>Microsoft Office PowerPoint</Application>
  <PresentationFormat>Panorámica</PresentationFormat>
  <Paragraphs>59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Arial 18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O.S.S.I.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(Estudiante) Darwin Rene Arias Martinez</dc:creator>
  <cp:lastModifiedBy>Josue Chango</cp:lastModifiedBy>
  <cp:revision>340</cp:revision>
  <dcterms:created xsi:type="dcterms:W3CDTF">2026-04-17T19:18:25Z</dcterms:created>
  <dcterms:modified xsi:type="dcterms:W3CDTF">2026-07-10T13:14:53Z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0x01010029EBC2C9C70C024CAB1FB51A50D0AF8B</vt:lpwstr>
  </property>
</Properties>
</file>