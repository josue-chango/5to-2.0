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image" Target="../media/image-8-18.png"/><Relationship Id="rId19" Type="http://schemas.openxmlformats.org/officeDocument/2006/relationships/image" Target="../media/image-8-19.svg"/><Relationship Id="rId20" Type="http://schemas.openxmlformats.org/officeDocument/2006/relationships/image" Target="../media/image-8-20.png"/><Relationship Id="rId21" Type="http://schemas.openxmlformats.org/officeDocument/2006/relationships/slideLayout" Target="../slideLayouts/slideLayout9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57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Estudios en Ingeniería de Software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54053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6 — El menú de la investigación: qué tipo de estudio y cuándo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9028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Ing. Ángel Marcelo Rea Guamán, Ph.D.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Asignatura: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Investigación en Ingeniería de Software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891897"/>
            <a:ext cx="13060442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pregunta determina el tipo de estudio, no al revés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906786"/>
            <a:ext cx="131916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investigadores, tres preguntas distintas, tres tipos de estudio completamente diferentes: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9376" y="2429828"/>
            <a:ext cx="4273034" cy="2413397"/>
          </a:xfrm>
          <a:prstGeom prst="roundRect">
            <a:avLst>
              <a:gd name="adj" fmla="val 454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516" y="2429828"/>
            <a:ext cx="91440" cy="2413397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016317" y="2658189"/>
            <a:ext cx="269855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cuantitativa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317" y="3090982"/>
            <a:ext cx="37477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"¿TDD reduce defectos comparado con desarrollo tradicional?"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317" y="3927515"/>
            <a:ext cx="2817138" cy="373856"/>
          </a:xfrm>
          <a:prstGeom prst="roundRect">
            <a:avLst>
              <a:gd name="adj" fmla="val 18475"/>
            </a:avLst>
          </a:prstGeom>
          <a:solidFill>
            <a:srgbClr val="DADBF1"/>
          </a:solidFill>
          <a:ln/>
        </p:spPr>
      </p:sp>
      <p:sp>
        <p:nvSpPr>
          <p:cNvPr id="9" name="Text 7"/>
          <p:cNvSpPr/>
          <p:nvPr/>
        </p:nvSpPr>
        <p:spPr>
          <a:xfrm>
            <a:off x="1139547" y="3989070"/>
            <a:ext cx="2570678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EXPERIMENTO CONTROLADO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78623" y="2429828"/>
            <a:ext cx="4273034" cy="2413397"/>
          </a:xfrm>
          <a:prstGeom prst="roundRect">
            <a:avLst>
              <a:gd name="adj" fmla="val 454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55763" y="2429828"/>
            <a:ext cx="91440" cy="2413397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5475565" y="265818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cualitativa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75565" y="3090982"/>
            <a:ext cx="37477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"¿Por qué los equipos ágiles adoptan o rechazan DevOps?"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5565" y="3927515"/>
            <a:ext cx="3053358" cy="373856"/>
          </a:xfrm>
          <a:prstGeom prst="roundRect">
            <a:avLst>
              <a:gd name="adj" fmla="val 18475"/>
            </a:avLst>
          </a:prstGeom>
          <a:solidFill>
            <a:srgbClr val="DADBF1"/>
          </a:solidFill>
          <a:ln/>
        </p:spPr>
      </p:sp>
      <p:sp>
        <p:nvSpPr>
          <p:cNvPr id="15" name="Text 13"/>
          <p:cNvSpPr/>
          <p:nvPr/>
        </p:nvSpPr>
        <p:spPr>
          <a:xfrm>
            <a:off x="5598795" y="3989070"/>
            <a:ext cx="2806898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ESTUDIO DE CASO CUALITATIVO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37871" y="2429828"/>
            <a:ext cx="4273034" cy="2413397"/>
          </a:xfrm>
          <a:prstGeom prst="roundRect">
            <a:avLst>
              <a:gd name="adj" fmla="val 454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15011" y="2429828"/>
            <a:ext cx="91440" cy="2413397"/>
          </a:xfrm>
          <a:prstGeom prst="roundRect">
            <a:avLst>
              <a:gd name="adj" fmla="val 94419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934813" y="265818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de síntesis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34813" y="3090982"/>
            <a:ext cx="3747730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"¿Qué dice la literatura sobre el impacto de code review en calidad de software?"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34813" y="4241006"/>
            <a:ext cx="2815828" cy="373856"/>
          </a:xfrm>
          <a:prstGeom prst="roundRect">
            <a:avLst>
              <a:gd name="adj" fmla="val 18475"/>
            </a:avLst>
          </a:prstGeom>
          <a:solidFill>
            <a:srgbClr val="DADB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043" y="4302562"/>
            <a:ext cx="2569369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REVISIÓN SISTEMÁTICA (SLR)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9376" y="5052774"/>
            <a:ext cx="13191649" cy="1448395"/>
          </a:xfrm>
          <a:prstGeom prst="roundRect">
            <a:avLst>
              <a:gd name="adj" fmla="val 5961"/>
            </a:avLst>
          </a:prstGeom>
          <a:solidFill>
            <a:srgbClr val="FCF2B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78" y="5358289"/>
            <a:ext cx="256937" cy="2055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87316" y="5290304"/>
            <a:ext cx="12318206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frecuente: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elegir el tipo de estudio por comodidad ("hago una encuesta porque es más fácil") en lugar de por adecuación a la pregunta. El tipo de estudio no es una preferencia personal — es una consecuencia lógica de la pregunta de investigación (RQ).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9376" y="6710720"/>
            <a:ext cx="131916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Referencia: Creswell, J.W. &amp; Creswell, J.D. (2018). Research Design: Qualitative, Quantitative, and Mixed Methods Approaches (5th ed.). SAGE Publications.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19113"/>
            <a:ext cx="7571542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Dos grandes familias de estudios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834628" y="1514237"/>
            <a:ext cx="1843207" cy="332303"/>
          </a:xfrm>
          <a:prstGeom prst="roundRect">
            <a:avLst>
              <a:gd name="adj" fmla="val 18993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947261" y="1570553"/>
            <a:ext cx="1617940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ESTUDIOS PRIMARIOS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34628" y="1908691"/>
            <a:ext cx="6251377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investigador recolecta datos originales directamente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4628" y="2651165"/>
            <a:ext cx="625137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la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 prima del conocimiento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Ingeniería de Software.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51777" y="1514237"/>
            <a:ext cx="2114550" cy="347543"/>
          </a:xfrm>
          <a:prstGeom prst="roundRect">
            <a:avLst>
              <a:gd name="adj" fmla="val 18160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72030" y="1578173"/>
            <a:ext cx="1874044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ESTUDIOS SECUNDARIOS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51777" y="1923931"/>
            <a:ext cx="6251377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investigador analiza y sintetiza estudios primarios ya existentes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51777" y="2666405"/>
            <a:ext cx="625137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la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consolidada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 campo científico.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4628" y="3255883"/>
            <a:ext cx="3123605" cy="977741"/>
          </a:xfrm>
          <a:prstGeom prst="roundRect">
            <a:avLst>
              <a:gd name="adj" fmla="val 80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0010" y="3451265"/>
            <a:ext cx="2732842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controlado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13728" y="3255883"/>
            <a:ext cx="3123605" cy="977741"/>
          </a:xfrm>
          <a:prstGeom prst="roundRect">
            <a:avLst>
              <a:gd name="adj" fmla="val 80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9110" y="3451265"/>
            <a:ext cx="2732842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cuasi-experimental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92829" y="3255883"/>
            <a:ext cx="3123605" cy="977741"/>
          </a:xfrm>
          <a:prstGeom prst="roundRect">
            <a:avLst>
              <a:gd name="adj" fmla="val 80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8210" y="345126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 / Survey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71929" y="3255883"/>
            <a:ext cx="3123724" cy="977741"/>
          </a:xfrm>
          <a:prstGeom prst="roundRect">
            <a:avLst>
              <a:gd name="adj" fmla="val 80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67311" y="345126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 de caso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4628" y="4389120"/>
            <a:ext cx="4216598" cy="977741"/>
          </a:xfrm>
          <a:prstGeom prst="roundRect">
            <a:avLst>
              <a:gd name="adj" fmla="val 80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0010" y="4584502"/>
            <a:ext cx="267843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Etnografía / Field Study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06722" y="4389120"/>
            <a:ext cx="4216718" cy="977741"/>
          </a:xfrm>
          <a:prstGeom prst="roundRect">
            <a:avLst>
              <a:gd name="adj" fmla="val 80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2104" y="4584502"/>
            <a:ext cx="3825954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Mining Software Repositories (MSR)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78935" y="4389120"/>
            <a:ext cx="4216718" cy="977741"/>
          </a:xfrm>
          <a:prstGeom prst="roundRect">
            <a:avLst>
              <a:gd name="adj" fmla="val 80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4317" y="458450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 Research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4628" y="5541764"/>
            <a:ext cx="3123605" cy="1008221"/>
          </a:xfrm>
          <a:prstGeom prst="roundRect">
            <a:avLst>
              <a:gd name="adj" fmla="val 782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5250" y="5752386"/>
            <a:ext cx="2702362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Revisión de Literatura (RL)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113728" y="5541764"/>
            <a:ext cx="3123605" cy="1008221"/>
          </a:xfrm>
          <a:prstGeom prst="roundRect">
            <a:avLst>
              <a:gd name="adj" fmla="val 782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4350" y="5752386"/>
            <a:ext cx="2702362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Revisión Sistemática (RS)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92829" y="5541764"/>
            <a:ext cx="3123605" cy="1008221"/>
          </a:xfrm>
          <a:prstGeom prst="roundRect">
            <a:avLst>
              <a:gd name="adj" fmla="val 782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3450" y="5752386"/>
            <a:ext cx="2702362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Revisión Sistemática de Literatura (SLR)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671929" y="5541764"/>
            <a:ext cx="3123724" cy="1008221"/>
          </a:xfrm>
          <a:prstGeom prst="roundRect">
            <a:avLst>
              <a:gd name="adj" fmla="val 782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82551" y="5752386"/>
            <a:ext cx="2702481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Mapping Study / Scoping Review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34628" y="6724888"/>
            <a:ext cx="12961025" cy="985480"/>
          </a:xfrm>
          <a:prstGeom prst="roundRect">
            <a:avLst>
              <a:gd name="adj" fmla="val 8006"/>
            </a:avLst>
          </a:prstGeom>
          <a:solidFill>
            <a:srgbClr val="B6D6FC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90" y="7000994"/>
            <a:ext cx="234791" cy="18776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44943" y="6927294"/>
            <a:ext cx="1216294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distinción importa: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de hacer un estudio primario, generalmente debes hacer un estudio secundario para saber qué ya se sabe y dónde está el gap de conocimiento.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63761"/>
            <a:ext cx="10371653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Revisión de Literatura ≠ Revisión Sistemática ≠ SLR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68291" y="1328857"/>
            <a:ext cx="1149369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tres no son lo mismo. Cada una tiene un nivel de rigor, propósito y protocolo diferente.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291" y="1909763"/>
            <a:ext cx="5543669" cy="554366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91" y="1909763"/>
            <a:ext cx="5543669" cy="554366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502962" y="1812131"/>
            <a:ext cx="45720" cy="299954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3"/>
          <p:cNvSpPr/>
          <p:nvPr/>
        </p:nvSpPr>
        <p:spPr>
          <a:xfrm>
            <a:off x="7738110" y="1834991"/>
            <a:ext cx="2483048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Revisión de Literatura (RL)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38110" y="2477810"/>
            <a:ext cx="2483048" cy="184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Búsqueda narrativa e informal. Sin protocolo fijo ni criterios de inclusión/exclusión documentados. Útil para la introducción de un paper,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para producir evidencia científica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Riesgo: sesgo del autor al seleccionar qué incluir.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351175" y="1812131"/>
            <a:ext cx="45720" cy="299954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6"/>
          <p:cNvSpPr/>
          <p:nvPr/>
        </p:nvSpPr>
        <p:spPr>
          <a:xfrm>
            <a:off x="10586323" y="1834991"/>
            <a:ext cx="2483168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Revisión Sistemática (RS)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586323" y="2477810"/>
            <a:ext cx="2483168" cy="231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 riguroso y reproducible. Protocolo predefinido, búsqueda exhaustiva en múltiples bases de datos, criterios explícitos y evaluación de calidad. Estándar en medicina y psicología desde los años 90 (Cochrane Collaboration, 1993).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502962" y="5010507"/>
            <a:ext cx="45720" cy="135266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9"/>
          <p:cNvSpPr/>
          <p:nvPr/>
        </p:nvSpPr>
        <p:spPr>
          <a:xfrm>
            <a:off x="7738110" y="5033367"/>
            <a:ext cx="3032641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SLR en Ingeniería de Software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738110" y="5415915"/>
            <a:ext cx="5331381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Adaptación de la RS al contexto específico de IS. Protocolo estandarizado por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Kitchenham (2004, 2007)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Incluye protocolo de revisión, cadenas booleanas, proceso PRISMA, síntesis y análisis de calidad.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525822" y="6477833"/>
            <a:ext cx="5543669" cy="1050369"/>
          </a:xfrm>
          <a:prstGeom prst="roundRect">
            <a:avLst>
              <a:gd name="adj" fmla="val 6661"/>
            </a:avLst>
          </a:prstGeom>
          <a:solidFill>
            <a:srgbClr val="C7C9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90" y="6715363"/>
            <a:ext cx="208121" cy="1665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67080" y="6641663"/>
            <a:ext cx="4835843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Kitchenham et al. (2009). Systematic literature reviews in software engineering. Information and Software Technology, 51(1), 7-15.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24364"/>
            <a:ext cx="132164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Cuando lees "GPT-4 alcanzó SOTA", estás leyendo investigación científica en acción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2246709"/>
            <a:ext cx="3969187" cy="365522"/>
          </a:xfrm>
          <a:prstGeom prst="roundRect">
            <a:avLst>
              <a:gd name="adj" fmla="val 18570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828199" y="2307312"/>
            <a:ext cx="3726775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SOTA = STATE OF THE ART (ESTADO DEL ARTE)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06993" y="2994541"/>
            <a:ext cx="343531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 investigación académica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06993" y="3490079"/>
            <a:ext cx="6361748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SOTA es el conjunto de los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mejores resultados conocidos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un problema específico, establecido por la literatura científica revisada.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Hacer una SLR ES establecer el SOTA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tu área de investigación.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6993" y="48920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 IA y ML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06993" y="5387578"/>
            <a:ext cx="6361748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un paper dice "nuestro modelo supera el SOTA en el benchmark X", significa que supera todos los resultados anteriores documentados en la literatura.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6993" y="6466046"/>
            <a:ext cx="6361748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"GPT-4 achieved SOTA on MMLU"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"Este modelo alcanzó SOTA en detección de objetos en COCO"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9279" y="2994541"/>
            <a:ext cx="280416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lo llaman así?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9279" y="3490079"/>
            <a:ext cx="6361748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reclamar que tu contribución es novedosa, primero debes demostrar que conoces y superas todo lo que ya existe — es decir, debes establecer el estado del arte mediante una revisión de la literatura.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569279" y="4914543"/>
            <a:ext cx="6361748" cy="1715333"/>
          </a:xfrm>
          <a:prstGeom prst="roundRect">
            <a:avLst>
              <a:gd name="adj" fmla="val 4946"/>
            </a:avLst>
          </a:prstGeom>
          <a:solidFill>
            <a:srgbClr val="B6FCB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1209" y="5218867"/>
            <a:ext cx="252413" cy="2019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5552" y="5144929"/>
            <a:ext cx="5503545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Conexión directa con IS: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de proponer una nueva técnica de testing, metodología ágil, o herramienta de análisis estático, debes hacer una SLR para establecer el SOTA del área y demostrar que tu contribución lo avanza.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9279" y="6832283"/>
            <a:ext cx="636174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próxima vez que leas "SOTA" en un paper de IA, sabrás que el autor hizo (o debió hacer) una revisión sistemática de la literatura.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78656"/>
            <a:ext cx="8463796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catálogo de estudios primarios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717596"/>
            <a:ext cx="131668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tipo de estudio primario tiene un propósito, fortalezas y limitaciones específicas. Conocerlos es fundamental para elegir correctamente.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58" y="2577108"/>
            <a:ext cx="1368743" cy="845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758" y="3663910"/>
            <a:ext cx="3101340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Controlado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31758" y="4106108"/>
            <a:ext cx="3110984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 variable independiente (VI), mide variable dependiente (VD), asignación aleatoria.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validez interna.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758" y="5828467"/>
            <a:ext cx="3110984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 comparar dos algoritmos de sorting en tiempo de ejecución bajo condiciones controladas.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758" y="7229475"/>
            <a:ext cx="31109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Ref: Wohlin et al. (2012)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606" y="2577108"/>
            <a:ext cx="1368862" cy="845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83606" y="366391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 (Survey)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4083606" y="4106108"/>
            <a:ext cx="3111103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 a muestra representativa. Útil para prácticas, opiniones, adopción de herramientas.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amplio, baja profundidad.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083606" y="5828467"/>
            <a:ext cx="311110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 State of DevOps Report (DORA, anual).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572" y="2577108"/>
            <a:ext cx="1368862" cy="845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35572" y="366391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 de Caso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7435572" y="4106108"/>
            <a:ext cx="3111103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profunda de fenómeno en contexto real.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validez externa, baja generalización.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más común en IS de campo.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435572" y="5828467"/>
            <a:ext cx="311110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Ref: Runeson &amp; Höst (2012)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539" y="2577108"/>
            <a:ext cx="1368862" cy="8459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7539" y="3663910"/>
            <a:ext cx="3111103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Mining Software Repositories (MSR)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10787539" y="4432697"/>
            <a:ext cx="3111103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masivo de datos de proyectos reales en GitHub, Jira, Stack Overflow.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Cuantitativo y no intrusivo.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0787539" y="5833705"/>
            <a:ext cx="3111103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 analizar 10,000 repositorios de GitHub para estudiar el impacto del tamaño del commit en la calidad del código.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41020"/>
            <a:ext cx="12716470" cy="115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NASA aplica todos los tipos de estudio. Aquí cuatro ejemplos reales.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56905" y="1992273"/>
            <a:ext cx="6283404" cy="2773323"/>
          </a:xfrm>
          <a:prstGeom prst="roundRect">
            <a:avLst>
              <a:gd name="adj" fmla="val 27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8715" y="2184083"/>
            <a:ext cx="320623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🌊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Tsunami Warning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8715" y="2561749"/>
            <a:ext cx="5899785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de sensores oceánicos y sismológicos recolecta datos en tiempo real 24/7. Datos abiertos de NOAA permiten acceso al registro histórico.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48715" y="3531632"/>
            <a:ext cx="4603313" cy="339447"/>
          </a:xfrm>
          <a:prstGeom prst="roundRect">
            <a:avLst>
              <a:gd name="adj" fmla="val 1824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825" y="3594497"/>
            <a:ext cx="4367093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OBSERVACIONAL LONGITUDINAL CON DATOS SECUNDARIOS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8715" y="4039433"/>
            <a:ext cx="589978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IS: equivalente al MSR — minar repositorios públicos sin intervenir.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89971" y="1992273"/>
            <a:ext cx="6283404" cy="2773323"/>
          </a:xfrm>
          <a:prstGeom prst="roundRect">
            <a:avLst>
              <a:gd name="adj" fmla="val 27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1781" y="2184083"/>
            <a:ext cx="309776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🏘️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Citizen Science — Beirut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781" y="2561749"/>
            <a:ext cx="5899785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Voluntarios de 50 aldeas fueron entrenados para medir calidad del agua. Los datos recolectados por ciudadanos informaron políticas locales.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581781" y="3531632"/>
            <a:ext cx="2583299" cy="339447"/>
          </a:xfrm>
          <a:prstGeom prst="roundRect">
            <a:avLst>
              <a:gd name="adj" fmla="val 1824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9891" y="3594497"/>
            <a:ext cx="234707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OBSERVACIONAL PARTICIPATIVO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1781" y="4039433"/>
            <a:ext cx="589978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IS: estudios de campo con desarrolladores como participantes activos.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56905" y="4915257"/>
            <a:ext cx="6283404" cy="2773323"/>
          </a:xfrm>
          <a:prstGeom prst="roundRect">
            <a:avLst>
              <a:gd name="adj" fmla="val 27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8715" y="5107067"/>
            <a:ext cx="353901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🦠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Análisis Secundario — Ébola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8715" y="5484733"/>
            <a:ext cx="5899785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Durante el brote 2014-2016, muestras de sangre fueron enviadas a EE.UU. y Europa. El conocimiento generado tardó en regresar a los países afectados.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148715" y="6454616"/>
            <a:ext cx="2764512" cy="339447"/>
          </a:xfrm>
          <a:prstGeom prst="roundRect">
            <a:avLst>
              <a:gd name="adj" fmla="val 1824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6825" y="6517481"/>
            <a:ext cx="2528292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DATOS SECUNDARIOS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8715" y="6962418"/>
            <a:ext cx="5899785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Lección IS: los datos abiertos desde el origen aceleran la ciencia.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89971" y="4915257"/>
            <a:ext cx="6283404" cy="2773323"/>
          </a:xfrm>
          <a:prstGeom prst="roundRect">
            <a:avLst>
              <a:gd name="adj" fmla="val 279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1781" y="5107067"/>
            <a:ext cx="4510683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🌀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Multi-método — Hurricane Ida (2021)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1781" y="5484733"/>
            <a:ext cx="5899785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combinó datos de humedad del suelo, detección de inundaciones y cambios de vegetación para apoyar la respuesta de emergencia.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581781" y="6454616"/>
            <a:ext cx="4037171" cy="339447"/>
          </a:xfrm>
          <a:prstGeom prst="roundRect">
            <a:avLst>
              <a:gd name="adj" fmla="val 1824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891" y="6517481"/>
            <a:ext cx="380095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MIXTO: CUANTITATIVO + GEOESPACIAL + TEMPORAL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81781" y="6962418"/>
            <a:ext cx="589978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IS: los mejores estudios combinan encuestas + análisis de repositorios + entrevistas.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489942"/>
            <a:ext cx="9496901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mapa de decisión para elegir tu tipo de estudio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846" y="2455664"/>
            <a:ext cx="7016710" cy="3449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46304" y="2770895"/>
            <a:ext cx="1604635" cy="20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 de evidencia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46304" y="3028528"/>
            <a:ext cx="3244928" cy="13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Cuantitativo o cualitativo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7021" y="2853913"/>
            <a:ext cx="228214" cy="2282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6304" y="3576778"/>
            <a:ext cx="1604635" cy="20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Generalizar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246304" y="3834411"/>
            <a:ext cx="3244928" cy="13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¿Buscas amplitud de resultados?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7021" y="3552820"/>
            <a:ext cx="228214" cy="2282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46304" y="4382661"/>
            <a:ext cx="1734676" cy="20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Controlar condiciones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246304" y="4640294"/>
            <a:ext cx="3244928" cy="13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¿Puedes manipular variables?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7021" y="4244596"/>
            <a:ext cx="228214" cy="2282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53436" y="5188544"/>
            <a:ext cx="1604635" cy="20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inicial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5253436" y="5446177"/>
            <a:ext cx="3244928" cy="13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la pregunta de investigación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7021" y="5050479"/>
            <a:ext cx="228214" cy="2282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12846" y="6030992"/>
            <a:ext cx="701671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árbol de decisión guía al investigador desde la pregunta de investigación hasta el tipo de estudio más adecuado, evitando elecciones por conveniencia.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9226272" y="1268492"/>
            <a:ext cx="277332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Preguntas clave para decidir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86042" y="1651575"/>
            <a:ext cx="239197" cy="23919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744432" y="1643658"/>
            <a:ext cx="3080504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¿Puedes controlar las condiciones? →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experimento.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encuesta o caso de estudio.</a:t>
            </a:r>
            <a:endParaRPr lang="en-US" sz="12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86042" y="2527637"/>
            <a:ext cx="239197" cy="239197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744432" y="2519720"/>
            <a:ext cx="3080504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¿Necesitas generalizar a muchos contextos? →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encuesta o MSR.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caso de estudio o etnografía.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86042" y="3403699"/>
            <a:ext cx="239197" cy="239197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744432" y="3395782"/>
            <a:ext cx="3080504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¿La pregunta es "cuánto/cuántos"? →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Cuantitativo: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experimento, MSR, encuesta cerrada.</a:t>
            </a:r>
            <a:endParaRPr lang="en-US" sz="12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86042" y="4279761"/>
            <a:ext cx="239197" cy="239197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744432" y="4271843"/>
            <a:ext cx="3080504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¿La pregunta es "por qué/cómo"? →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Cualitativo: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caso de estudio, entrevistas, etnografía.</a:t>
            </a:r>
            <a:endParaRPr lang="en-US" sz="12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286042" y="5155823"/>
            <a:ext cx="239197" cy="239197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744432" y="5147905"/>
            <a:ext cx="3080504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¿Quieres sintetizar lo que ya se sabe? →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Secundario: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SLR o mapping study.</a:t>
            </a:r>
            <a:endParaRPr lang="en-US" sz="1250" dirty="0"/>
          </a:p>
        </p:txBody>
      </p:sp>
      <p:sp>
        <p:nvSpPr>
          <p:cNvPr id="28" name="Shape 16"/>
          <p:cNvSpPr/>
          <p:nvPr/>
        </p:nvSpPr>
        <p:spPr>
          <a:xfrm>
            <a:off x="9226272" y="5760244"/>
            <a:ext cx="3598664" cy="1853327"/>
          </a:xfrm>
          <a:prstGeom prst="roundRect">
            <a:avLst>
              <a:gd name="adj" fmla="val 3614"/>
            </a:avLst>
          </a:prstGeom>
          <a:solidFill>
            <a:srgbClr val="B6D6FC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85697" y="5979914"/>
            <a:ext cx="199311" cy="159425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744432" y="5912048"/>
            <a:ext cx="2921079" cy="152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Triangulación: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usar más de un tipo de estudio para responder la misma RQ desde ángulos distintos aumenta la solidez de las conclusiones. Ejemplo: encuesta de percepción + análisis de repositorios + entrevistas semi-estructuradas.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39591"/>
            <a:ext cx="13205579" cy="119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 referencias que todo investigador de IS debería conocer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2058591"/>
            <a:ext cx="6522006" cy="2593896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5211" y="2081451"/>
            <a:ext cx="6476286" cy="574119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3829764" y="2185273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26544" y="2817019"/>
            <a:ext cx="4052530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Experimentos y estudios primarios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26544" y="3212783"/>
            <a:ext cx="609361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Wohlin, C. et al. (2012).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Experimentation in Software Engineering.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Springer.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26544" y="3873937"/>
            <a:ext cx="609361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manual de referencia para diseño experimental en IS. Cubre desde el diseño hasta el análisis estadístico de resultados.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95805" y="2058591"/>
            <a:ext cx="6522125" cy="2593896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18665" y="2081451"/>
            <a:ext cx="6476405" cy="574119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3338" y="2185273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609999" y="281701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Estudios de caso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09999" y="3212783"/>
            <a:ext cx="60937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Runeson, P. &amp; Höst, M. (2012).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Research in Software Engineering: Guidelines and Examples.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Wiley-Blackwell.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9999" y="3873937"/>
            <a:ext cx="60937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estándar de referencia para estudios de caso en IS con ejemplos reales del campo.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2351" y="4813935"/>
            <a:ext cx="6522006" cy="2876074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5211" y="4836795"/>
            <a:ext cx="6476286" cy="574119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</p:sp>
      <p:sp>
        <p:nvSpPr>
          <p:cNvPr id="17" name="Text 15"/>
          <p:cNvSpPr/>
          <p:nvPr/>
        </p:nvSpPr>
        <p:spPr>
          <a:xfrm>
            <a:off x="3829764" y="4940618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26544" y="5572363"/>
            <a:ext cx="281273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Revisiones sistemáticas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26544" y="5968127"/>
            <a:ext cx="6093619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Kitchenham, B. et al. (2009).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Systematic literature reviews in software engineering. </a:t>
            </a:r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and Software Technology, 51(1), 7-15.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6544" y="6911459"/>
            <a:ext cx="609361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artículo fundacional de la SLR en IS.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de 5,000 citas.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Lectura obligatoria para cualquier investigador del área.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95805" y="4813935"/>
            <a:ext cx="6522125" cy="2876074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8665" y="4836795"/>
            <a:ext cx="6476405" cy="574119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3338" y="4940618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609999" y="5572363"/>
            <a:ext cx="349019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mixtos y cualitativos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7609999" y="5968127"/>
            <a:ext cx="6093738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Creswell, J.W. &amp; Creswell, J.D. (2018).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Design: Qualitative, Quantitative, and Mixed Methods Approaches (5th ed.).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SAGE.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09999" y="6911459"/>
            <a:ext cx="60937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referencia más usada a nivel global para diseño de investigación. Accesible para pregrado y posgrado.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62927"/>
            <a:ext cx="996850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tipo de estudio usarías para tu RQ?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266111"/>
            <a:ext cx="451437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Tarea para la próxima clase — INVB4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06993" y="1851541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tu planteamiento del problema (INVB2/INVB3) y agrega una sección de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"Tipo de estudio propuesto"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respondiendo las siguientes preguntas: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6993" y="2664976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06993" y="2985373"/>
            <a:ext cx="428553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06993" y="3132058"/>
            <a:ext cx="298406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¿Primario o secundario?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06993" y="3555563"/>
            <a:ext cx="428553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Determina si tu investigación recolectará datos originales o sintetizará evidencia existente.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172432" y="2664976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172432" y="2985373"/>
            <a:ext cx="428553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5172432" y="3132058"/>
            <a:ext cx="3887391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tipo específico y por qué?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172432" y="3555563"/>
            <a:ext cx="428553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 la elección del tipo de estudio en función de tu pregunta de investigación (RQ), no por conveniencia.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37871" y="2664976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37871" y="2985373"/>
            <a:ext cx="428553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9637871" y="3132058"/>
            <a:ext cx="4285536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¿Cuál es el alcance y las limitaciones?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37871" y="3871198"/>
            <a:ext cx="428553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las fortalezas y limitaciones del tipo de estudio elegido en el contexto específico de tu investigación.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6993" y="5141595"/>
            <a:ext cx="13216414" cy="798790"/>
          </a:xfrm>
          <a:prstGeom prst="roundRect">
            <a:avLst>
              <a:gd name="adj" fmla="val 10622"/>
            </a:avLst>
          </a:prstGeom>
          <a:solidFill>
            <a:srgbClr val="C7C9E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23" y="5445919"/>
            <a:ext cx="252413" cy="20193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63266" y="5371981"/>
            <a:ext cx="1235821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clase: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Técnicas de Investigación Científica en IS — cómo operacionalizar el estudio que elegiste. 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010007" y="6345198"/>
            <a:ext cx="1291340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"Science moves faster when researchers are able to work together, help correct errors, build on each other's results, and share resources."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010007" y="7158633"/>
            <a:ext cx="1291340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NASA Open Science 101, M4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706993" y="6142792"/>
            <a:ext cx="22860" cy="1523762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2026-04-21T14:54:44Z</dcterms:created>
  <dcterms:modified xsi:type="dcterms:W3CDTF">2026-04-21T14:54:44Z</dcterms:modified>
</cp:coreProperties>
</file>