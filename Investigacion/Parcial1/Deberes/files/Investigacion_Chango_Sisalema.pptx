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SonarQube</c:v>
                  </c:pt>
                  <c:pt idx="1">
                    <c:v>CodeQL</c:v>
                  </c:pt>
                  <c:pt idx="2">
                    <c:v>Snyk</c:v>
                  </c:pt>
                  <c:pt idx="3">
                    <c:v>GPT-4.1</c:v>
                  </c:pt>
                  <c:pt idx="4">
                    <c:v>Mistral Large</c:v>
                  </c:pt>
                  <c:pt idx="5">
                    <c:v>DeepSeek V3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0.26</c:v>
                </c:pt>
                <c:pt idx="1">
                  <c:v>0.386</c:v>
                </c:pt>
                <c:pt idx="2">
                  <c:v>0.546</c:v>
                </c:pt>
                <c:pt idx="3">
                  <c:v>0.797</c:v>
                </c:pt>
                <c:pt idx="4">
                  <c:v>0.753</c:v>
                </c:pt>
                <c:pt idx="5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228600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Armadas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286000" cy="3657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 30821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493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Yostin Sisalema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Chango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Rea Guaman Angel Marcelo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731520" cy="731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0" y="12801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en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3657600" y="2560320"/>
            <a:ext cx="41148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2697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Control de Calidad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Herramientas de Detección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760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en Ingeniería de Software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566928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554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¿por qué importa el código generado con IA?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8321040" cy="566928"/>
          </a:xfrm>
          <a:prstGeom prst="rect">
            <a:avLst/>
          </a:prstGeom>
          <a:solidFill>
            <a:srgbClr val="E8F5EE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21408"/>
            <a:ext cx="566928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2128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que detectan vulnerabilidades en código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7797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779776"/>
            <a:ext cx="566928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871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hace el control de calidad del código?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8321040" cy="566928"/>
          </a:xfrm>
          <a:prstGeom prst="rect">
            <a:avLst/>
          </a:prstGeom>
          <a:solidFill>
            <a:srgbClr val="E8F5EE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38144"/>
            <a:ext cx="566928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5295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 estático y qué detectan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096512"/>
            <a:ext cx="566928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41879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cierre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un problema real?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generado por IA — velocidad vs. seguridad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17320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08760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masiva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CodeWhisperer, Cursor y similares forman parte del flujo de trabajo diario en muchos equipos.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514600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06040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concreto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sobre repositorios con código defectuoso replican patrones inseguros: inyección, XSS, valores aleatorios débiles.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11880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03320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de adopción supera la velocidad de auditoría. Muchos equipos aceptan sugerencias sin análisis estático en su pipeline.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417320"/>
            <a:ext cx="310896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490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5778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CWE críticas detectadas en código LLM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468880"/>
            <a:ext cx="3108960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25420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778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más comunes: inyección, XSS, aleatoriedad débil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520440"/>
            <a:ext cx="310896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840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desarrolladores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detectan a tiempo?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— ALGORITMOS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algoritmos analizan vulnerabilidades?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familias principales según la literatura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27432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047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463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predefinidas y ejecución simbólica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sin ejecutar el código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" y="32826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predecible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" y="38496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falsos positivos ante código desconocido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82112" y="141732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82112" y="1417320"/>
            <a:ext cx="2743200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90472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76472" y="1463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(DL)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46704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por tokens (LSTM, GRU)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46704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por grafos (AST, CFG, PDG)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46704" y="32826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AUG-PDG: reduce ruido con gestión de ámbito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46704" y="38496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patrones no definidos manualmente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44184" y="141732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44184" y="1417320"/>
            <a:ext cx="2743200" cy="640080"/>
          </a:xfrm>
          <a:prstGeom prst="rect">
            <a:avLst/>
          </a:prstGeom>
          <a:solidFill>
            <a:srgbClr val="2C7A50"/>
          </a:solidFill>
          <a:ln w="12700">
            <a:solidFill>
              <a:srgbClr val="2C7A5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490472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38544" y="1463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LLM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08776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CodeBERT, CodeGemma, DeepSeek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08776" y="2715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recall que herramientas estáticas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08776" y="32826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CodeGemma: F1=58%, recall=87%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08776" y="38496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falsos positivos y alucinaciones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20040" y="4663440"/>
            <a:ext cx="8503920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C5DDD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11480" y="4663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ScienceDirect 2024, Nature/Scientific Reports 2025, MDPI Electronics 2025, arXiv 2023-2025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— COMPARATIVA LLM vs. ASAT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rinde mejor?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arXiv 2025 — 63 vulnerabilidades reales en C#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4173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355080" y="1554480"/>
            <a:ext cx="201168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536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estáticas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856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LLM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377440"/>
            <a:ext cx="2560320" cy="2011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tienen mayor recall pero generan más ruido.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ASAT son precisas y no requieren enviar el código a servicios externos.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tendencia: combinarlos.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— CONTROL DE CALIDAD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hace el control de calidad?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responsabilidad es compartida — no de un solo departamento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2743200" cy="59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14447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" y="2084832"/>
            <a:ext cx="248716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Escriben el código y son los primeros en probarlo.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pruebas unitarias y conocen los puntos débiles mejor que nadie.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plazos ajustados, reducen el tiempo de revisión — riesgo clave con IA.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82112" y="141732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82112" y="1417320"/>
            <a:ext cx="2743200" cy="5943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8132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14447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QA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46704" y="2084832"/>
            <a:ext cx="248716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revisión antes del release.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regresión, de rendimiento y de seguridad.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devs no se involucran, el QA recibe software con deuda técnica acumulada.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44184" y="141732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44184" y="1417320"/>
            <a:ext cx="2743200" cy="594360"/>
          </a:xfrm>
          <a:prstGeom prst="rect">
            <a:avLst/>
          </a:prstGeom>
          <a:solidFill>
            <a:srgbClr val="2C7A50"/>
          </a:solidFill>
          <a:ln w="12700">
            <a:solidFill>
              <a:srgbClr val="2C7A5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48132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11112" y="14447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completo (DevOps)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08776" y="2084832"/>
            <a:ext cx="248716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como marco de calidad en todo el ciclo.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agrega funcionalidades con calidad desde el inicio.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mantiene el entorno estable. CI/CD conecta ambos lados.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11480" y="470916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PMC/Springer 2016, Empirical Software Engineering/Springer 2023, MDPI Digital 2024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— HERRAMIENTAS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— la herramienta más estudiada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automatizado (ASAT)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5120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17320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44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vulnerabilidades y code smells con reglas curadas por expertos y estándares de cumplimiento industrial.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496312"/>
            <a:ext cx="5120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96312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23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pipelines CI/CD: escanea cada rama, pull request y merge automáticamente en cuanto entra código.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75304"/>
            <a:ext cx="5120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575304"/>
            <a:ext cx="64008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027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con cobertura de pruebas, deuda técnica y tiempo estimado de corrección por issue.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417320"/>
            <a:ext cx="301752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1490472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760720" y="19705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creación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514600"/>
            <a:ext cx="3017520" cy="10058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2587752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760720" y="30678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soportados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611880"/>
            <a:ext cx="3017520" cy="1005840"/>
          </a:xfrm>
          <a:prstGeom prst="rect">
            <a:avLst/>
          </a:prstGeom>
          <a:solidFill>
            <a:srgbClr val="2C7A50"/>
          </a:solidFill>
          <a:ln w="12700">
            <a:solidFill>
              <a:srgbClr val="2C7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3685032"/>
            <a:ext cx="3017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400 000+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760720" y="41650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que lo usan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8321040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C5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Marcilio et al. (IEEE/ACM ICPC 2019): 421 976 issues en 246 proyectos — solo el 8.76% fue corregido. Tiempo mediano: 19 días.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— COMPARATIVA DE HERRAMIENTAS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herramientas en la literatura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 2020 y 2022 — análisis estático comparativo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324612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3108960"/>
                <a:gridCol w="21031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detecta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lenguajes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Bugs, vulnerabilidades, code smells, deuda 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2019 / arXiv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C++, Java, Python, 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Vulnerabilidades por flujo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Vulnerabilidades en dependencias y código propio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Flawfinder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overflows, strings peligrosas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ScienceDirect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SpotBugs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en bytecode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ScienceDirect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Estilo, código duplicado, complejidad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ScienceDirect 2020/2022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CPPCheck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de memoria, punteros nulos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ScienceDirect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(ScienceDirect 2022): al analizar 47 proyectos Java con 6 herramientas distintas, el acuerdo entre ellas fue bajo. Una sola herramienta da una visión parcial.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 |  NRC 30821  |  Ingeniería de Software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 la investigación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17320"/>
            <a:ext cx="50292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490472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algoritmo gana en todo. Los estáticos son rápidos; los de DL encuentran patrones no definidos; los LLM tienen mayor recall pero generan ruido. La tendencia es combinarlos.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832104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58568"/>
            <a:ext cx="50292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585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código es responsabilidad de todos. Desarrolladores, QA y operaciones comparten el trabajo en cada etapa del ciclo de vida. Concentrarla en un solo rol acumula deuda técnica.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99816"/>
            <a:ext cx="50292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998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172968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tiene el mayor respaldo empírico, pero usarla sola es insuficiente. La literatura recomienda combinar varias ASAT y agregar LLM para revisiones de seguridad profundas.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941064"/>
            <a:ext cx="8321040" cy="749808"/>
          </a:xfrm>
          <a:prstGeom prst="rect">
            <a:avLst/>
          </a:prstGeom>
          <a:solidFill>
            <a:srgbClr val="E8F5EE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941064"/>
            <a:ext cx="50292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41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014216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del grupo conecta las tres preguntas: los algoritmos detectan las vulnerabilidades que los LLM introducen, el equipo las busca, y herramientas como SonarQube son el primer filtro del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2743200" y="2834640"/>
            <a:ext cx="36576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971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Yostin Sisalema  |  Josué Chango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Rea Guaman Angel Marcelo  |  NRC 30821  |  Abril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Vulnerabilidades en Código – ESPE 2026</dc:title>
  <dc:subject>PptxGenJS Presentation</dc:subject>
  <dc:creator>Yostin Sisalema / Josué Chango</dc:creator>
  <cp:lastModifiedBy>Yostin Sisalema / Josué Chango</cp:lastModifiedBy>
  <cp:revision>1</cp:revision>
  <dcterms:created xsi:type="dcterms:W3CDTF">2026-04-21T00:28:44Z</dcterms:created>
  <dcterms:modified xsi:type="dcterms:W3CDTF">2026-04-21T00:28:44Z</dcterms:modified>
</cp:coreProperties>
</file>