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image" Target="../media/image-7-13.jpe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00113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Manual del Proceso: Estudio de Caso en Ingeniería de Software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4167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Universidad de las Fuerzas Armadas ESPE · Proceso de Investigación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27958"/>
            <a:ext cx="1062335" cy="21535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0449"/>
            <a:ext cx="134942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JOSUÉ CHANGO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58296" y="3427958"/>
            <a:ext cx="1181546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351" y="3470449"/>
            <a:ext cx="14686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YOSTIN SISALEMA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10685" y="3427958"/>
            <a:ext cx="1266304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95740" y="3470449"/>
            <a:ext cx="15533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 DE JULIO DE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1745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Objetivo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73039"/>
            <a:ext cx="19050" cy="1453009"/>
          </a:xfrm>
          <a:prstGeom prst="roundRect">
            <a:avLst>
              <a:gd name="adj" fmla="val 60000"/>
            </a:avLst>
          </a:prstGeom>
          <a:solidFill>
            <a:srgbClr val="84C1FA"/>
          </a:solidFill>
          <a:ln/>
        </p:spPr>
      </p:sp>
      <p:sp>
        <p:nvSpPr>
          <p:cNvPr id="5" name="Text 2"/>
          <p:cNvSpPr/>
          <p:nvPr/>
        </p:nvSpPr>
        <p:spPr>
          <a:xfrm>
            <a:off x="708720" y="2332509"/>
            <a:ext cx="451016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Atender los requerimientos de una solicitud de estudio de caso en ingeniería de software, mediante un proceso estructurado que permita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analizar, diseñar, ejecutar y documentar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 caso de investigación que proporcione soluciones y conocimientos validados al dominio de la ingeniería de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841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Diagrama de Flujo del Proceso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59631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proceso se organiza en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5 fases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según el modelo BPMN de Bizagi, desde el diseño inicial hasta la publicación de resultados.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2055"/>
            <a:ext cx="8151763" cy="34441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608537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Figura 1: Diagrama de Flujo del Proceso de Estudio de Caso en Ingeniería de Software (5 Fases)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90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Las 5 Fases del Proceso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3520"/>
            <a:ext cx="620167" cy="744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4781" y="1137493"/>
            <a:ext cx="7423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Fase 1: Diseño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24781" y="1396454"/>
            <a:ext cx="7423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Definir pregunta, objetivo y seleccionar el caso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757735"/>
            <a:ext cx="620167" cy="744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4781" y="1881708"/>
            <a:ext cx="7423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Fase 2: Preparación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224781" y="2140669"/>
            <a:ext cx="7423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Definir métodos, protocolo e instrumentos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01950"/>
            <a:ext cx="620167" cy="7442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24781" y="2625923"/>
            <a:ext cx="7423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Fase 3: Recolección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224781" y="2884884"/>
            <a:ext cx="7423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Estudio piloto, entrevistas y observación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246165"/>
            <a:ext cx="620167" cy="7442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24781" y="3370138"/>
            <a:ext cx="7423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Fase 4: Análisis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224781" y="3629099"/>
            <a:ext cx="7423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Codificación, cadena de evidencia y validación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990380"/>
            <a:ext cx="620167" cy="7442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4781" y="4114354"/>
            <a:ext cx="7423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Fase 5: Reporte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224781" y="4373314"/>
            <a:ext cx="7423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Informe final, revisión por pares y publicación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547"/>
            <a:ext cx="323180" cy="134615"/>
          </a:xfrm>
          <a:prstGeom prst="roundRect">
            <a:avLst>
              <a:gd name="adj" fmla="val 47391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49250" y="430113"/>
            <a:ext cx="674117" cy="81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FASE 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0263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Diseño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50169"/>
            <a:ext cx="5222974" cy="295967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9954" y="982489"/>
            <a:ext cx="2712616" cy="7355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0207" y="1267197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359203" y="1080567"/>
            <a:ext cx="219528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Definir pregunta de investigación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359203" y="1274341"/>
            <a:ext cx="219528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Formular la pregunta que guiará el enfoque y alcance del estudio.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Protocolo de Investigación.</a:t>
            </a:r>
            <a:endParaRPr lang="en-US" sz="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9954" y="1773362"/>
            <a:ext cx="2712616" cy="7355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60207" y="205807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359203" y="1871439"/>
            <a:ext cx="219528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Definir objetivo del estudio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359203" y="2065213"/>
            <a:ext cx="219528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Establecer qué se busca investigar y qué se espera lograr.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Protocolo de Investigación.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9954" y="2564234"/>
            <a:ext cx="2712616" cy="73550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60207" y="2848942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359203" y="2662312"/>
            <a:ext cx="219528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Seleccionar el/los caso(s) específico(s)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6359203" y="2856086"/>
            <a:ext cx="219528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Identificar y seleccionar el caso o casos considerando criterios de relevancia y viabilidad.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6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9954" y="3355107"/>
            <a:ext cx="2712616" cy="7355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60207" y="3639815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359203" y="3453185"/>
            <a:ext cx="219528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¿Información suficiente para el caso?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6359203" y="3646959"/>
            <a:ext cx="219528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Verificación de si se cuenta con información suficiente para continuar. Si es negativo, se vuelven a realizar entrevistas.</a:t>
            </a:r>
            <a:endParaRPr lang="en-US" sz="6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9954" y="4145979"/>
            <a:ext cx="2712616" cy="53161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060207" y="432874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6359203" y="4244057"/>
            <a:ext cx="219528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Continuar recolección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6359203" y="4437831"/>
            <a:ext cx="2195289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287"/>
            <a:ext cx="518666" cy="208583"/>
          </a:xfrm>
          <a:prstGeom prst="roundRect">
            <a:avLst>
              <a:gd name="adj" fmla="val 47407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52438"/>
            <a:ext cx="811113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73075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Preparación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6119" y="1301725"/>
            <a:ext cx="2628602" cy="1865040"/>
          </a:xfrm>
          <a:prstGeom prst="roundRect">
            <a:avLst>
              <a:gd name="adj" fmla="val 6627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633413" y="1439019"/>
            <a:ext cx="235401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6: Definir métodos de recolección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3413" y="1947863"/>
            <a:ext cx="235401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Determinar técnicas de recolección de datos (entrevistas, observación, documentos).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7699" y="1301725"/>
            <a:ext cx="2628602" cy="1865040"/>
          </a:xfrm>
          <a:prstGeom prst="roundRect">
            <a:avLst>
              <a:gd name="adj" fmla="val 6627"/>
            </a:avLst>
          </a:prstGeom>
          <a:solidFill>
            <a:srgbClr val="CEE6FD"/>
          </a:solidFill>
          <a:ln/>
        </p:spPr>
      </p:sp>
      <p:sp>
        <p:nvSpPr>
          <p:cNvPr id="9" name="Text 7"/>
          <p:cNvSpPr/>
          <p:nvPr/>
        </p:nvSpPr>
        <p:spPr>
          <a:xfrm>
            <a:off x="3394993" y="1439019"/>
            <a:ext cx="235401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7: Diseñar protocolo de investigación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94993" y="1947863"/>
            <a:ext cx="235401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Elaborar el documento con procedimientos, cronograma y recursos necesarios.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Protocolo de Investigación.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9279" y="1301725"/>
            <a:ext cx="2628602" cy="1865040"/>
          </a:xfrm>
          <a:prstGeom prst="roundRect">
            <a:avLst>
              <a:gd name="adj" fmla="val 6627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573" y="1439019"/>
            <a:ext cx="235401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8: Definir procedimientos de campo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56573" y="1947863"/>
            <a:ext cx="2354014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Establecer procedimientos operativos para la recolección de datos en el lugar del estudio.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6119" y="3299743"/>
            <a:ext cx="4009355" cy="1432396"/>
          </a:xfrm>
          <a:prstGeom prst="roundRect">
            <a:avLst>
              <a:gd name="adj" fmla="val 8629"/>
            </a:avLst>
          </a:prstGeom>
          <a:solidFill>
            <a:srgbClr val="CEE6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3413" y="3437037"/>
            <a:ext cx="373476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9: Preparar instrumentos de recolección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3413" y="3945880"/>
            <a:ext cx="37347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Diseñar guías de entrevista, formatos de observación y formularios.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Guía de Entrevista.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38452" y="3299743"/>
            <a:ext cx="4009430" cy="1432396"/>
          </a:xfrm>
          <a:prstGeom prst="roundRect">
            <a:avLst>
              <a:gd name="adj" fmla="val 8629"/>
            </a:avLst>
          </a:prstGeom>
          <a:solidFill>
            <a:srgbClr val="CE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5746" y="3437037"/>
            <a:ext cx="3734842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10: Obtener consentimiento informado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75746" y="3945880"/>
            <a:ext cx="37348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Gestionar el consentimiento de todos los participantes, asegurando el cumplimiento ético.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Formulario de Consentimiento.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6559"/>
            <a:ext cx="353244" cy="141387"/>
          </a:xfrm>
          <a:prstGeom prst="roundRect">
            <a:avLst>
              <a:gd name="adj" fmla="val 47377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474464"/>
            <a:ext cx="698822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FASE 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12353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Recolección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1055638"/>
            <a:ext cx="27055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Actividades de campo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019" y="1274229"/>
            <a:ext cx="139526" cy="1395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8463" y="1269653"/>
            <a:ext cx="240320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11 — Realizar estudio piloto: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Ejecutar prueba piloto para validar instrumentos y procedimientos antes de la recolección principal.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19" y="1889187"/>
            <a:ext cx="139526" cy="1395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8463" y="1884611"/>
            <a:ext cx="240320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12 — ¿Protocolo aprobado tras piloto?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Verificación de si el protocolo fue validado satisfactoriamente durante el piloto. Si es negativo, se revisan los instrumentos.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019" y="2504145"/>
            <a:ext cx="139526" cy="1395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8463" y="2499568"/>
            <a:ext cx="240320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13 — Revisar instrumentos: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019" y="2909925"/>
            <a:ext cx="139526" cy="1395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8463" y="2905348"/>
            <a:ext cx="240320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14 — Realizar entrevistas semiestructuradas: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Entrevistas con informantes clave siguiendo las guías previamente diseñadas.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019" y="3524883"/>
            <a:ext cx="139526" cy="1395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98463" y="3520306"/>
            <a:ext cx="240320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15 — Realizar observación directa con registros: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Observación directa del contexto y proceso del caso, manteniendo registros detallados.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1019" y="4139840"/>
            <a:ext cx="139526" cy="13952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98463" y="4135264"/>
            <a:ext cx="240320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Actividad 16 — Recolectar artefactos y documentos: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Recopilar todos los documentos y artefactos relevantes para el caso (manuales, diagramas, especificaciones).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Artefactos del caso.</a:t>
            </a:r>
            <a:endParaRPr lang="en-US" sz="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33390" y="1366986"/>
            <a:ext cx="5219179" cy="29575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3937"/>
            <a:ext cx="474241" cy="188565"/>
          </a:xfrm>
          <a:prstGeom prst="roundRect">
            <a:avLst>
              <a:gd name="adj" fmla="val 47365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61144"/>
            <a:ext cx="78261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FASE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588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Análisis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06178"/>
            <a:ext cx="4021634" cy="11014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1344439"/>
            <a:ext cx="368796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17: Registrar y organizar datos recolectados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1797248"/>
            <a:ext cx="368796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Sistematizar y organizar todos los datos obtenidos en la fase de recolección.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Registro de Auditoría (Audit Trail).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48" y="1206178"/>
            <a:ext cx="4021634" cy="11014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21659" y="1344439"/>
            <a:ext cx="36879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18: Codificación de datos cualitativos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21659" y="1603400"/>
            <a:ext cx="368796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Aplicar proceso de codificación a los datos cualitativos para facilitar su análisis.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Esquema de Codificación (Codebook).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16076"/>
            <a:ext cx="4021634" cy="1093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530" y="2554337"/>
            <a:ext cx="36879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19: Construcción de cadena de evidencia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1530" y="2813298"/>
            <a:ext cx="368796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Establecer la relación entre hallazgos, evidencia y conclusiones para garantizar la trazabilidad.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Esquema de cadena.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48" y="2416076"/>
            <a:ext cx="4021634" cy="109358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21659" y="2554337"/>
            <a:ext cx="36879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20: Análisis dentro/entre del caso(s)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21659" y="2813298"/>
            <a:ext cx="368796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Realizar el análisis de los datos tanto al interior de cada caso como entre los casos estudiados.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18161"/>
            <a:ext cx="4021634" cy="11014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1530" y="3756422"/>
            <a:ext cx="368796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21: ¿Hallazgos validados satisfactoriamente?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91530" y="4209231"/>
            <a:ext cx="368796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Verificación de la validez de los hallazgos obtenidos. Si es negativo, se recolectan más datos.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6248" y="3618161"/>
            <a:ext cx="4021634" cy="110140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21659" y="3756422"/>
            <a:ext cx="36879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22: Recolectar más datos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821659" y="4015383"/>
            <a:ext cx="368796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Equipo de Investigación.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524"/>
            <a:ext cx="370136" cy="148010"/>
          </a:xfrm>
          <a:prstGeom prst="roundRect">
            <a:avLst>
              <a:gd name="adj" fmla="val 47412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54534" y="435694"/>
            <a:ext cx="710505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FASE 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132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Reporte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3878"/>
            <a:ext cx="5215458" cy="2955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4018" y="1061665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954018" y="1212949"/>
            <a:ext cx="2698626" cy="14288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8" name="Text 5"/>
          <p:cNvSpPr/>
          <p:nvPr/>
        </p:nvSpPr>
        <p:spPr>
          <a:xfrm>
            <a:off x="5954018" y="1290191"/>
            <a:ext cx="269862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23: Redactar informe del caso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54018" y="1509415"/>
            <a:ext cx="269862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Elaborar el informe final incluyendo hallazgos, análisis y conclusiones.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Documento: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Informe Final del Estudio.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54018" y="2044154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54018" y="2195438"/>
            <a:ext cx="2698626" cy="14288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2" name="Text 9"/>
          <p:cNvSpPr/>
          <p:nvPr/>
        </p:nvSpPr>
        <p:spPr>
          <a:xfrm>
            <a:off x="5954018" y="2272680"/>
            <a:ext cx="269862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24: Revisión por pares académicos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54018" y="2491904"/>
            <a:ext cx="269862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informe es revisado por expertos en el dominio para validar su contenido y calidad.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954018" y="302664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954018" y="3177927"/>
            <a:ext cx="2698626" cy="14288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6" name="Text 13"/>
          <p:cNvSpPr/>
          <p:nvPr/>
        </p:nvSpPr>
        <p:spPr>
          <a:xfrm>
            <a:off x="5954018" y="3255169"/>
            <a:ext cx="269862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25: Incorporar retroalimentación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54018" y="3474393"/>
            <a:ext cx="269862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Incorporar las observaciones y sugerencias de los revisores al documento.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54018" y="3877568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954018" y="4028852"/>
            <a:ext cx="2698626" cy="14288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5954018" y="4106094"/>
            <a:ext cx="269862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Actividad 26: Publicar y diseminar resultados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54018" y="4325317"/>
            <a:ext cx="269862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Publicar los resultados del estudio para su conocimiento y aplicación.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Responsable: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Investigador Principal.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66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Indicadores de Proceso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41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proceso establece cinco indicadores clave para medir el desempeño y la calidad de cada fase del estudio de caso.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58129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90%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Cumplimiento de plazos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Porcentaje de actividades ejecutadas dentro del plazo establecido.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158129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80%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272433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Calidad del protocolo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Protocolo aprobado en primera revisión.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158129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85%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048747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Satisfacción de informantes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Nivel de satisfacción de los participantes del estudio.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84238" y="334074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90%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1884238" y="398569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Calidad del informe final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84238" y="429220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Informe aprobado sin observaciones mayores.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0553" y="334074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15</a:t>
            </a:r>
            <a:endParaRPr lang="en-US" sz="3650" dirty="0"/>
          </a:p>
        </p:txBody>
      </p:sp>
      <p:sp>
        <p:nvSpPr>
          <p:cNvPr id="17" name="Text 15"/>
          <p:cNvSpPr/>
          <p:nvPr/>
        </p:nvSpPr>
        <p:spPr>
          <a:xfrm>
            <a:off x="4660553" y="398569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Tiempo promedio de análisis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0553" y="429220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Tiempo promedio entre recolección y análisis (días).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2026-07-14T05:10:05Z</dcterms:created>
  <dcterms:modified xsi:type="dcterms:W3CDTF">2026-07-14T05:10:05Z</dcterms:modified>
</cp:coreProperties>
</file>