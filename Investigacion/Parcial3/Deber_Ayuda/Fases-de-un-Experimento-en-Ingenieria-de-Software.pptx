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Fases de un Experimento en Ingeniería de Software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Caso de estudio: programación en pareja — Universidad Veracruzana, Campus Coatzacoalcos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3622625" cy="215354"/>
          </a:xfrm>
          <a:prstGeom prst="roundRect">
            <a:avLst>
              <a:gd name="adj" fmla="val 7900"/>
            </a:avLst>
          </a:prstGeom>
          <a:solidFill>
            <a:srgbClr val="ECE6DF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62399"/>
            <a:ext cx="390971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VENTURA USCANGA ET AL., 2025 · REVISTA PERSPECTIVAS 7(1)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99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Tres Fases del Experimento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3647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Todo experimento en Ingeniería de Software se organiza en tres grandes etapas que van desde el diseño inicial hasta el reporte final de resultados.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49575"/>
            <a:ext cx="2717229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877" y="325836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Fase 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3564880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Diseño y Planificación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2549575"/>
            <a:ext cx="2717229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107" y="325836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Fase 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55107" y="3564880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Ejecución y Recolección de Datos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2549575"/>
            <a:ext cx="2717229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336" y="325836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Fase 3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72336" y="3564880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Reporte de Resultados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22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¿Qué es la Programación en Pareja?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0831"/>
            <a:ext cx="4722763" cy="1860500"/>
          </a:xfrm>
          <a:prstGeom prst="roundRect">
            <a:avLst>
              <a:gd name="adj" fmla="val 1143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496119" y="1770831"/>
            <a:ext cx="4722763" cy="816843"/>
          </a:xfrm>
          <a:custGeom>
            <a:avLst/>
            <a:gdLst/>
            <a:ahLst/>
            <a:cxnLst/>
            <a:rect l="l" t="t" r="r" b="b"/>
            <a:pathLst>
              <a:path w="4722763" h="816843">
                <a:moveTo>
                  <a:pt x="17721" y="0"/>
                </a:moveTo>
                <a:lnTo>
                  <a:pt x="4705042" y="0"/>
                </a:lnTo>
                <a:arcTo hR="17721" wR="17721" stAng="16200000" swAng="5400000"/>
                <a:lnTo>
                  <a:pt x="4722763" y="816843"/>
                </a:lnTo>
                <a:lnTo>
                  <a:pt x="0" y="816843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1912590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Conductor (Driver)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219102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Escribe el código directamente en la computadora.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587675"/>
            <a:ext cx="4722763" cy="1043657"/>
          </a:xfrm>
          <a:custGeom>
            <a:avLst/>
            <a:gdLst/>
            <a:ahLst/>
            <a:cxnLst/>
            <a:rect l="l" t="t" r="r" b="b"/>
            <a:pathLst>
              <a:path w="4722763" h="1043657">
                <a:moveTo>
                  <a:pt x="0" y="0"/>
                </a:moveTo>
                <a:lnTo>
                  <a:pt x="4722763" y="0"/>
                </a:lnTo>
                <a:lnTo>
                  <a:pt x="4722763" y="1025936"/>
                </a:lnTo>
                <a:arcTo hR="17721" wR="17721" stAng="0" swAng="5400000"/>
                <a:lnTo>
                  <a:pt x="17721" y="1043657"/>
                </a:lnTo>
                <a:arcTo hR="17721" wR="17721" stAng="5400000" swAng="5400000"/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496119" y="2587675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/>
        </p:spPr>
      </p:sp>
      <p:sp>
        <p:nvSpPr>
          <p:cNvPr id="10" name="Text 7"/>
          <p:cNvSpPr/>
          <p:nvPr/>
        </p:nvSpPr>
        <p:spPr>
          <a:xfrm>
            <a:off x="637877" y="272943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Navegador (Navigator)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7877" y="3035945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Revisa el trabajo, detecta errores de sintaxis, ortografía y decisiones de diseño equivocadas.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79080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Beneficios documentados: mejora la calidad del código, acelera su producción, genera confianza y facilita la transferencia de conocimiento entre compañeros.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02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Objetivo e Hipótesis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65883"/>
            <a:ext cx="4107135" cy="1667321"/>
          </a:xfrm>
          <a:prstGeom prst="roundRect">
            <a:avLst>
              <a:gd name="adj" fmla="val 1275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0764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Objetivo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70857"/>
            <a:ext cx="38236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Averiguar si la programación en pareja mejora el aprendizaje, el rendimiento académico y la calidad del trabajo de los estudiantes de Ingeniería de Software, comparada con programar de forma individual.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0764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Hipótesis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70857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H0: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La diferencia entre medianas (pareja vs. individual) es ≤ 0 — no hay mejora.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H1: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La diferencia entre medianas es &gt; 0 — sí hay mejora al trabajar en pareja.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05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Diseño del Experimento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27088"/>
            <a:ext cx="2622724" cy="2215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98789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Sujetos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294409"/>
            <a:ext cx="22249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 estudiantes de 5.º periodo, materia Paradigmas de Programación (POO), con base sólida en programación previa. Muestra pequeña, por lo que se eligieron pruebas estadísticas apropiadas.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827088"/>
            <a:ext cx="2622724" cy="2215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98789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Variable Independiente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294409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Estrategia aplicada: programación individual vs. programación en pareja.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827088"/>
            <a:ext cx="2622724" cy="22158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98789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Variables Dependientes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294409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Calificación (sobre 100 puntos) y puntaje de calidad del código (sobre 36 puntos).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02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Instrumentación: Las Actividades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085627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Actividad 1 — Individual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9708" y="1395338"/>
            <a:ext cx="26528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Construir una aplicación para controlar un registro de vehículos.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9708" y="1889671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Actividad 2 — En Pareja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9708" y="2199382"/>
            <a:ext cx="2652861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Aplicación de complejidad similar para gestionar una biblioteca.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Ambas actividades practicaban los mismos conceptos: clases y relaciones, herencia y encapsulación.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3367757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Rúbricas de Evaluación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9708" y="3677469"/>
            <a:ext cx="2652861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 rúbrica para calificación general (100 pts) y otra para calidad del código (36 pts): dominio de Java, fundamentos POO, claridad, patrones de diseño, documentación, optimización y depuración.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0124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Fase 2: Ejecución y Recolección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25264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114202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02531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Briefing inicial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1449884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 explicó la dinámica conductor/navegador antes de comenzar.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25119" y="1816819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5119" y="2005757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09408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Sesiones en laboratorio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5119" y="2341438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Las dos actividades se realizaron en sesiones distintas, con disposición cómoda para el trabajo en pareja.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2884736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073673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162002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Entrega de evidencias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25119" y="3409355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 terminar, los estudiantes subieron sus proyectos a un repositorio de GitHub.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776290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25119" y="3965228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053557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Validación de datos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25119" y="4300910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 identificaron dos valores atípicos en la actividad individual y se excluyó un resultado en pareja para igualar el número de casos.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Resultados: Estadística Descriptiva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Calificaciones (sobre 100)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Individual: media 74.67, mediana 85, s = 20.57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Pareja: media 88.67, mediana 90, s = 7.90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Calidad del código (sobre 36)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Individual: media 25.87, mediana 30, s = 7.95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Pareja: media 31.60, mediana 33, s = 3.16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412034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ECE6D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617565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57500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desviación estándar bajó notablemente en pareja: resultados más uniformes y menos dispersos.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Prueba de Hipótesis: Wilcoxon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4276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¿Por qué Wilcoxon?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9464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prueba de Shapiro-Wilk (α = 0.05) rechazó la normalidad en los cuatro casos. Se usó la prueba de rangos con signo de Wilcoxon para muestras dependientes, cola superior.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60940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Resultados (α = 0.05)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761283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Calificaciones: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 = 0.001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→ se rechaza H0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Calidad del código: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 = 0.002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→ se rechaza H0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980730"/>
            <a:ext cx="3986733" cy="200174"/>
          </a:xfrm>
          <a:prstGeom prst="roundRect">
            <a:avLst>
              <a:gd name="adj" fmla="val 5478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3072036"/>
            <a:ext cx="91306" cy="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3574" y="3032820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Trabajar en pareja produce medianas estadísticamente más altas en ambas variables.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6234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Conclusiones y Validez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217935"/>
            <a:ext cx="2290465" cy="1950913"/>
          </a:xfrm>
          <a:prstGeom prst="roundRect">
            <a:avLst>
              <a:gd name="adj" fmla="val 1090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359694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Conclusión Principal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1666205"/>
            <a:ext cx="200694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programación en pareja mejora significativamente el rendimiento académico y la calidad del código. Coincide con hallazgos previos en China (2010) y Nueva Zelanda (2013).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217935"/>
            <a:ext cx="2290539" cy="1950913"/>
          </a:xfrm>
          <a:prstGeom prst="roundRect">
            <a:avLst>
              <a:gd name="adj" fmla="val 1090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359694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Validez Interna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1666205"/>
            <a:ext cx="20070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Posibles amenazas: emparejamiento libre, efecto aprendizaje entre actividades y nivel de esfuerzo variable al saberse evaluados.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10607"/>
            <a:ext cx="4722763" cy="1270471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452366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Validez Externa y Conclusión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758878"/>
            <a:ext cx="44392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selección de sujetos fue aceptable dado el contexto. Muestra pequeña limitó el poder estadístico; por eso se usó Wilcoxon en lugar de la prueba T pareada.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2026-07-30T02:23:59Z</dcterms:created>
  <dcterms:modified xsi:type="dcterms:W3CDTF">2026-07-30T02:23:59Z</dcterms:modified>
</cp:coreProperties>
</file>