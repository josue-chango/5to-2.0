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Gelasio"/>
      <p:regular r:id="rId201314"/>
    </p:embeddedFont>
    <p:embeddedFont>
      <p:font typeface="Gelasio SemiBold"/>
      <p:regular r:id="rId201315"/>
    </p:embeddedFont>
    <p:embeddedFont>
      <p:font typeface="Gelasio Bold"/>
      <p:regular r:id="rId201316"/>
    </p:embeddedFont>
    <p:embeddedFont>
      <p:font typeface="Gelasio Medium"/>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DCFBB"/>
          </a:solidFill>
          <a:ln/>
        </p:spPr>
      </p:sp>
      <p:sp>
        <p:nvSpPr>
          <p:cNvPr id="3" name="Shape 1"/>
          <p:cNvSpPr/>
          <p:nvPr/>
        </p:nvSpPr>
        <p:spPr>
          <a:xfrm>
            <a:off x="0" y="0"/>
            <a:ext cx="9144000" cy="5143500"/>
          </a:xfrm>
          <a:prstGeom prst="rect">
            <a:avLst/>
          </a:prstGeom>
          <a:solidFill>
            <a:srgbClr val="F9F6F0"/>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1.png"/><Relationship Id="rId6" Type="http://schemas.openxmlformats.org/officeDocument/2006/relationships/image" Target="../media/image-5-2.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1.png"/><Relationship Id="rId10" Type="http://schemas.openxmlformats.org/officeDocument/2006/relationships/image" Target="../media/image-5-2.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image" Target="../media/image-9-1.png"/><Relationship Id="rId8" Type="http://schemas.openxmlformats.org/officeDocument/2006/relationships/image" Target="../media/image-9-2.sv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239217"/>
            <a:ext cx="4722763" cy="1771948"/>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Detección de Vulnerabilidades en Código Generado por LLMs</a:t>
            </a:r>
            <a:endParaRPr lang="en-US" sz="2750" dirty="0"/>
          </a:p>
        </p:txBody>
      </p:sp>
      <p:sp>
        <p:nvSpPr>
          <p:cNvPr id="4" name="Text 1"/>
          <p:cNvSpPr/>
          <p:nvPr/>
        </p:nvSpPr>
        <p:spPr>
          <a:xfrm>
            <a:off x="496119" y="3223766"/>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Experimento comparativo entre un analizador estático tradicional (SATS) y un LLM detector para identificar inyecciones de comandos (CWE-78) e inyecciones SQL (CWE-89) en código Python.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822871"/>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Contexto del Experimento</a:t>
            </a:r>
            <a:endParaRPr lang="en-US" sz="2750" dirty="0"/>
          </a:p>
        </p:txBody>
      </p:sp>
      <p:sp>
        <p:nvSpPr>
          <p:cNvPr id="4" name="Text 1"/>
          <p:cNvSpPr/>
          <p:nvPr/>
        </p:nvSpPr>
        <p:spPr>
          <a:xfrm>
            <a:off x="3925119" y="1478459"/>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El experimento evalúa dos enfoques de detección de vulnerabilidades en código generado por modelos de lenguaje de gran escala (LLMs), siguiendo las tres fases estándar de la ingeniería de software:</a:t>
            </a:r>
            <a:endParaRPr lang="en-US" sz="1100" dirty="0"/>
          </a:p>
        </p:txBody>
      </p:sp>
      <p:sp>
        <p:nvSpPr>
          <p:cNvPr id="5" name="Shape 2"/>
          <p:cNvSpPr/>
          <p:nvPr/>
        </p:nvSpPr>
        <p:spPr>
          <a:xfrm>
            <a:off x="3925119" y="2318370"/>
            <a:ext cx="2290465" cy="1043657"/>
          </a:xfrm>
          <a:prstGeom prst="roundRect">
            <a:avLst>
              <a:gd name="adj" fmla="val 2038"/>
            </a:avLst>
          </a:prstGeom>
          <a:solidFill>
            <a:srgbClr val="EEE8DD"/>
          </a:solidFill>
          <a:ln/>
        </p:spPr>
      </p:sp>
      <p:sp>
        <p:nvSpPr>
          <p:cNvPr id="6" name="Text 3"/>
          <p:cNvSpPr/>
          <p:nvPr/>
        </p:nvSpPr>
        <p:spPr>
          <a:xfrm>
            <a:off x="4066877" y="2460129"/>
            <a:ext cx="2006947"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Fase 1</a:t>
            </a:r>
            <a:endParaRPr lang="en-US" sz="1350" dirty="0"/>
          </a:p>
        </p:txBody>
      </p:sp>
      <p:sp>
        <p:nvSpPr>
          <p:cNvPr id="7" name="Text 4"/>
          <p:cNvSpPr/>
          <p:nvPr/>
        </p:nvSpPr>
        <p:spPr>
          <a:xfrm>
            <a:off x="4066877" y="2766640"/>
            <a:ext cx="2006947"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Diseño y planificación</a:t>
            </a:r>
            <a:endParaRPr lang="en-US" sz="1100" dirty="0"/>
          </a:p>
        </p:txBody>
      </p:sp>
      <p:sp>
        <p:nvSpPr>
          <p:cNvPr id="8" name="Shape 5"/>
          <p:cNvSpPr/>
          <p:nvPr/>
        </p:nvSpPr>
        <p:spPr>
          <a:xfrm>
            <a:off x="6357342" y="2318370"/>
            <a:ext cx="2290539" cy="1043657"/>
          </a:xfrm>
          <a:prstGeom prst="roundRect">
            <a:avLst>
              <a:gd name="adj" fmla="val 2038"/>
            </a:avLst>
          </a:prstGeom>
          <a:solidFill>
            <a:srgbClr val="EEE8DD"/>
          </a:solidFill>
          <a:ln/>
        </p:spPr>
      </p:sp>
      <p:sp>
        <p:nvSpPr>
          <p:cNvPr id="9" name="Text 6"/>
          <p:cNvSpPr/>
          <p:nvPr/>
        </p:nvSpPr>
        <p:spPr>
          <a:xfrm>
            <a:off x="6499101" y="2460129"/>
            <a:ext cx="2007022"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Fase 2</a:t>
            </a:r>
            <a:endParaRPr lang="en-US" sz="1350" dirty="0"/>
          </a:p>
        </p:txBody>
      </p:sp>
      <p:sp>
        <p:nvSpPr>
          <p:cNvPr id="10" name="Text 7"/>
          <p:cNvSpPr/>
          <p:nvPr/>
        </p:nvSpPr>
        <p:spPr>
          <a:xfrm>
            <a:off x="6499101" y="2766640"/>
            <a:ext cx="2007022"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Ejecución y recolección de datos</a:t>
            </a:r>
            <a:endParaRPr lang="en-US" sz="1100" dirty="0"/>
          </a:p>
        </p:txBody>
      </p:sp>
      <p:sp>
        <p:nvSpPr>
          <p:cNvPr id="11" name="Shape 8"/>
          <p:cNvSpPr/>
          <p:nvPr/>
        </p:nvSpPr>
        <p:spPr>
          <a:xfrm>
            <a:off x="3925119" y="3503786"/>
            <a:ext cx="4722763" cy="816843"/>
          </a:xfrm>
          <a:prstGeom prst="roundRect">
            <a:avLst>
              <a:gd name="adj" fmla="val 2603"/>
            </a:avLst>
          </a:prstGeom>
          <a:solidFill>
            <a:srgbClr val="EEE8DD"/>
          </a:solidFill>
          <a:ln/>
        </p:spPr>
      </p:sp>
      <p:sp>
        <p:nvSpPr>
          <p:cNvPr id="12" name="Text 9"/>
          <p:cNvSpPr/>
          <p:nvPr/>
        </p:nvSpPr>
        <p:spPr>
          <a:xfrm>
            <a:off x="4066877" y="3645545"/>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Fase 3</a:t>
            </a:r>
            <a:endParaRPr lang="en-US" sz="1350" dirty="0"/>
          </a:p>
        </p:txBody>
      </p:sp>
      <p:sp>
        <p:nvSpPr>
          <p:cNvPr id="13" name="Text 10"/>
          <p:cNvSpPr/>
          <p:nvPr/>
        </p:nvSpPr>
        <p:spPr>
          <a:xfrm>
            <a:off x="4066877" y="3952056"/>
            <a:ext cx="4439245"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Reporte de resultados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17488"/>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Objetivo</a:t>
            </a:r>
            <a:endParaRPr lang="en-US" sz="2750" dirty="0"/>
          </a:p>
        </p:txBody>
      </p:sp>
      <p:pic>
        <p:nvPicPr>
          <p:cNvPr id="3" name="Image 0" descr="preencoded.png">    </p:cNvPr>
          <p:cNvPicPr>
            <a:picLocks noChangeAspect="1"/>
          </p:cNvPicPr>
          <p:nvPr/>
        </p:nvPicPr>
        <p:blipFill>
          <a:blip r:embed="rId1"/>
          <a:stretch>
            <a:fillRect/>
          </a:stretch>
        </p:blipFill>
        <p:spPr>
          <a:xfrm>
            <a:off x="496119" y="1432545"/>
            <a:ext cx="5177582" cy="2933923"/>
          </a:xfrm>
          <a:prstGeom prst="rect">
            <a:avLst/>
          </a:prstGeom>
        </p:spPr>
      </p:pic>
      <p:sp>
        <p:nvSpPr>
          <p:cNvPr id="4" name="Text 1"/>
          <p:cNvSpPr/>
          <p:nvPr/>
        </p:nvSpPr>
        <p:spPr>
          <a:xfrm>
            <a:off x="6024339" y="1579438"/>
            <a:ext cx="2628230" cy="221456"/>
          </a:xfrm>
          <a:prstGeom prst="rect">
            <a:avLst/>
          </a:prstGeom>
          <a:noFill/>
          <a:ln/>
        </p:spPr>
        <p:txBody>
          <a:bodyPr wrap="none" lIns="0" tIns="0" rIns="0" bIns="0" rtlCol="0" anchor="t"/>
          <a:lstStyle/>
          <a:p>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¿Qué se compara?</a:t>
            </a:r>
            <a:endParaRPr lang="en-US" sz="1350" dirty="0"/>
          </a:p>
        </p:txBody>
      </p:sp>
      <p:sp>
        <p:nvSpPr>
          <p:cNvPr id="5" name="Text 2"/>
          <p:cNvSpPr/>
          <p:nvPr/>
        </p:nvSpPr>
        <p:spPr>
          <a:xfrm>
            <a:off x="6024339" y="1942654"/>
            <a:ext cx="2628230"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La efectividad de un analizador estático tradicional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Semgrep</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 frente a un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LLM detector</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 al identificar instancias de CWE-78 y CWE-89 en fragmentos de código Python generados por otros LLMs.</a:t>
            </a:r>
            <a:endParaRPr lang="en-US" sz="1100" dirty="0"/>
          </a:p>
        </p:txBody>
      </p:sp>
      <p:sp>
        <p:nvSpPr>
          <p:cNvPr id="6" name="Text 3"/>
          <p:cNvSpPr/>
          <p:nvPr/>
        </p:nvSpPr>
        <p:spPr>
          <a:xfrm>
            <a:off x="6024339" y="3218483"/>
            <a:ext cx="2628230" cy="221456"/>
          </a:xfrm>
          <a:prstGeom prst="rect">
            <a:avLst/>
          </a:prstGeom>
          <a:noFill/>
          <a:ln/>
        </p:spPr>
        <p:txBody>
          <a:bodyPr wrap="none" lIns="0" tIns="0" rIns="0" bIns="0" rtlCol="0" anchor="t"/>
          <a:lstStyle/>
          <a:p>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Vulnerabilidades evaluadas</a:t>
            </a:r>
            <a:endParaRPr lang="en-US" sz="1350" dirty="0"/>
          </a:p>
        </p:txBody>
      </p:sp>
      <p:sp>
        <p:nvSpPr>
          <p:cNvPr id="7" name="Text 4"/>
          <p:cNvSpPr/>
          <p:nvPr/>
        </p:nvSpPr>
        <p:spPr>
          <a:xfrm>
            <a:off x="6024339" y="3581698"/>
            <a:ext cx="2628230" cy="730002"/>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b="1" dirty="0">
                <a:solidFill>
                  <a:srgbClr val="746558"/>
                </a:solidFill>
                <a:latin typeface="Gelasio Bold" pitchFamily="34" charset="0"/>
                <a:ea typeface="Gelasio Bold" pitchFamily="34" charset="-122"/>
                <a:cs typeface="Gelasio Bold" pitchFamily="34" charset="-120"/>
              </a:rPr>
              <a:t>CWE-78:</a:t>
            </a:r>
            <a:pPr algn="l" marL="223520" indent="-223520">
              <a:lnSpc>
                <a:spcPct val="133000"/>
              </a:lnSpc>
              <a:buSzPct val="100000"/>
              <a:buChar char="•"/>
            </a:pPr>
            <a:r>
              <a:rPr lang="en-US" sz="1100" dirty="0">
                <a:solidFill>
                  <a:srgbClr val="746558"/>
                </a:solidFill>
                <a:latin typeface="Gelasio" pitchFamily="34" charset="0"/>
                <a:ea typeface="Gelasio" pitchFamily="34" charset="-122"/>
                <a:cs typeface="Gelasio" pitchFamily="34" charset="-120"/>
              </a:rPr>
              <a:t> Inyección de comandos del sistema operativo</a:t>
            </a:r>
            <a:endParaRPr lang="en-US" sz="1100" dirty="0"/>
          </a:p>
          <a:p>
            <a:pPr algn="l" marL="223520" indent="-223520">
              <a:lnSpc>
                <a:spcPct val="133000"/>
              </a:lnSpc>
              <a:buSzPct val="100000"/>
              <a:buChar char="•"/>
            </a:pPr>
            <a:r>
              <a:rPr lang="en-US" sz="1100" b="1" dirty="0">
                <a:solidFill>
                  <a:srgbClr val="746558"/>
                </a:solidFill>
                <a:latin typeface="Gelasio Bold" pitchFamily="34" charset="0"/>
                <a:ea typeface="Gelasio Bold" pitchFamily="34" charset="-122"/>
                <a:cs typeface="Gelasio Bold" pitchFamily="34" charset="-120"/>
              </a:rPr>
              <a:t>CWE-89:</a:t>
            </a:r>
            <a:pPr algn="l" marL="223520" indent="-223520">
              <a:lnSpc>
                <a:spcPct val="133000"/>
              </a:lnSpc>
              <a:buSzPct val="100000"/>
              <a:buChar char="•"/>
            </a:pPr>
            <a:r>
              <a:rPr lang="en-US" sz="1100" dirty="0">
                <a:solidFill>
                  <a:srgbClr val="746558"/>
                </a:solidFill>
                <a:latin typeface="Gelasio" pitchFamily="34" charset="0"/>
                <a:ea typeface="Gelasio" pitchFamily="34" charset="-122"/>
                <a:cs typeface="Gelasio" pitchFamily="34" charset="-120"/>
              </a:rPr>
              <a:t> Inyección SQL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101998"/>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Hipótesis</a:t>
            </a:r>
            <a:endParaRPr lang="en-US" sz="2750" dirty="0"/>
          </a:p>
        </p:txBody>
      </p:sp>
      <p:sp>
        <p:nvSpPr>
          <p:cNvPr id="3" name="Shape 1"/>
          <p:cNvSpPr/>
          <p:nvPr/>
        </p:nvSpPr>
        <p:spPr>
          <a:xfrm>
            <a:off x="394022" y="1757586"/>
            <a:ext cx="4107135" cy="2283916"/>
          </a:xfrm>
          <a:prstGeom prst="roundRect">
            <a:avLst>
              <a:gd name="adj" fmla="val 931"/>
            </a:avLst>
          </a:prstGeom>
          <a:solidFill>
            <a:srgbClr val="D3C5B6"/>
          </a:solidFill>
          <a:ln/>
        </p:spPr>
      </p:sp>
      <p:sp>
        <p:nvSpPr>
          <p:cNvPr id="4" name="Text 2"/>
          <p:cNvSpPr/>
          <p:nvPr/>
        </p:nvSpPr>
        <p:spPr>
          <a:xfrm>
            <a:off x="535781" y="1899345"/>
            <a:ext cx="3823618" cy="221456"/>
          </a:xfrm>
          <a:prstGeom prst="rect">
            <a:avLst/>
          </a:prstGeom>
          <a:noFill/>
          <a:ln/>
        </p:spPr>
        <p:txBody>
          <a:bodyPr wrap="none" lIns="0" tIns="0" rIns="0" bIns="0" rtlCol="0" anchor="t"/>
          <a:lstStyle/>
          <a:p>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H0 — Hipótesis nula</a:t>
            </a:r>
            <a:endParaRPr lang="en-US" sz="1350" dirty="0"/>
          </a:p>
        </p:txBody>
      </p:sp>
      <p:sp>
        <p:nvSpPr>
          <p:cNvPr id="5" name="Text 3"/>
          <p:cNvSpPr/>
          <p:nvPr/>
        </p:nvSpPr>
        <p:spPr>
          <a:xfrm>
            <a:off x="535781" y="2262560"/>
            <a:ext cx="3823618"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00000"/>
                </a:solidFill>
                <a:latin typeface="Gelasio" pitchFamily="34" charset="0"/>
                <a:ea typeface="Gelasio" pitchFamily="34" charset="-122"/>
                <a:cs typeface="Gelasio" pitchFamily="34" charset="-120"/>
              </a:rPr>
              <a:t>No hay diferencia significativa entre el F1-score de Semgrep y el del LLM detector.</a:t>
            </a:r>
            <a:endParaRPr lang="en-US" sz="1100" dirty="0"/>
          </a:p>
        </p:txBody>
      </p:sp>
      <p:sp>
        <p:nvSpPr>
          <p:cNvPr id="6" name="Text 4"/>
          <p:cNvSpPr/>
          <p:nvPr/>
        </p:nvSpPr>
        <p:spPr>
          <a:xfrm>
            <a:off x="4749701" y="1899345"/>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H1 — Hipótesis alternativa</a:t>
            </a:r>
            <a:endParaRPr lang="en-US" sz="1350" dirty="0"/>
          </a:p>
        </p:txBody>
      </p:sp>
      <p:sp>
        <p:nvSpPr>
          <p:cNvPr id="7" name="Text 5"/>
          <p:cNvSpPr/>
          <p:nvPr/>
        </p:nvSpPr>
        <p:spPr>
          <a:xfrm>
            <a:off x="4749701" y="2262560"/>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El F1-score del LLM detector es significativamente distinto (mayor o menor) al de Semgrep.</a:t>
            </a:r>
            <a:endParaRPr lang="en-US" sz="1100" dirty="0"/>
          </a:p>
        </p:txBody>
      </p:sp>
      <p:sp>
        <p:nvSpPr>
          <p:cNvPr id="8" name="Shape 6"/>
          <p:cNvSpPr/>
          <p:nvPr/>
        </p:nvSpPr>
        <p:spPr>
          <a:xfrm>
            <a:off x="4749701" y="2875657"/>
            <a:ext cx="3902943" cy="1006376"/>
          </a:xfrm>
          <a:prstGeom prst="roundRect">
            <a:avLst>
              <a:gd name="adj" fmla="val 2113"/>
            </a:avLst>
          </a:prstGeom>
          <a:solidFill>
            <a:srgbClr val="ECE6DF"/>
          </a:solidFill>
          <a:ln/>
        </p:spPr>
      </p:sp>
      <p:pic>
        <p:nvPicPr>
          <p:cNvPr id="9" name="Image 0" descr="preencoded.png">    </p:cNvPr>
          <p:cNvPicPr>
            <a:picLocks noChangeAspect="1"/>
          </p:cNvPicPr>
          <p:nvPr/>
        </p:nvPicPr>
        <p:blipFill>
          <a:blip r:embed="rId1"/>
          <a:stretch>
            <a:fillRect/>
          </a:stretch>
        </p:blipFill>
        <p:spPr>
          <a:xfrm>
            <a:off x="4891460" y="3081189"/>
            <a:ext cx="177180" cy="141759"/>
          </a:xfrm>
          <a:prstGeom prst="rect">
            <a:avLst/>
          </a:prstGeom>
        </p:spPr>
      </p:pic>
      <p:sp>
        <p:nvSpPr>
          <p:cNvPr id="10" name="Text 7"/>
          <p:cNvSpPr/>
          <p:nvPr/>
        </p:nvSpPr>
        <p:spPr>
          <a:xfrm>
            <a:off x="5210398" y="3038624"/>
            <a:ext cx="3300487"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000000"/>
                </a:solidFill>
                <a:latin typeface="Gelasio" pitchFamily="34" charset="0"/>
                <a:ea typeface="Gelasio" pitchFamily="34" charset="-122"/>
                <a:cs typeface="Gelasio" pitchFamily="34" charset="-120"/>
              </a:rPr>
              <a:t>El experimento buscará determinar cuál herramienta ofrece mejor rendimiento en la detección de estas vulnerabilidades.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1341537"/>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Variables del Experimento</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068041"/>
            <a:ext cx="2622724" cy="1733848"/>
          </a:xfrm>
          <a:prstGeom prst="rect">
            <a:avLst/>
          </a:prstGeom>
        </p:spPr>
      </p:pic>
      <p:pic>
        <p:nvPicPr>
          <p:cNvPr id="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01180" y="2193354"/>
            <a:ext cx="212601" cy="212601"/>
          </a:xfrm>
          <a:prstGeom prst="rect">
            <a:avLst/>
          </a:prstGeom>
        </p:spPr>
      </p:pic>
      <p:sp>
        <p:nvSpPr>
          <p:cNvPr id="5" name="Text 1"/>
          <p:cNvSpPr/>
          <p:nvPr/>
        </p:nvSpPr>
        <p:spPr>
          <a:xfrm>
            <a:off x="656927" y="2654126"/>
            <a:ext cx="2301106"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Variable independiente</a:t>
            </a:r>
            <a:endParaRPr lang="en-US" sz="1350" dirty="0"/>
          </a:p>
        </p:txBody>
      </p:sp>
      <p:sp>
        <p:nvSpPr>
          <p:cNvPr id="6" name="Text 2"/>
          <p:cNvSpPr/>
          <p:nvPr/>
        </p:nvSpPr>
        <p:spPr>
          <a:xfrm>
            <a:off x="656927" y="2960638"/>
            <a:ext cx="2301106"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Herramienta de detección utilizada: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Semgrep</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 o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LLM detector</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a:t>
            </a:r>
            <a:endParaRPr lang="en-US" sz="110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0601" y="2068041"/>
            <a:ext cx="2622724" cy="1733848"/>
          </a:xfrm>
          <a:prstGeom prst="rect">
            <a:avLst/>
          </a:prstGeom>
        </p:spPr>
      </p:pic>
      <p:pic>
        <p:nvPicPr>
          <p:cNvPr id="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65662" y="2193354"/>
            <a:ext cx="212601" cy="212601"/>
          </a:xfrm>
          <a:prstGeom prst="rect">
            <a:avLst/>
          </a:prstGeom>
        </p:spPr>
      </p:pic>
      <p:sp>
        <p:nvSpPr>
          <p:cNvPr id="9" name="Text 3"/>
          <p:cNvSpPr/>
          <p:nvPr/>
        </p:nvSpPr>
        <p:spPr>
          <a:xfrm>
            <a:off x="3421410" y="2654126"/>
            <a:ext cx="2301106"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Variables dependientes</a:t>
            </a:r>
            <a:endParaRPr lang="en-US" sz="1350" dirty="0"/>
          </a:p>
        </p:txBody>
      </p:sp>
      <p:sp>
        <p:nvSpPr>
          <p:cNvPr id="10" name="Text 4"/>
          <p:cNvSpPr/>
          <p:nvPr/>
        </p:nvSpPr>
        <p:spPr>
          <a:xfrm>
            <a:off x="3421410" y="2960638"/>
            <a:ext cx="2301106"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Precisión, recall, F1-score y tasa de falsos positivos.</a:t>
            </a:r>
            <a:endParaRPr lang="en-US" sz="1100" dirty="0"/>
          </a:p>
        </p:txBody>
      </p:sp>
      <p:pic>
        <p:nvPicPr>
          <p:cNvPr id="1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25083" y="2068041"/>
            <a:ext cx="2622724" cy="1733848"/>
          </a:xfrm>
          <a:prstGeom prst="rect">
            <a:avLst/>
          </a:prstGeom>
        </p:spPr>
      </p:pic>
      <p:pic>
        <p:nvPicPr>
          <p:cNvPr id="1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0145" y="2193354"/>
            <a:ext cx="212601" cy="212601"/>
          </a:xfrm>
          <a:prstGeom prst="rect">
            <a:avLst/>
          </a:prstGeom>
        </p:spPr>
      </p:pic>
      <p:sp>
        <p:nvSpPr>
          <p:cNvPr id="13" name="Text 5"/>
          <p:cNvSpPr/>
          <p:nvPr/>
        </p:nvSpPr>
        <p:spPr>
          <a:xfrm>
            <a:off x="6185892" y="2654126"/>
            <a:ext cx="2301106"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Variables de control</a:t>
            </a:r>
            <a:endParaRPr lang="en-US" sz="1350" dirty="0"/>
          </a:p>
        </p:txBody>
      </p:sp>
      <p:sp>
        <p:nvSpPr>
          <p:cNvPr id="14" name="Text 6"/>
          <p:cNvSpPr/>
          <p:nvPr/>
        </p:nvSpPr>
        <p:spPr>
          <a:xfrm>
            <a:off x="6185892" y="2960638"/>
            <a:ext cx="2301106"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Mismo dataset, mismo lenguaje (Python) y mismas categorías CWE (78 y 89).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355899"/>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Muestra e Instrumentos</a:t>
            </a:r>
            <a:endParaRPr lang="en-US" sz="2750" dirty="0"/>
          </a:p>
        </p:txBody>
      </p:sp>
      <p:sp>
        <p:nvSpPr>
          <p:cNvPr id="3" name="Text 1"/>
          <p:cNvSpPr/>
          <p:nvPr/>
        </p:nvSpPr>
        <p:spPr>
          <a:xfrm>
            <a:off x="496119" y="2153245"/>
            <a:ext cx="3902943" cy="230981"/>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 Muestra</a:t>
            </a:r>
            <a:endParaRPr lang="en-US" sz="1350" dirty="0"/>
          </a:p>
        </p:txBody>
      </p:sp>
      <p:sp>
        <p:nvSpPr>
          <p:cNvPr id="4" name="Text 2"/>
          <p:cNvSpPr/>
          <p:nvPr/>
        </p:nvSpPr>
        <p:spPr>
          <a:xfrm>
            <a:off x="496119" y="2525985"/>
            <a:ext cx="3902943" cy="1134070"/>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Entre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100 y 150 fragmentos</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 de código Python generados por LLMs, con tareas que incluyen consultas a bases de datos y ejecución de comandos del sistema. Cada fragmento se etiqueta manualmente como vulnerable o no vulnerable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ground truth</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a:t>
            </a:r>
            <a:endParaRPr lang="en-US" sz="1100" dirty="0"/>
          </a:p>
        </p:txBody>
      </p:sp>
      <p:sp>
        <p:nvSpPr>
          <p:cNvPr id="5" name="Text 3"/>
          <p:cNvSpPr/>
          <p:nvPr/>
        </p:nvSpPr>
        <p:spPr>
          <a:xfrm>
            <a:off x="4749701" y="2153245"/>
            <a:ext cx="3902943" cy="230981"/>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 Instrumentos</a:t>
            </a:r>
            <a:endParaRPr lang="en-US" sz="1350" dirty="0"/>
          </a:p>
        </p:txBody>
      </p:sp>
      <p:sp>
        <p:nvSpPr>
          <p:cNvPr id="6" name="Text 4"/>
          <p:cNvSpPr/>
          <p:nvPr/>
        </p:nvSpPr>
        <p:spPr>
          <a:xfrm>
            <a:off x="4749701" y="2525985"/>
            <a:ext cx="3902943" cy="1006376"/>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b="1" dirty="0">
                <a:solidFill>
                  <a:srgbClr val="746558"/>
                </a:solidFill>
                <a:latin typeface="Gelasio Bold" pitchFamily="34" charset="0"/>
                <a:ea typeface="Gelasio Bold" pitchFamily="34" charset="-122"/>
                <a:cs typeface="Gelasio Bold" pitchFamily="34" charset="-120"/>
              </a:rPr>
              <a:t>Semgrep</a:t>
            </a:r>
            <a:pPr algn="l" marL="223520" indent="-223520">
              <a:lnSpc>
                <a:spcPct val="133000"/>
              </a:lnSpc>
              <a:buSzPct val="100000"/>
              <a:buChar char="•"/>
            </a:pPr>
            <a:r>
              <a:rPr lang="en-US" sz="1100" dirty="0">
                <a:solidFill>
                  <a:srgbClr val="746558"/>
                </a:solidFill>
                <a:latin typeface="Gelasio" pitchFamily="34" charset="0"/>
                <a:ea typeface="Gelasio" pitchFamily="34" charset="-122"/>
                <a:cs typeface="Gelasio" pitchFamily="34" charset="-120"/>
              </a:rPr>
              <a:t> con reglas específicas para CWE-78 y CWE-89</a:t>
            </a:r>
            <a:endParaRPr lang="en-US" sz="1100" dirty="0"/>
          </a:p>
          <a:p>
            <a:pPr algn="l" marL="223520" indent="-223520">
              <a:lnSpc>
                <a:spcPct val="133000"/>
              </a:lnSpc>
              <a:buSzPct val="100000"/>
              <a:buChar char="•"/>
            </a:pPr>
            <a:r>
              <a:rPr lang="en-US" sz="1100" b="1" dirty="0">
                <a:solidFill>
                  <a:srgbClr val="746558"/>
                </a:solidFill>
                <a:latin typeface="Gelasio Bold" pitchFamily="34" charset="0"/>
                <a:ea typeface="Gelasio Bold" pitchFamily="34" charset="-122"/>
                <a:cs typeface="Gelasio Bold" pitchFamily="34" charset="-120"/>
              </a:rPr>
              <a:t>LLM detector</a:t>
            </a:r>
            <a:pPr algn="l" marL="223520" indent="-223520">
              <a:lnSpc>
                <a:spcPct val="133000"/>
              </a:lnSpc>
              <a:buSzPct val="100000"/>
              <a:buChar char="•"/>
            </a:pPr>
            <a:r>
              <a:rPr lang="en-US" sz="1100" dirty="0">
                <a:solidFill>
                  <a:srgbClr val="746558"/>
                </a:solidFill>
                <a:latin typeface="Gelasio" pitchFamily="34" charset="0"/>
                <a:ea typeface="Gelasio" pitchFamily="34" charset="-122"/>
                <a:cs typeface="Gelasio" pitchFamily="34" charset="-120"/>
              </a:rPr>
              <a:t> (Claude-3.5 Sonnet o GPT-4o) con prompt estandarizado</a:t>
            </a:r>
            <a:endParaRPr lang="en-US" sz="1100" dirty="0"/>
          </a:p>
          <a:p>
            <a:pPr algn="l" marL="223520" indent="-223520">
              <a:lnSpc>
                <a:spcPct val="133000"/>
              </a:lnSpc>
              <a:buSzPct val="100000"/>
              <a:buChar char="•"/>
            </a:pPr>
            <a:r>
              <a:rPr lang="en-US" sz="1100" b="1" dirty="0">
                <a:solidFill>
                  <a:srgbClr val="746558"/>
                </a:solidFill>
                <a:latin typeface="Gelasio Bold" pitchFamily="34" charset="0"/>
                <a:ea typeface="Gelasio Bold" pitchFamily="34" charset="-122"/>
                <a:cs typeface="Gelasio Bold" pitchFamily="34" charset="-120"/>
              </a:rPr>
              <a:t>Script Python</a:t>
            </a:r>
            <a:pPr algn="l" marL="223520" indent="-223520">
              <a:lnSpc>
                <a:spcPct val="133000"/>
              </a:lnSpc>
              <a:buSzPct val="100000"/>
              <a:buChar char="•"/>
            </a:pPr>
            <a:r>
              <a:rPr lang="en-US" sz="1100" dirty="0">
                <a:solidFill>
                  <a:srgbClr val="746558"/>
                </a:solidFill>
                <a:latin typeface="Gelasio" pitchFamily="34" charset="0"/>
                <a:ea typeface="Gelasio" pitchFamily="34" charset="-122"/>
                <a:cs typeface="Gelasio" pitchFamily="34" charset="-120"/>
              </a:rPr>
              <a:t> para calcular precisión, recall y F1-score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9901"/>
            <a:ext cx="8151763" cy="269900"/>
          </a:xfrm>
          <a:prstGeom prst="rect">
            <a:avLst/>
          </a:prstGeom>
          <a:noFill/>
          <a:ln/>
        </p:spPr>
        <p:txBody>
          <a:bodyPr wrap="none" lIns="0" tIns="0" rIns="0" bIns="0" rtlCol="0" anchor="t"/>
          <a:lstStyle/>
          <a:p>
            <a:pPr algn="l" indent="0" marL="0">
              <a:lnSpc>
                <a:spcPct val="104000"/>
              </a:lnSpc>
              <a:buNone/>
            </a:pPr>
            <a:r>
              <a:rPr lang="en-US" sz="1700" dirty="0">
                <a:solidFill>
                  <a:srgbClr val="484237"/>
                </a:solidFill>
                <a:latin typeface="Gelasio SemiBold" pitchFamily="34" charset="0"/>
                <a:ea typeface="Gelasio SemiBold" pitchFamily="34" charset="-122"/>
                <a:cs typeface="Gelasio SemiBold" pitchFamily="34" charset="-120"/>
              </a:rPr>
              <a:t>Ejecución y Recolección de Datos</a:t>
            </a:r>
            <a:endParaRPr lang="en-US" sz="1700" dirty="0"/>
          </a:p>
        </p:txBody>
      </p:sp>
      <p:pic>
        <p:nvPicPr>
          <p:cNvPr id="3" name="Image 0" descr="preencoded.png">    </p:cNvPr>
          <p:cNvPicPr>
            <a:picLocks noChangeAspect="1"/>
          </p:cNvPicPr>
          <p:nvPr/>
        </p:nvPicPr>
        <p:blipFill>
          <a:blip r:embed="rId1"/>
          <a:stretch>
            <a:fillRect/>
          </a:stretch>
        </p:blipFill>
        <p:spPr>
          <a:xfrm>
            <a:off x="496119" y="775022"/>
            <a:ext cx="8151763" cy="3575819"/>
          </a:xfrm>
          <a:prstGeom prst="rect">
            <a:avLst/>
          </a:prstGeom>
        </p:spPr>
      </p:pic>
      <p:sp>
        <p:nvSpPr>
          <p:cNvPr id="4" name="Text 1"/>
          <p:cNvSpPr/>
          <p:nvPr/>
        </p:nvSpPr>
        <p:spPr>
          <a:xfrm>
            <a:off x="2966551" y="3100163"/>
            <a:ext cx="1232034" cy="44119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Enviar al LLM</a:t>
            </a:r>
            <a:endParaRPr lang="en-US" sz="1350" dirty="0"/>
          </a:p>
        </p:txBody>
      </p:sp>
      <p:sp>
        <p:nvSpPr>
          <p:cNvPr id="5" name="Text 2"/>
          <p:cNvSpPr/>
          <p:nvPr/>
        </p:nvSpPr>
        <p:spPr>
          <a:xfrm>
            <a:off x="2966551" y="3604104"/>
            <a:ext cx="1232034" cy="425752"/>
          </a:xfrm>
          <a:prstGeom prst="rect">
            <a:avLst/>
          </a:prstGeom>
          <a:noFill/>
          <a:ln/>
        </p:spPr>
        <p:txBody>
          <a:bodyPr wrap="square" lIns="0" tIns="0" rIns="0" bIns="0" rtlCol="0" anchor="t">
            <a:normAutofit/>
          </a:bodyPr>
          <a:lstStyle/>
          <a:p>
            <a:pPr algn="ctr" indent="0" marL="0">
              <a:lnSpc>
                <a:spcPct val="84000"/>
              </a:lnSpc>
              <a:buNone/>
            </a:pPr>
            <a:r>
              <a:rPr lang="en-US" sz="1100" dirty="0">
                <a:solidFill>
                  <a:srgbClr val="746558"/>
                </a:solidFill>
                <a:latin typeface="Gelasio" pitchFamily="34" charset="0"/>
                <a:ea typeface="Gelasio" pitchFamily="34" charset="-122"/>
                <a:cs typeface="Gelasio" pitchFamily="34" charset="-120"/>
              </a:rPr>
              <a:t>Usar prompt estandarizado y guardar respuestas</a:t>
            </a:r>
            <a:endParaRPr lang="en-US" sz="1100" dirty="0"/>
          </a:p>
        </p:txBody>
      </p:sp>
      <p:sp>
        <p:nvSpPr>
          <p:cNvPr id="6" name="Text 3"/>
          <p:cNvSpPr/>
          <p:nvPr/>
        </p:nvSpPr>
        <p:spPr>
          <a:xfrm>
            <a:off x="6880432" y="3100163"/>
            <a:ext cx="1232034" cy="44119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Construir matriz</a:t>
            </a:r>
            <a:endParaRPr lang="en-US" sz="1350" dirty="0"/>
          </a:p>
        </p:txBody>
      </p:sp>
      <p:sp>
        <p:nvSpPr>
          <p:cNvPr id="7" name="Text 4"/>
          <p:cNvSpPr/>
          <p:nvPr/>
        </p:nvSpPr>
        <p:spPr>
          <a:xfrm>
            <a:off x="6880432" y="3604104"/>
            <a:ext cx="1232034" cy="425752"/>
          </a:xfrm>
          <a:prstGeom prst="rect">
            <a:avLst/>
          </a:prstGeom>
          <a:noFill/>
          <a:ln/>
        </p:spPr>
        <p:txBody>
          <a:bodyPr wrap="square" lIns="0" tIns="0" rIns="0" bIns="0" rtlCol="0" anchor="t">
            <a:normAutofit/>
          </a:bodyPr>
          <a:lstStyle/>
          <a:p>
            <a:pPr algn="ctr" indent="0" marL="0">
              <a:lnSpc>
                <a:spcPct val="84000"/>
              </a:lnSpc>
              <a:buNone/>
            </a:pPr>
            <a:r>
              <a:rPr lang="en-US" sz="1100" dirty="0">
                <a:solidFill>
                  <a:srgbClr val="746558"/>
                </a:solidFill>
                <a:latin typeface="Gelasio" pitchFamily="34" charset="0"/>
                <a:ea typeface="Gelasio" pitchFamily="34" charset="-122"/>
                <a:cs typeface="Gelasio" pitchFamily="34" charset="-120"/>
              </a:rPr>
              <a:t>Generar matriz de confusión por herramienta</a:t>
            </a:r>
            <a:endParaRPr lang="en-US" sz="1100" dirty="0"/>
          </a:p>
        </p:txBody>
      </p:sp>
      <p:sp>
        <p:nvSpPr>
          <p:cNvPr id="8" name="Text 5"/>
          <p:cNvSpPr/>
          <p:nvPr/>
        </p:nvSpPr>
        <p:spPr>
          <a:xfrm>
            <a:off x="1052751" y="1096407"/>
            <a:ext cx="1232034" cy="44119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Ejecutar Semgrep</a:t>
            </a:r>
            <a:endParaRPr lang="en-US" sz="1350" dirty="0"/>
          </a:p>
        </p:txBody>
      </p:sp>
      <p:sp>
        <p:nvSpPr>
          <p:cNvPr id="9" name="Text 6"/>
          <p:cNvSpPr/>
          <p:nvPr/>
        </p:nvSpPr>
        <p:spPr>
          <a:xfrm>
            <a:off x="1052751" y="1600349"/>
            <a:ext cx="1232034" cy="567669"/>
          </a:xfrm>
          <a:prstGeom prst="rect">
            <a:avLst/>
          </a:prstGeom>
          <a:noFill/>
          <a:ln/>
        </p:spPr>
        <p:txBody>
          <a:bodyPr wrap="square" lIns="0" tIns="0" rIns="0" bIns="0" rtlCol="0" anchor="t">
            <a:normAutofit/>
          </a:bodyPr>
          <a:lstStyle/>
          <a:p>
            <a:pPr algn="ctr" indent="0" marL="0">
              <a:lnSpc>
                <a:spcPct val="84000"/>
              </a:lnSpc>
              <a:buNone/>
            </a:pPr>
            <a:r>
              <a:rPr lang="en-US" sz="1100" dirty="0">
                <a:solidFill>
                  <a:srgbClr val="746558"/>
                </a:solidFill>
                <a:latin typeface="Gelasio" pitchFamily="34" charset="0"/>
                <a:ea typeface="Gelasio" pitchFamily="34" charset="-122"/>
                <a:cs typeface="Gelasio" pitchFamily="34" charset="-120"/>
              </a:rPr>
              <a:t>Analizar fragmentos y registrar detecciones</a:t>
            </a:r>
            <a:endParaRPr lang="en-US" sz="1100" dirty="0"/>
          </a:p>
        </p:txBody>
      </p:sp>
      <p:sp>
        <p:nvSpPr>
          <p:cNvPr id="10" name="Text 7"/>
          <p:cNvSpPr/>
          <p:nvPr/>
        </p:nvSpPr>
        <p:spPr>
          <a:xfrm>
            <a:off x="4950944" y="1096407"/>
            <a:ext cx="1232034" cy="441194"/>
          </a:xfrm>
          <a:prstGeom prst="rect">
            <a:avLst/>
          </a:prstGeom>
          <a:noFill/>
          <a:ln/>
        </p:spPr>
        <p:txBody>
          <a:bodyPr wrap="square" lIns="0" tIns="0" rIns="0" bIns="0" rtlCol="0" anchor="t">
            <a:normAutofit/>
          </a:bodyPr>
          <a:lstStyle/>
          <a:p>
            <a:pPr algn="ctr" indent="0" marL="0">
              <a:lnSpc>
                <a:spcPct val="104000"/>
              </a:lnSpc>
              <a:buNone/>
            </a:pPr>
            <a:r>
              <a:rPr lang="en-US" sz="1350" dirty="0">
                <a:solidFill>
                  <a:srgbClr val="484237"/>
                </a:solidFill>
                <a:latin typeface="Gelasio SemiBold" pitchFamily="34" charset="0"/>
                <a:ea typeface="Gelasio SemiBold" pitchFamily="34" charset="-122"/>
                <a:cs typeface="Gelasio SemiBold" pitchFamily="34" charset="-120"/>
              </a:rPr>
              <a:t>Contrastar resultados</a:t>
            </a:r>
            <a:endParaRPr lang="en-US" sz="1350" dirty="0"/>
          </a:p>
        </p:txBody>
      </p:sp>
      <p:sp>
        <p:nvSpPr>
          <p:cNvPr id="11" name="Text 8"/>
          <p:cNvSpPr/>
          <p:nvPr/>
        </p:nvSpPr>
        <p:spPr>
          <a:xfrm>
            <a:off x="4950944" y="1600349"/>
            <a:ext cx="1232034" cy="283835"/>
          </a:xfrm>
          <a:prstGeom prst="rect">
            <a:avLst/>
          </a:prstGeom>
          <a:noFill/>
          <a:ln/>
        </p:spPr>
        <p:txBody>
          <a:bodyPr wrap="square" lIns="0" tIns="0" rIns="0" bIns="0" rtlCol="0" anchor="t">
            <a:normAutofit/>
          </a:bodyPr>
          <a:lstStyle/>
          <a:p>
            <a:pPr algn="ctr" indent="0" marL="0">
              <a:lnSpc>
                <a:spcPct val="84000"/>
              </a:lnSpc>
              <a:buNone/>
            </a:pPr>
            <a:r>
              <a:rPr lang="en-US" sz="1100" dirty="0">
                <a:solidFill>
                  <a:srgbClr val="746558"/>
                </a:solidFill>
                <a:latin typeface="Gelasio" pitchFamily="34" charset="0"/>
                <a:ea typeface="Gelasio" pitchFamily="34" charset="-122"/>
                <a:cs typeface="Gelasio" pitchFamily="34" charset="-120"/>
              </a:rPr>
              <a:t>Comparar salidas con el ground truth</a:t>
            </a:r>
            <a:endParaRPr lang="en-US" sz="1100" dirty="0"/>
          </a:p>
        </p:txBody>
      </p:sp>
      <p:sp>
        <p:nvSpPr>
          <p:cNvPr id="12" name="Text 9"/>
          <p:cNvSpPr/>
          <p:nvPr/>
        </p:nvSpPr>
        <p:spPr>
          <a:xfrm>
            <a:off x="496119" y="4410001"/>
            <a:ext cx="8151763" cy="333524"/>
          </a:xfrm>
          <a:prstGeom prst="rect">
            <a:avLst/>
          </a:prstGeom>
          <a:noFill/>
          <a:ln/>
        </p:spPr>
        <p:txBody>
          <a:bodyPr wrap="square" lIns="0" tIns="0" rIns="0" bIns="0" rtlCol="0" anchor="t">
            <a:normAutofit/>
          </a:bodyPr>
          <a:lstStyle/>
          <a:p>
            <a:pPr algn="l" indent="0" marL="0">
              <a:lnSpc>
                <a:spcPct val="107000"/>
              </a:lnSpc>
              <a:buNone/>
            </a:pPr>
            <a:r>
              <a:rPr lang="en-US" sz="650" dirty="0">
                <a:solidFill>
                  <a:srgbClr val="746558"/>
                </a:solidFill>
                <a:latin typeface="Gelasio" pitchFamily="34" charset="0"/>
                <a:ea typeface="Gelasio" pitchFamily="34" charset="-122"/>
                <a:cs typeface="Gelasio" pitchFamily="34" charset="-120"/>
              </a:rPr>
              <a:t>Se ejecuta Semgrep sobre los 100-150 fragmentos y se registran las vulnerabilidades detectadas. Los mismos fragmentos se envían al LLM detector usando siempre el mismo prompt, registrando sus respuestas. Ambos conjuntos de resultados se contrastan contra el ground truth etiquetado manualmente, construyendo para cada herramienta una matriz de confusión con verdaderos positivos, falsos positivos, falsos negativos y verdaderos negativos.</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45443"/>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Reporte de Resultados Esperado</a:t>
            </a:r>
            <a:endParaRPr lang="en-US" sz="2750" dirty="0"/>
          </a:p>
        </p:txBody>
      </p:sp>
      <p:sp>
        <p:nvSpPr>
          <p:cNvPr id="4" name="Text 1"/>
          <p:cNvSpPr/>
          <p:nvPr/>
        </p:nvSpPr>
        <p:spPr>
          <a:xfrm>
            <a:off x="3925119" y="1544017"/>
            <a:ext cx="4722763" cy="90725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Esta sección presenta resultados </a:t>
            </a:r>
            <a:pPr algn="l" indent="0" marL="0">
              <a:lnSpc>
                <a:spcPct val="133000"/>
              </a:lnSpc>
              <a:buNone/>
            </a:pPr>
            <a:r>
              <a:rPr lang="en-US" sz="1100" b="1" dirty="0">
                <a:solidFill>
                  <a:srgbClr val="746558"/>
                </a:solidFill>
                <a:latin typeface="Gelasio Bold" pitchFamily="34" charset="0"/>
                <a:ea typeface="Gelasio Bold" pitchFamily="34" charset="-122"/>
                <a:cs typeface="Gelasio Bold" pitchFamily="34" charset="-120"/>
              </a:rPr>
              <a:t>hipotéticos</a:t>
            </a:r>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 ya que el experimento aún no se ha ejecutado. Se construirá una matriz de confusión por herramienta para calcular precisión, recall y F1-score, y se mostrarán los hallazgos para determinar cuál de las dos herramientas es más efectiva.</a:t>
            </a:r>
            <a:endParaRPr lang="en-US" sz="1100" dirty="0"/>
          </a:p>
        </p:txBody>
      </p:sp>
      <p:sp>
        <p:nvSpPr>
          <p:cNvPr id="5" name="Shape 2"/>
          <p:cNvSpPr/>
          <p:nvPr/>
        </p:nvSpPr>
        <p:spPr>
          <a:xfrm>
            <a:off x="3925119" y="2610743"/>
            <a:ext cx="4722763" cy="2087314"/>
          </a:xfrm>
          <a:prstGeom prst="roundRect">
            <a:avLst>
              <a:gd name="adj" fmla="val 1019"/>
            </a:avLst>
          </a:prstGeom>
          <a:solidFill>
            <a:srgbClr val="EEE8DD"/>
          </a:solidFill>
          <a:ln/>
        </p:spPr>
      </p:sp>
      <p:sp>
        <p:nvSpPr>
          <p:cNvPr id="6" name="Shape 3"/>
          <p:cNvSpPr/>
          <p:nvPr/>
        </p:nvSpPr>
        <p:spPr>
          <a:xfrm>
            <a:off x="3925119" y="2610743"/>
            <a:ext cx="4722763" cy="1043657"/>
          </a:xfrm>
          <a:prstGeom prst="rect">
            <a:avLst/>
          </a:prstGeom>
          <a:solidFill>
            <a:srgbClr val="EEE8DD"/>
          </a:solidFill>
          <a:ln/>
        </p:spPr>
      </p:sp>
      <p:sp>
        <p:nvSpPr>
          <p:cNvPr id="7" name="Text 4"/>
          <p:cNvSpPr/>
          <p:nvPr/>
        </p:nvSpPr>
        <p:spPr>
          <a:xfrm>
            <a:off x="4066877" y="2752502"/>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Semgrep</a:t>
            </a:r>
            <a:endParaRPr lang="en-US" sz="1350" dirty="0"/>
          </a:p>
        </p:txBody>
      </p:sp>
      <p:sp>
        <p:nvSpPr>
          <p:cNvPr id="8" name="Text 5"/>
          <p:cNvSpPr/>
          <p:nvPr/>
        </p:nvSpPr>
        <p:spPr>
          <a:xfrm>
            <a:off x="4066877" y="3059013"/>
            <a:ext cx="443924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Analizador estático tradicional con reglas específicas para CWE-78 y CWE-89</a:t>
            </a:r>
            <a:endParaRPr lang="en-US" sz="1100" dirty="0"/>
          </a:p>
        </p:txBody>
      </p:sp>
      <p:sp>
        <p:nvSpPr>
          <p:cNvPr id="9" name="Shape 6"/>
          <p:cNvSpPr/>
          <p:nvPr/>
        </p:nvSpPr>
        <p:spPr>
          <a:xfrm>
            <a:off x="3925119" y="3654400"/>
            <a:ext cx="4722763" cy="1043657"/>
          </a:xfrm>
          <a:prstGeom prst="rect">
            <a:avLst/>
          </a:prstGeom>
          <a:solidFill>
            <a:srgbClr val="EEE8DD"/>
          </a:solidFill>
          <a:ln/>
        </p:spPr>
      </p:sp>
      <p:sp>
        <p:nvSpPr>
          <p:cNvPr id="10" name="Shape 7"/>
          <p:cNvSpPr/>
          <p:nvPr/>
        </p:nvSpPr>
        <p:spPr>
          <a:xfrm>
            <a:off x="3925119" y="3654400"/>
            <a:ext cx="4722763" cy="19050"/>
          </a:xfrm>
          <a:prstGeom prst="roundRect">
            <a:avLst>
              <a:gd name="adj" fmla="val 111628"/>
            </a:avLst>
          </a:prstGeom>
          <a:solidFill>
            <a:srgbClr val="D4CEC3"/>
          </a:solidFill>
          <a:ln/>
        </p:spPr>
      </p:sp>
      <p:sp>
        <p:nvSpPr>
          <p:cNvPr id="11" name="Text 8"/>
          <p:cNvSpPr/>
          <p:nvPr/>
        </p:nvSpPr>
        <p:spPr>
          <a:xfrm>
            <a:off x="4066877" y="3796159"/>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LLM Detector</a:t>
            </a:r>
            <a:endParaRPr lang="en-US" sz="1350" dirty="0"/>
          </a:p>
        </p:txBody>
      </p:sp>
      <p:sp>
        <p:nvSpPr>
          <p:cNvPr id="12" name="Text 9"/>
          <p:cNvSpPr/>
          <p:nvPr/>
        </p:nvSpPr>
        <p:spPr>
          <a:xfrm>
            <a:off x="4066877" y="4102671"/>
            <a:ext cx="4439245"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Modelo de lenguaje (Claude-3.5 Sonnet o GPT-4o) con prompt estandarizado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30656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Limitaciones Esperadas</a:t>
            </a:r>
            <a:endParaRPr lang="en-US" sz="27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50" y="2037457"/>
            <a:ext cx="212601" cy="212601"/>
          </a:xfrm>
          <a:prstGeom prst="rect">
            <a:avLst/>
          </a:prstGeom>
        </p:spPr>
      </p:pic>
      <p:sp>
        <p:nvSpPr>
          <p:cNvPr id="4" name="Text 1"/>
          <p:cNvSpPr/>
          <p:nvPr/>
        </p:nvSpPr>
        <p:spPr>
          <a:xfrm>
            <a:off x="956816" y="2033067"/>
            <a:ext cx="3526557"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Tamaño de muestra reducido</a:t>
            </a:r>
            <a:endParaRPr lang="en-US" sz="1350" dirty="0"/>
          </a:p>
        </p:txBody>
      </p:sp>
      <p:sp>
        <p:nvSpPr>
          <p:cNvPr id="5" name="Text 2"/>
          <p:cNvSpPr/>
          <p:nvPr/>
        </p:nvSpPr>
        <p:spPr>
          <a:xfrm>
            <a:off x="956816" y="2339578"/>
            <a:ext cx="35265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100-150 fragmentos limitan la generalización a otros lenguajes o tipos de vulnerabilidad.</a:t>
            </a:r>
            <a:endParaRPr lang="en-US" sz="11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13684" y="2037457"/>
            <a:ext cx="212601" cy="212601"/>
          </a:xfrm>
          <a:prstGeom prst="rect">
            <a:avLst/>
          </a:prstGeom>
        </p:spPr>
      </p:pic>
      <p:sp>
        <p:nvSpPr>
          <p:cNvPr id="7" name="Text 3"/>
          <p:cNvSpPr/>
          <p:nvPr/>
        </p:nvSpPr>
        <p:spPr>
          <a:xfrm>
            <a:off x="5121250" y="2033067"/>
            <a:ext cx="3526631"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Sesgo en el etiquetado</a:t>
            </a:r>
            <a:endParaRPr lang="en-US" sz="1350" dirty="0"/>
          </a:p>
        </p:txBody>
      </p:sp>
      <p:sp>
        <p:nvSpPr>
          <p:cNvPr id="8" name="Text 4"/>
          <p:cNvSpPr/>
          <p:nvPr/>
        </p:nvSpPr>
        <p:spPr>
          <a:xfrm>
            <a:off x="5121250" y="2339578"/>
            <a:ext cx="35266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El ground truth manual puede introducir sesgo, especialmente en fragmentos ambiguos.</a:t>
            </a:r>
            <a:endParaRPr lang="en-US" sz="11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9250" y="3081114"/>
            <a:ext cx="212601" cy="212601"/>
          </a:xfrm>
          <a:prstGeom prst="rect">
            <a:avLst/>
          </a:prstGeom>
        </p:spPr>
      </p:pic>
      <p:sp>
        <p:nvSpPr>
          <p:cNvPr id="10" name="Text 5"/>
          <p:cNvSpPr/>
          <p:nvPr/>
        </p:nvSpPr>
        <p:spPr>
          <a:xfrm>
            <a:off x="956816" y="3076724"/>
            <a:ext cx="3526557"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No determinismo del LLM</a:t>
            </a:r>
            <a:endParaRPr lang="en-US" sz="1350" dirty="0"/>
          </a:p>
        </p:txBody>
      </p:sp>
      <p:sp>
        <p:nvSpPr>
          <p:cNvPr id="11" name="Text 6"/>
          <p:cNvSpPr/>
          <p:nvPr/>
        </p:nvSpPr>
        <p:spPr>
          <a:xfrm>
            <a:off x="956816" y="3383235"/>
            <a:ext cx="3526557"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Los resultados del LLM detector pueden variar entre ejecuciones, incluso con el mismo prompt.</a:t>
            </a:r>
            <a:endParaRPr lang="en-US" sz="11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13684" y="3081114"/>
            <a:ext cx="212601" cy="212601"/>
          </a:xfrm>
          <a:prstGeom prst="rect">
            <a:avLst/>
          </a:prstGeom>
        </p:spPr>
      </p:pic>
      <p:sp>
        <p:nvSpPr>
          <p:cNvPr id="13" name="Text 7"/>
          <p:cNvSpPr/>
          <p:nvPr/>
        </p:nvSpPr>
        <p:spPr>
          <a:xfrm>
            <a:off x="5121250" y="3076724"/>
            <a:ext cx="3526631"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Alcance limitado a Python</a:t>
            </a:r>
            <a:endParaRPr lang="en-US" sz="1350" dirty="0"/>
          </a:p>
        </p:txBody>
      </p:sp>
      <p:sp>
        <p:nvSpPr>
          <p:cNvPr id="14" name="Text 8"/>
          <p:cNvSpPr/>
          <p:nvPr/>
        </p:nvSpPr>
        <p:spPr>
          <a:xfrm>
            <a:off x="5121250" y="3383235"/>
            <a:ext cx="3526631"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Los hallazgos no serían necesariamente generalizables a otros lenguajes de programación.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397594"/>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484237"/>
                </a:solidFill>
                <a:latin typeface="Gelasio SemiBold" pitchFamily="34" charset="0"/>
                <a:ea typeface="Gelasio SemiBold" pitchFamily="34" charset="-122"/>
                <a:cs typeface="Gelasio SemiBold" pitchFamily="34" charset="-120"/>
              </a:rPr>
              <a:t>Resumen del Experimento</a:t>
            </a:r>
            <a:endParaRPr lang="en-US" sz="2750" dirty="0"/>
          </a:p>
        </p:txBody>
      </p:sp>
      <p:sp>
        <p:nvSpPr>
          <p:cNvPr id="4" name="Shape 1"/>
          <p:cNvSpPr/>
          <p:nvPr/>
        </p:nvSpPr>
        <p:spPr>
          <a:xfrm>
            <a:off x="3925119" y="1053182"/>
            <a:ext cx="4722763" cy="816843"/>
          </a:xfrm>
          <a:prstGeom prst="roundRect">
            <a:avLst>
              <a:gd name="adj" fmla="val 2603"/>
            </a:avLst>
          </a:prstGeom>
          <a:solidFill>
            <a:srgbClr val="EEE8DD"/>
          </a:solidFill>
          <a:ln/>
        </p:spPr>
      </p:sp>
      <p:sp>
        <p:nvSpPr>
          <p:cNvPr id="5" name="Text 2"/>
          <p:cNvSpPr/>
          <p:nvPr/>
        </p:nvSpPr>
        <p:spPr>
          <a:xfrm>
            <a:off x="4066877" y="1194941"/>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Objetivo</a:t>
            </a:r>
            <a:endParaRPr lang="en-US" sz="1350" dirty="0"/>
          </a:p>
        </p:txBody>
      </p:sp>
      <p:sp>
        <p:nvSpPr>
          <p:cNvPr id="6" name="Text 3"/>
          <p:cNvSpPr/>
          <p:nvPr/>
        </p:nvSpPr>
        <p:spPr>
          <a:xfrm>
            <a:off x="4066877" y="1501453"/>
            <a:ext cx="4439245"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Comparar Semgrep vs. LLM detector en CWE-78 y CWE-89</a:t>
            </a:r>
            <a:endParaRPr lang="en-US" sz="1100" dirty="0"/>
          </a:p>
        </p:txBody>
      </p:sp>
      <p:sp>
        <p:nvSpPr>
          <p:cNvPr id="7" name="Shape 4"/>
          <p:cNvSpPr/>
          <p:nvPr/>
        </p:nvSpPr>
        <p:spPr>
          <a:xfrm>
            <a:off x="3925119" y="2011784"/>
            <a:ext cx="4722763" cy="816843"/>
          </a:xfrm>
          <a:prstGeom prst="roundRect">
            <a:avLst>
              <a:gd name="adj" fmla="val 2603"/>
            </a:avLst>
          </a:prstGeom>
          <a:solidFill>
            <a:srgbClr val="EEE8DD"/>
          </a:solidFill>
          <a:ln/>
        </p:spPr>
      </p:sp>
      <p:sp>
        <p:nvSpPr>
          <p:cNvPr id="8" name="Text 5"/>
          <p:cNvSpPr/>
          <p:nvPr/>
        </p:nvSpPr>
        <p:spPr>
          <a:xfrm>
            <a:off x="4066877" y="2153543"/>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Muestra</a:t>
            </a:r>
            <a:endParaRPr lang="en-US" sz="1350" dirty="0"/>
          </a:p>
        </p:txBody>
      </p:sp>
      <p:sp>
        <p:nvSpPr>
          <p:cNvPr id="9" name="Text 6"/>
          <p:cNvSpPr/>
          <p:nvPr/>
        </p:nvSpPr>
        <p:spPr>
          <a:xfrm>
            <a:off x="4066877" y="2460054"/>
            <a:ext cx="4439245"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100-150 fragmentos Python con ground truth manual</a:t>
            </a:r>
            <a:endParaRPr lang="en-US" sz="1100" dirty="0"/>
          </a:p>
        </p:txBody>
      </p:sp>
      <p:sp>
        <p:nvSpPr>
          <p:cNvPr id="10" name="Shape 7"/>
          <p:cNvSpPr/>
          <p:nvPr/>
        </p:nvSpPr>
        <p:spPr>
          <a:xfrm>
            <a:off x="3925119" y="2970386"/>
            <a:ext cx="4722763" cy="816843"/>
          </a:xfrm>
          <a:prstGeom prst="roundRect">
            <a:avLst>
              <a:gd name="adj" fmla="val 2603"/>
            </a:avLst>
          </a:prstGeom>
          <a:solidFill>
            <a:srgbClr val="EEE8DD"/>
          </a:solidFill>
          <a:ln/>
        </p:spPr>
      </p:sp>
      <p:sp>
        <p:nvSpPr>
          <p:cNvPr id="11" name="Text 8"/>
          <p:cNvSpPr/>
          <p:nvPr/>
        </p:nvSpPr>
        <p:spPr>
          <a:xfrm>
            <a:off x="4066877" y="3112145"/>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Métricas</a:t>
            </a:r>
            <a:endParaRPr lang="en-US" sz="1350" dirty="0"/>
          </a:p>
        </p:txBody>
      </p:sp>
      <p:sp>
        <p:nvSpPr>
          <p:cNvPr id="12" name="Text 9"/>
          <p:cNvSpPr/>
          <p:nvPr/>
        </p:nvSpPr>
        <p:spPr>
          <a:xfrm>
            <a:off x="4066877" y="3418656"/>
            <a:ext cx="4439245"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Precisión, recall, F1-score y tasa de falsos positivos</a:t>
            </a:r>
            <a:endParaRPr lang="en-US" sz="1100" dirty="0"/>
          </a:p>
        </p:txBody>
      </p:sp>
      <p:sp>
        <p:nvSpPr>
          <p:cNvPr id="13" name="Shape 10"/>
          <p:cNvSpPr/>
          <p:nvPr/>
        </p:nvSpPr>
        <p:spPr>
          <a:xfrm>
            <a:off x="3925119" y="3928988"/>
            <a:ext cx="4722763" cy="816843"/>
          </a:xfrm>
          <a:prstGeom prst="roundRect">
            <a:avLst>
              <a:gd name="adj" fmla="val 2603"/>
            </a:avLst>
          </a:prstGeom>
          <a:solidFill>
            <a:srgbClr val="EEE8DD"/>
          </a:solidFill>
          <a:ln/>
        </p:spPr>
      </p:sp>
      <p:sp>
        <p:nvSpPr>
          <p:cNvPr id="14" name="Text 11"/>
          <p:cNvSpPr/>
          <p:nvPr/>
        </p:nvSpPr>
        <p:spPr>
          <a:xfrm>
            <a:off x="4066877" y="4070747"/>
            <a:ext cx="4439245" cy="221456"/>
          </a:xfrm>
          <a:prstGeom prst="rect">
            <a:avLst/>
          </a:prstGeom>
          <a:noFill/>
          <a:ln/>
        </p:spPr>
        <p:txBody>
          <a:bodyPr wrap="none" lIns="0" tIns="0" rIns="0" bIns="0" rtlCol="0" anchor="t"/>
          <a:lstStyle/>
          <a:p>
            <a:pPr algn="l" indent="0" marL="0">
              <a:lnSpc>
                <a:spcPct val="104000"/>
              </a:lnSpc>
              <a:buNone/>
            </a:pPr>
            <a:r>
              <a:rPr lang="en-US" sz="1350" dirty="0">
                <a:solidFill>
                  <a:srgbClr val="746558"/>
                </a:solidFill>
                <a:latin typeface="Gelasio SemiBold" pitchFamily="34" charset="0"/>
                <a:ea typeface="Gelasio SemiBold" pitchFamily="34" charset="-122"/>
                <a:cs typeface="Gelasio SemiBold" pitchFamily="34" charset="-120"/>
              </a:rPr>
              <a:t>Estado</a:t>
            </a:r>
            <a:endParaRPr lang="en-US" sz="1350" dirty="0"/>
          </a:p>
        </p:txBody>
      </p:sp>
      <p:sp>
        <p:nvSpPr>
          <p:cNvPr id="15" name="Text 12"/>
          <p:cNvSpPr/>
          <p:nvPr/>
        </p:nvSpPr>
        <p:spPr>
          <a:xfrm>
            <a:off x="4066877" y="4377258"/>
            <a:ext cx="4439245" cy="226814"/>
          </a:xfrm>
          <a:prstGeom prst="rect">
            <a:avLst/>
          </a:prstGeom>
          <a:noFill/>
          <a:ln/>
        </p:spPr>
        <p:txBody>
          <a:bodyPr wrap="none" lIns="0" tIns="0" rIns="0" bIns="0" rtlCol="0" anchor="t"/>
          <a:lstStyle/>
          <a:p>
            <a:pPr algn="l" indent="0" marL="0">
              <a:lnSpc>
                <a:spcPct val="133000"/>
              </a:lnSpc>
              <a:buNone/>
            </a:pPr>
            <a:r>
              <a:rPr lang="en-US" sz="1100" dirty="0">
                <a:solidFill>
                  <a:srgbClr val="746558"/>
                </a:solidFill>
                <a:latin typeface="Gelasio" pitchFamily="34" charset="0"/>
                <a:ea typeface="Gelasio" pitchFamily="34" charset="-122"/>
                <a:cs typeface="Gelasio" pitchFamily="34" charset="-120"/>
              </a:rPr>
              <a:t>Resultados hipotéticos — experimento no ejecutado aún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2026-07-27T00:22:51Z</dcterms:created>
  <dcterms:modified xsi:type="dcterms:W3CDTF">2026-07-27T00:22:51Z</dcterms:modified>
</cp:coreProperties>
</file>