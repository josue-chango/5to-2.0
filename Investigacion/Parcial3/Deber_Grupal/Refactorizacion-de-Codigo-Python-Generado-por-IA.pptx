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lasio" panose="020B0604020202020204" charset="0"/>
      <p:regular r:id="rId13"/>
    </p:embeddedFont>
    <p:embeddedFont>
      <p:font typeface="Gelasio Bold" panose="020B0604020202020204" charset="0"/>
      <p:regular r:id="rId14"/>
    </p:embeddedFont>
    <p:embeddedFont>
      <p:font typeface="Gelasio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44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Refactorización de Código Python Generado por IA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Estudio comparativo entre refactorización manual y asistida por sistemas de IA orientados a seguridad, midiendo la reducción de vulnerabilidades en proyectos Python de complejidad media.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667321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81174" y="3475806"/>
            <a:ext cx="195441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INVESTIGACIÓN EMPÍRICA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234282" y="3433316"/>
            <a:ext cx="161061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D3C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319338" y="3475806"/>
            <a:ext cx="18977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· IA · SEGURIDAD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3177"/>
            <a:ext cx="1161380" cy="191839"/>
          </a:xfrm>
          <a:prstGeom prst="roundRect">
            <a:avLst>
              <a:gd name="adj" fmla="val 7898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71872" y="571054"/>
            <a:ext cx="14670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1 · DEFINICIÓN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69962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Objetivo General (GQM)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1796"/>
            <a:ext cx="5190753" cy="29197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9708" y="1445568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9708" y="1755279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Comparar las vulnerabilidades de seguridad que se introducen o mantienen tras refactorizar código Python generado por LLMs, frente a dos modalidades de intervención.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2631504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Perspectiva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9708" y="2941216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Equipo de desarrollo que necesita decidir cómo integrar código generado por IA en un producto real.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99708" y="3626495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99708" y="3936206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Desarrolladores y estudiantes avanzados de ingeniería de software sobre proyectos Python de complejidad media.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1574"/>
            <a:ext cx="1284536" cy="212006"/>
          </a:xfrm>
          <a:prstGeom prst="roundRect">
            <a:avLst>
              <a:gd name="adj" fmla="val 78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79834" y="613395"/>
            <a:ext cx="1574304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1 · DEFINICIÓN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849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Preguntas de Investigación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80617"/>
            <a:ext cx="4007197" cy="14769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5017" y="1578173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4695" y="2055688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4695" y="2356098"/>
            <a:ext cx="36900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¿Cuántas vulnerabilidades por categoría CWE permanecen tras refactorización manual vs. asistida por IA?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0684" y="1480617"/>
            <a:ext cx="4007197" cy="1476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9582" y="1578173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99261" y="2055688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99261" y="2356098"/>
            <a:ext cx="36900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¿Existen diferencias significativas en </a:t>
            </a: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precisión y recall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al identificar y corregir vulnerabilidades entre ambos grupos?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94955"/>
            <a:ext cx="4007197" cy="14769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95017" y="3192512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4695" y="3670027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RQ3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54695" y="3970437"/>
            <a:ext cx="36900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¿Qué tasa de </a:t>
            </a: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falsos positivos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genera cada enfoque durante la validación posterior?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0684" y="3094955"/>
            <a:ext cx="4007197" cy="14769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9582" y="3192512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99261" y="3670027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RQ4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799261" y="3970437"/>
            <a:ext cx="36900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¿El efecto de la IA es uniforme entre categorías, o varía entre </a:t>
            </a: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patrones sintácticos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y fallos lógicos/estructurales?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179"/>
            <a:ext cx="1182514" cy="195114"/>
          </a:xfrm>
          <a:prstGeom prst="roundRect">
            <a:avLst>
              <a:gd name="adj" fmla="val 7902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73137" y="466651"/>
            <a:ext cx="1485677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1 · DEFINICIÓN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980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Métricas e Hipótesis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362224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Métricas principales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1700287"/>
            <a:ext cx="192658" cy="192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3581" y="1693887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Precisión y Recall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calidad de detección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2324919"/>
            <a:ext cx="192658" cy="1926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3581" y="2318519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F1-score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medida balanceada por modelo y modalidad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2949550"/>
            <a:ext cx="192658" cy="192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3581" y="2943151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FPR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proporción de alertas no reales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3574182"/>
            <a:ext cx="192658" cy="1926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3581" y="3567782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Reducción % de código vulnerable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antes y después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4198813"/>
            <a:ext cx="192658" cy="1926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3581" y="4192414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Tasa de reparación estática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problemas SonarQube resueltos sin romper sintaxis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640982" y="1245840"/>
            <a:ext cx="4104159" cy="3469407"/>
          </a:xfrm>
          <a:prstGeom prst="roundRect">
            <a:avLst>
              <a:gd name="adj" fmla="val 55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4769421" y="1362224"/>
            <a:ext cx="38472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Hipótesis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769421" y="1679302"/>
            <a:ext cx="3847281" cy="692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H0:</a:t>
            </a: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 existe diferencia estadísticamente significativa en vulnerabilidades entre refactorización manual y asistida por IA.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H1:</a:t>
            </a: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Sí existe diferencia significativa entre ambas condiciones.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769421" y="2502843"/>
            <a:ext cx="3847281" cy="469627"/>
          </a:xfrm>
          <a:prstGeom prst="roundRect">
            <a:avLst>
              <a:gd name="adj" fmla="val 4104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859" y="2684264"/>
            <a:ext cx="160586" cy="12843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86883" y="2639690"/>
            <a:ext cx="37585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Nivel de significancia: </a:t>
            </a: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α = 0.05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2013"/>
            <a:ext cx="1427336" cy="201885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4004816" y="431825"/>
            <a:ext cx="1725141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2 · PLANIFICACIÓN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643682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Sujetos y Diseño Experimental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925119" y="1661145"/>
            <a:ext cx="4722763" cy="2744242"/>
          </a:xfrm>
          <a:prstGeom prst="roundRect">
            <a:avLst>
              <a:gd name="adj" fmla="val 726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925119" y="1661145"/>
            <a:ext cx="2361381" cy="1784077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058022" y="1794049"/>
            <a:ext cx="209557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Participantes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58022" y="2076450"/>
            <a:ext cx="2095574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20–30 sujetos mixtos: estudiantes avanzados de ingeniería de software + desarrolladores profesionales. Experiencia registrada con escala Likert para balancear grupos.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86500" y="1661145"/>
            <a:ext cx="2361381" cy="1784077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286500" y="1661145"/>
            <a:ext cx="14288" cy="1784077"/>
          </a:xfrm>
          <a:prstGeom prst="roundRect">
            <a:avLst>
              <a:gd name="adj" fmla="val 13953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419404" y="1794049"/>
            <a:ext cx="209557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Grupo Control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19404" y="2076450"/>
            <a:ext cx="2095574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Refactorización manual con editor/IDE y documentación estándar. </a:t>
            </a: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Sin herramientas automáticas de seguridad.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25119" y="3445222"/>
            <a:ext cx="4722763" cy="960165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5119" y="3445222"/>
            <a:ext cx="4722763" cy="14288"/>
          </a:xfrm>
          <a:prstGeom prst="roundRect">
            <a:avLst>
              <a:gd name="adj" fmla="val 139530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058022" y="3578126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Grupo Experimental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58022" y="3860527"/>
            <a:ext cx="44569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Refactorización asistida por IA: ciclo iterativo LLM + SAST (Bandit + Pylint) siguiendo la arquitectura de </a:t>
            </a: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CodeEnhancer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25119" y="4545509"/>
            <a:ext cx="5179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Asignación aleatoria de participantes y muestras para evitar sesgo por dificultad.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60661" cy="107603"/>
          </a:xfrm>
          <a:prstGeom prst="roundRect">
            <a:avLst>
              <a:gd name="adj" fmla="val 7905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113288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2 · PLANIFICACIÓN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Instrumentación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5531" y="991840"/>
            <a:ext cx="3989412" cy="37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Base de referencia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85531" y="1227523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GPT-4o y Claude-3.5 Sonnet con </a:t>
            </a: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prompting Step-by-Step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superan significativamente a GPT-3.5 Turbo en tareas de vulnerabilidades (Bae et al., 2024).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85531" y="191771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Marco de referencia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5531" y="2181310"/>
            <a:ext cx="3989412" cy="39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CodeEnhancer eliminó el </a:t>
            </a: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82,8%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 vulnerabilidades iniciales sobre LLMSecEval usando solo el ciclo LLM+SAST (Lee et al., 2026).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5531" y="2616697"/>
            <a:ext cx="3989412" cy="20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Capa semántica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85531" y="3077095"/>
            <a:ext cx="3989412" cy="54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Verificación basada en AST y grafo de flujo de control (Devign) para detectar fallos lógicos que el análisis sintáctico pasa por alto.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6356"/>
            <a:ext cx="1281336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81174" y="768846"/>
            <a:ext cx="156842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3 · EJECUCIÓN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84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Protocolo de Ejecución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875904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6119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Generar muestras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 GPT-4o y Claude-3.5 Sonnet (Step-by-Step), cubriendo CWE Top 25.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875904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60601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Escaneo SAST inicial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0601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Bandit, Pylint y SonarQube para registrar el perfil de vulnerabilidad de partida.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1875904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25083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Asignación aleatoria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25083" y="229135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Muestras y participantes a condición manual o asistida, balanceando por experiencia.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441725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96119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Refactorización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6119" y="385717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Grupo manual (solo IDE) vs. grupo IA (ciclo SAST+LLM hasta convergencia).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2842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2842" y="3441725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42842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Evaluación final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85717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Escaneo SAST posterior + verificación manual sobre resultados de ambos grupos.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6336"/>
            <a:ext cx="1152302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81174" y="488826"/>
            <a:ext cx="14393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4 · ANÁLISIS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83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Análisis Estadístico y Resultados Esperados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157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Pruebas estadísticas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96666"/>
            <a:ext cx="3902943" cy="548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127" y="2057474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Mann-Whitney U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+ Cliff's Delta (prueba principal)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86856"/>
            <a:ext cx="3902943" cy="5484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3127" y="2747665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Nemenyi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post hoc si se amplía a más configuraciones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77046"/>
            <a:ext cx="3902943" cy="5484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3437855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 pareada + ANOVA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en diseño de medidas repetidas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984947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190479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4147914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Significancia: </a:t>
            </a: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α = 0.05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749701" y="15157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Resultados esperados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749701" y="1878955"/>
            <a:ext cx="3902943" cy="216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 espera que el grupo asistido por IA muestre reducción significativa de vulnerabilidades, suficiente para rechazar H0, basándose en la mejora de CodeEnhancer (de 43,6% a 18,4% de fragmentos vulnerables) y el salto de F1 de GPT-3.5 Turbo (0,6772) a GPT-4o (0,9072).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Efecto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 uniforme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mayor impacto en patrones sintácticos (CWE-89, CWE-78) que en fallos estructurales. Precisión mejorará más que recall (patrón asimétrico coherente con Vudenc y CodeEnhancer).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57200"/>
            <a:ext cx="1436489" cy="205234"/>
          </a:xfrm>
          <a:prstGeom prst="roundRect">
            <a:avLst>
              <a:gd name="adj" fmla="val 7901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77155" y="497681"/>
            <a:ext cx="173161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5 · PRESENTACIÓN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713929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Relevancia para la Industria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496119" y="1329407"/>
            <a:ext cx="2297013" cy="2036266"/>
          </a:xfrm>
          <a:prstGeom prst="roundRect">
            <a:avLst>
              <a:gd name="adj" fmla="val 99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31180" y="1464469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El problema persiste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1180" y="1752823"/>
            <a:ext cx="2026890" cy="126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CodeEnhancer demuestra que GPT-4o produce debilidades del CWE Top 25 por defecto. Ni TensorFlow está libre de vulnerabilidades propias (Filus y Domańska, 2023).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1868" y="1329407"/>
            <a:ext cx="2297013" cy="2036266"/>
          </a:xfrm>
          <a:prstGeom prst="roundRect">
            <a:avLst>
              <a:gd name="adj" fmla="val 99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056930" y="1464469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 causa raíz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56930" y="1752823"/>
            <a:ext cx="2026890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Alromaizan et al. (2026), tras revisar 35 fuentes, concluyen que las vulnerabilidades persisten porque los desarrolladores </a:t>
            </a:r>
            <a:r>
              <a:rPr lang="en-US" sz="10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 integran la seguridad en su práctica diaria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no por falta de herramientas.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6119" y="3494410"/>
            <a:ext cx="4722763" cy="1191816"/>
          </a:xfrm>
          <a:prstGeom prst="roundRect">
            <a:avLst>
              <a:gd name="adj" fmla="val 170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31180" y="3629471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Nuestra propuesta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1180" y="3917826"/>
            <a:ext cx="445264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una herramienta de detección más, sino probar si insertar IA y SAST en una tarea rutinaria —la refactorización— cambia el resultado real para quienes codifican cada día.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02469"/>
            <a:ext cx="1512838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81174" y="744959"/>
            <a:ext cx="179992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FASE 5 · CONCLUSIONES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745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Trabajo Futuro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30114"/>
            <a:ext cx="838200" cy="5179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325291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Réplica a mayor escala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853258"/>
            <a:ext cx="190500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Extender a otros lenguajes y contextos industriales, superando la limitación de estudios actuales a un solo lenguaje y proyectos open source (Lomio et al., 2022).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630114"/>
            <a:ext cx="838200" cy="5179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32529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Múltiples familias de LLM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2853258"/>
            <a:ext cx="190507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Evaluar seis modelos distintos (GPT-4o, Gemini 2.0, Claude 3 Opus, Mistral Large, Grok 3, DeepSeek V3) para determinar si el efecto depende del modelo concreto (Patcas y Motogna, 2026).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630114"/>
            <a:ext cx="838200" cy="5179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32529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Detección semántica profunda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2853258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Incorporar capa basada en grafos (Devign) como refinamiento del sistema asistido por IA frente a fallos estructurales.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630114"/>
            <a:ext cx="838200" cy="5179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32529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Banco de pruebas específico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2853258"/>
            <a:ext cx="190507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Construir un dataset diseñado para evaluar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refactorización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no generación de código, dado que LLMSecEval y SecurityEval no fueron creados para este fin.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926</Words>
  <Application>Microsoft Office PowerPoint</Application>
  <PresentationFormat>Presentación en pantalla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Gelasio</vt:lpstr>
      <vt:lpstr>Arial</vt:lpstr>
      <vt:lpstr>Gelasio Bold</vt:lpstr>
      <vt:lpstr>Gelasio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Josue Chango</cp:lastModifiedBy>
  <cp:revision>2</cp:revision>
  <dcterms:created xsi:type="dcterms:W3CDTF">2026-07-21T03:57:31Z</dcterms:created>
  <dcterms:modified xsi:type="dcterms:W3CDTF">2026-07-21T04:13:29Z</dcterms:modified>
</cp:coreProperties>
</file>