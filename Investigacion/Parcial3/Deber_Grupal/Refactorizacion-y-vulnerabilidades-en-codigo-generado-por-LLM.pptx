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Gelasio"/>
      <p:regular r:id="rId201314"/>
    </p:embeddedFont>
    <p:embeddedFont>
      <p:font typeface="Gelasio SemiBold"/>
      <p:regular r:id="rId201315"/>
    </p:embeddedFont>
    <p:embeddedFont>
      <p:font typeface="Gelasio Bold"/>
      <p:regular r:id="rId201316"/>
    </p:embeddedFont>
    <p:embeddedFont>
      <p:font typeface="Gelasio Medium"/>
      <p:regular r:id="rId2013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DDCFB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9F6F0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image" Target="../media/image-4-2.png"/><Relationship Id="rId5" Type="http://schemas.openxmlformats.org/officeDocument/2006/relationships/image" Target="../media/image-4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svg"/><Relationship Id="rId4" Type="http://schemas.openxmlformats.org/officeDocument/2006/relationships/image" Target="../media/image-5-2.png"/><Relationship Id="rId5" Type="http://schemas.openxmlformats.org/officeDocument/2006/relationships/image" Target="../media/image-5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47341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Refactorización y vulnerabilidades en código generado por LLM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888903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Experimento para comparar refactorización manual frente a refactorización asistida por IA orientada a seguridad, midiendo cuántas vulnerabilidades (CWE Top 25) permanecen o se introducen al llevar código a producción.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90256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Preguntas de investigación</a:t>
            </a:r>
            <a:endParaRPr lang="en-US" sz="2750" dirty="0"/>
          </a:p>
        </p:txBody>
      </p:sp>
      <p:sp>
        <p:nvSpPr>
          <p:cNvPr id="4" name="Shape 1"/>
          <p:cNvSpPr/>
          <p:nvPr/>
        </p:nvSpPr>
        <p:spPr>
          <a:xfrm>
            <a:off x="3925119" y="1558156"/>
            <a:ext cx="2290465" cy="1497285"/>
          </a:xfrm>
          <a:prstGeom prst="roundRect">
            <a:avLst>
              <a:gd name="adj" fmla="val 1420"/>
            </a:avLst>
          </a:prstGeom>
          <a:solidFill>
            <a:srgbClr val="EEE8DD"/>
          </a:solidFill>
          <a:ln/>
        </p:spPr>
      </p:sp>
      <p:sp>
        <p:nvSpPr>
          <p:cNvPr id="5" name="Text 2"/>
          <p:cNvSpPr/>
          <p:nvPr/>
        </p:nvSpPr>
        <p:spPr>
          <a:xfrm>
            <a:off x="4066877" y="1699915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RQ1</a:t>
            </a:r>
            <a:endParaRPr lang="en-US" sz="1350" dirty="0"/>
          </a:p>
        </p:txBody>
      </p:sp>
      <p:sp>
        <p:nvSpPr>
          <p:cNvPr id="6" name="Text 3"/>
          <p:cNvSpPr/>
          <p:nvPr/>
        </p:nvSpPr>
        <p:spPr>
          <a:xfrm>
            <a:off x="4066877" y="2006426"/>
            <a:ext cx="20069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¿Cuántas vulnerabilidades por categoría CWE permanecen tras refactorización manual vs asistida por IA?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6357342" y="1558156"/>
            <a:ext cx="2290539" cy="1497285"/>
          </a:xfrm>
          <a:prstGeom prst="roundRect">
            <a:avLst>
              <a:gd name="adj" fmla="val 1420"/>
            </a:avLst>
          </a:prstGeom>
          <a:solidFill>
            <a:srgbClr val="EEE8DD"/>
          </a:solidFill>
          <a:ln/>
        </p:spPr>
      </p:sp>
      <p:sp>
        <p:nvSpPr>
          <p:cNvPr id="8" name="Text 5"/>
          <p:cNvSpPr/>
          <p:nvPr/>
        </p:nvSpPr>
        <p:spPr>
          <a:xfrm>
            <a:off x="6499101" y="1699915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RQ2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99101" y="2006426"/>
            <a:ext cx="20070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¿Hay diferencias en precisión y recall al identificar y corregir vulnerabilidades entre ambos grupos?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925119" y="3197200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EEE8DD"/>
          </a:solidFill>
          <a:ln/>
        </p:spPr>
      </p:sp>
      <p:sp>
        <p:nvSpPr>
          <p:cNvPr id="11" name="Text 8"/>
          <p:cNvSpPr/>
          <p:nvPr/>
        </p:nvSpPr>
        <p:spPr>
          <a:xfrm>
            <a:off x="4066877" y="3338959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RQ4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066877" y="3645471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¿El efecto de la asistencia de IA varía entre fallos sintácticos (patrón) y fallos lógicos/estructurales?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790328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Objetivo general (GQM)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45916"/>
            <a:ext cx="4722763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Analizar la refactorización de código Python generado por LLMs para comparar la cantidad de vulnerabilidades mantenidas o introducidas entre refactorización manual y asistida por IA con SAST, desde la perspectiva de equipos de desarrollo y estudiantes avanzados.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858515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Hipótesis y nivel de significancia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1957090"/>
            <a:ext cx="2290465" cy="194153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556258" y="2063428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2"/>
          <p:cNvSpPr/>
          <p:nvPr/>
        </p:nvSpPr>
        <p:spPr>
          <a:xfrm>
            <a:off x="656927" y="2524051"/>
            <a:ext cx="19688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H0</a:t>
            </a:r>
            <a:endParaRPr lang="en-US" sz="1350" dirty="0"/>
          </a:p>
        </p:txBody>
      </p:sp>
      <p:sp>
        <p:nvSpPr>
          <p:cNvPr id="7" name="Text 3"/>
          <p:cNvSpPr/>
          <p:nvPr/>
        </p:nvSpPr>
        <p:spPr>
          <a:xfrm>
            <a:off x="656927" y="2830562"/>
            <a:ext cx="1968847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No hay diferencia estadísticamente significativa en vulnerabilidades entre condiciones.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8342" y="1957090"/>
            <a:ext cx="2290539" cy="19415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988482" y="2063428"/>
            <a:ext cx="170111" cy="21260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5"/>
          <p:cNvSpPr/>
          <p:nvPr/>
        </p:nvSpPr>
        <p:spPr>
          <a:xfrm>
            <a:off x="3089151" y="2524051"/>
            <a:ext cx="19689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H1</a:t>
            </a:r>
            <a:endParaRPr lang="en-US" sz="1350" dirty="0"/>
          </a:p>
        </p:txBody>
      </p:sp>
      <p:sp>
        <p:nvSpPr>
          <p:cNvPr id="11" name="Text 6"/>
          <p:cNvSpPr/>
          <p:nvPr/>
        </p:nvSpPr>
        <p:spPr>
          <a:xfrm>
            <a:off x="3089151" y="2830562"/>
            <a:ext cx="19689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Existe una diferencia estadísticamente significativa entre las condiciones.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496119" y="4058096"/>
            <a:ext cx="5179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α = 0.05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60868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Variables del experimento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6119" y="2264271"/>
            <a:ext cx="2290465" cy="127047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7877" y="2406030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Independiente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637877" y="2712541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Modalidad de refactorización: manual vs asistida por IA con SAST.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28342" y="2264271"/>
            <a:ext cx="2290539" cy="127047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070101" y="2406030"/>
            <a:ext cx="200702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Dependiente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3070101" y="2712541"/>
            <a:ext cx="2007022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Número de vulnerabilidades por categoría CWE antes y después de refactorizar.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986805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Diseño experimental e instrumentación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2056135"/>
            <a:ext cx="3902943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Diseño A/B con dos grupos independientes: control (manual) y experimental (IA + SAST). Asignación aleatoria de participantes y muestras, balanceando por experiencia.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96119" y="2864123"/>
            <a:ext cx="3902943" cy="9568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Modelos generadores: GPT-4o y Claude-3.5 Sonnet (prompt Step-by-Step).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Char char="•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Herramientas SAST: Bandit, Pylint; complementos: SonarQube, PMD.</a:t>
            </a:r>
            <a:endParaRPr lang="en-US" sz="11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9701" y="1801862"/>
            <a:ext cx="3902943" cy="21953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740494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Métricas y validación</a:t>
            </a:r>
            <a:endParaRPr lang="en-US" sz="27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9250" y="1400473"/>
            <a:ext cx="212601" cy="21260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56816" y="1396082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Detección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956816" y="170259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Precisión, recall y F1 por generador y modalidad.</a:t>
            </a:r>
            <a:endParaRPr lang="en-US" sz="11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9250" y="2217316"/>
            <a:ext cx="212601" cy="21260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956816" y="2212925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Calidad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956816" y="2519437"/>
            <a:ext cx="426206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Tasa de falsos positivos (FPR) y tasa de éxito de reparación estática (SonarQube).</a:t>
            </a:r>
            <a:endParaRPr lang="en-US" sz="11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9250" y="3260973"/>
            <a:ext cx="212601" cy="212601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56816" y="3256583"/>
            <a:ext cx="426206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746558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Impacto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956816" y="3563094"/>
            <a:ext cx="426206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Reducción porcentual de fragmentos vulnerables antes/después.</a:t>
            </a:r>
            <a:endParaRPr lang="en-US" sz="1100" dirty="0"/>
          </a:p>
        </p:txBody>
      </p:sp>
      <p:sp>
        <p:nvSpPr>
          <p:cNvPr id="13" name="Text 7"/>
          <p:cNvSpPr/>
          <p:nvPr/>
        </p:nvSpPr>
        <p:spPr>
          <a:xfrm>
            <a:off x="496119" y="3949378"/>
            <a:ext cx="4722763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Registro de vulnerabilidad solo si coinciden ≥2 detectores o detector + revisión humana.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21280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Protocolo de ejecución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1868388"/>
            <a:ext cx="4722763" cy="20623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1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Generar muestras con GPT-4o y Claude-3.5 (Step-by-Step).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2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Escaneo SAST inicial (Bandit, Pylint, SonarQube).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3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Asignación aleatoria de participantes y muestras, balanceo por experiencia.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4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Refactorización manual (sin herramientas automáticas).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5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Refactorización asistida: ciclo LLM + feedback SAST hasta convergencia o límite de iteraciones.</a:t>
            </a:r>
            <a:endParaRPr lang="en-US" sz="1100" dirty="0"/>
          </a:p>
          <a:p>
            <a:pPr algn="l" marL="223520" indent="-223520">
              <a:lnSpc>
                <a:spcPct val="133000"/>
              </a:lnSpc>
              <a:buSzPct val="100000"/>
              <a:buFont typeface="+mj-lt"/>
              <a:buAutoNum type="arabicPeriod" startAt="6"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Escaneo SAST posterior y verificación manual antes de calificar.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25119" y="1341983"/>
            <a:ext cx="4722763" cy="8859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Análisis esperado y resultados anticipados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3925119" y="2440558"/>
            <a:ext cx="4722763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Se realizará estadística descriptiva y pruebas no paramétricas (Mann-Whitney U) con Cliff's Delta; ANOVA/Nemenyi o t pareada si procede. Basados en CodeEnhancer y estudios previos, se espera que la condición asistida por IA reduzca significativamente vulnerabilidades totales, con efecto más fuerte en fallos de patrón sintáctico (p.ej. CWE-89, CWE-78) que en fallos lógicos/estructurales.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7491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Discusión, amenazas y trabajo futuro</a:t>
            </a:r>
            <a:endParaRPr lang="en-US" sz="2050" dirty="0"/>
          </a:p>
        </p:txBody>
      </p:sp>
      <p:sp>
        <p:nvSpPr>
          <p:cNvPr id="3" name="Shape 1"/>
          <p:cNvSpPr/>
          <p:nvPr/>
        </p:nvSpPr>
        <p:spPr>
          <a:xfrm>
            <a:off x="419546" y="859334"/>
            <a:ext cx="3258145" cy="3876675"/>
          </a:xfrm>
          <a:prstGeom prst="roundRect">
            <a:avLst>
              <a:gd name="adj" fmla="val 490"/>
            </a:avLst>
          </a:prstGeom>
          <a:solidFill>
            <a:srgbClr val="D3C5B6"/>
          </a:solidFill>
          <a:ln/>
        </p:spPr>
      </p:sp>
      <p:sp>
        <p:nvSpPr>
          <p:cNvPr id="4" name="Text 2"/>
          <p:cNvSpPr/>
          <p:nvPr/>
        </p:nvSpPr>
        <p:spPr>
          <a:xfrm>
            <a:off x="525810" y="2381101"/>
            <a:ext cx="3045619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Riesgos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25810" y="2626891"/>
            <a:ext cx="3045619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Validez interna: diferencia de habilidad mitigada por aleatorización y balanceo. Validez externa: limitación a Python y subconjunto CWE. Constructo: errores de SAST mitigados por doble confirmación.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3865290" y="939031"/>
            <a:ext cx="478728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dirty="0">
                <a:solidFill>
                  <a:srgbClr val="484237"/>
                </a:solidFill>
                <a:latin typeface="Gelasio SemiBold" pitchFamily="34" charset="0"/>
                <a:ea typeface="Gelasio SemiBold" pitchFamily="34" charset="-122"/>
                <a:cs typeface="Gelasio SemiBold" pitchFamily="34" charset="-120"/>
              </a:rPr>
              <a:t>Futuro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865290" y="1184821"/>
            <a:ext cx="4787280" cy="679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Réplicas a mayor escala y otros lenguajes.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Comparar múltiples familias de LLM.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Incorporar detección semántica basada en grafos (Devign).</a:t>
            </a:r>
            <a:endParaRPr lang="en-US" sz="800" dirty="0"/>
          </a:p>
          <a:p>
            <a:pPr algn="l" marL="162560" indent="-162560">
              <a:lnSpc>
                <a:spcPct val="117000"/>
              </a:lnSpc>
              <a:buSzPct val="100000"/>
              <a:buChar char="•"/>
            </a:pPr>
            <a:r>
              <a:rPr lang="en-US" sz="800" dirty="0">
                <a:solidFill>
                  <a:srgbClr val="746558"/>
                </a:solidFill>
                <a:latin typeface="Gelasio" pitchFamily="34" charset="0"/>
                <a:ea typeface="Gelasio" pitchFamily="34" charset="-122"/>
                <a:cs typeface="Gelasio" pitchFamily="34" charset="-120"/>
              </a:rPr>
              <a:t>Crear un banco de pruebas específico para refactorización.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65290" y="1953518"/>
            <a:ext cx="4787280" cy="269282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2026-07-21T11:21:31Z</dcterms:created>
  <dcterms:modified xsi:type="dcterms:W3CDTF">2026-07-21T11:21:31Z</dcterms:modified>
</cp:coreProperties>
</file>