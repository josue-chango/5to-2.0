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 tardes. Esta presentación resume el diseño de un experimento...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62956" y="685800"/>
            <a:ext cx="1463040" cy="14630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80">
                <a:solidFill>
                  <a:srgbClr val="FFFFFF"/>
                </a:solidFill>
              </a:defRPr>
            </a:pPr>
            <a:r>
              <a:t>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 i="0">
                <a:solidFill>
                  <a:srgbClr val="FFFFFF"/>
                </a:solidFill>
                <a:latin typeface="Cambria"/>
              </a:defRPr>
            </a:pPr>
            <a:r>
              <a:t>Vulnerabilidades en la refactorización</a:t>
            </a:r>
            <a:br/>
            <a:r>
              <a:t>de código generado por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43400"/>
            <a:ext cx="94457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1">
                <a:solidFill>
                  <a:srgbClr val="CADCFC"/>
                </a:solidFill>
                <a:latin typeface="Calibri"/>
              </a:defRPr>
            </a:pPr>
            <a:r>
              <a:t>Diseño de un experimento empírico en cinco fases · Protocolo Runeson &amp; Höst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MOTIVACIÓN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El código generado por IA</a:t>
            </a:r>
            <a:br/>
            <a:r>
              <a:t>no sale limpio de fallos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3383280" cy="640080"/>
          </a:xfrm>
          <a:prstGeom prst="roundRect">
            <a:avLst>
              <a:gd name="adj" fmla="val 3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CWE-78 · Inyección de comandos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514600"/>
            <a:ext cx="3108960" cy="640080"/>
          </a:xfrm>
          <a:prstGeom prst="roundRect">
            <a:avLst>
              <a:gd name="adj" fmla="val 3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514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CWE-89 · Inyección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105156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 i="0">
                <a:solidFill>
                  <a:srgbClr val="1E2761"/>
                </a:solidFill>
                <a:latin typeface="Calibri"/>
              </a:defRPr>
            </a:pPr>
            <a:r>
              <a:t>CodeEnhancer documentó que incluso GPT-4o genera, por defecto, debilidades del CWE Top 25 (Lee et al., 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8813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1">
                <a:solidFill>
                  <a:srgbClr val="1E2761"/>
                </a:solidFill>
                <a:latin typeface="Cambria"/>
              </a:defRPr>
            </a:pPr>
            <a:r>
              <a:t>¿Qué ocurre con esas vulnerabilidades cuando un desarrollador humano refactoriza el código?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1 · DEFINICIÓN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Objetivo general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Analizar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148840"/>
            <a:ext cx="7543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1E2761"/>
                </a:solidFill>
                <a:latin typeface="Calibri"/>
              </a:defRPr>
            </a:pPr>
            <a:r>
              <a:t>la refactorización de código Python generado por LLMs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35224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35224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Con el propósito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35224"/>
            <a:ext cx="7543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1E2761"/>
                </a:solidFill>
                <a:latin typeface="Calibri"/>
              </a:defRPr>
            </a:pPr>
            <a:r>
              <a:t>comparar vulnerabilidades introducidas o mantenidas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21608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21608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Respecto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721608"/>
            <a:ext cx="7543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1E2761"/>
                </a:solidFill>
                <a:latin typeface="Calibri"/>
              </a:defRPr>
            </a:pPr>
            <a:r>
              <a:t>refactorización manual vs. asistida por IA orientada a seguridad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0799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07992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Desde la perspectiva 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507992"/>
            <a:ext cx="7543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1E2761"/>
                </a:solidFill>
                <a:latin typeface="Calibri"/>
              </a:defRPr>
            </a:pPr>
            <a:r>
              <a:t>un equipo de desarrollo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94376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94376"/>
            <a:ext cx="2834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En el contexto 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5294376"/>
            <a:ext cx="7543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1E2761"/>
                </a:solidFill>
                <a:latin typeface="Calibri"/>
              </a:defRPr>
            </a:pPr>
            <a:r>
              <a:t>desarrolladores y estudiantes avanzados, proyectos Python de complejidad media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1 · DEFINICIÓN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Preguntas de investigación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0881360" cy="859536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67712"/>
            <a:ext cx="621792" cy="6217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960120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1E2761"/>
                </a:solidFill>
                <a:latin typeface="Calibri"/>
              </a:defRPr>
            </a:pPr>
            <a:r>
              <a:t>Vulnerabilidades por categoría CWE: ¿refactorización manual vs. asistida por IA?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72968"/>
            <a:ext cx="10881360" cy="859536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291840"/>
            <a:ext cx="621792" cy="6217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72968"/>
            <a:ext cx="960120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1E2761"/>
                </a:solidFill>
                <a:latin typeface="Calibri"/>
              </a:defRPr>
            </a:pPr>
            <a:r>
              <a:t>¿Existen diferencias significativas en precisión y recall entre ambos grupos?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97096"/>
            <a:ext cx="10881360" cy="859536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315968"/>
            <a:ext cx="621792" cy="6217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15968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97096"/>
            <a:ext cx="960120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1E2761"/>
                </a:solidFill>
                <a:latin typeface="Calibri"/>
              </a:defRPr>
            </a:pPr>
            <a:r>
              <a:t>¿Qué tasa de falsos positivos genera cada enfoque durante la validación?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21224"/>
            <a:ext cx="10881360" cy="859536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340096"/>
            <a:ext cx="621792" cy="6217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40096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21224"/>
            <a:ext cx="960120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 i="0">
                <a:solidFill>
                  <a:srgbClr val="1E2761"/>
                </a:solidFill>
                <a:latin typeface="Calibri"/>
              </a:defRPr>
            </a:pPr>
            <a:r>
              <a:t>¿El efecto de la IA es uniforme entre tipos de fallo, sintácticos o estructurales?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1 · DEFINICIÓN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Hipótesis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57800" cy="22860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1E2761"/>
                </a:solidFill>
                <a:latin typeface="Cambria"/>
              </a:defRPr>
            </a:pPr>
            <a:r>
              <a:t>H0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709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 i="0">
                <a:solidFill>
                  <a:srgbClr val="44536B"/>
                </a:solidFill>
                <a:latin typeface="Calibri"/>
              </a:defRPr>
            </a:pPr>
            <a:r>
              <a:t>No existe una diferencia estadísticamente significativa en la cantidad de vulnerabilidades entre el código refactorizado manualmente y el refactorizado con asistencia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257800" cy="2286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E63946"/>
                </a:solidFill>
                <a:latin typeface="Cambria"/>
              </a:defRPr>
            </a:pPr>
            <a: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709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 i="0">
                <a:solidFill>
                  <a:srgbClr val="CADCFC"/>
                </a:solidFill>
                <a:latin typeface="Calibri"/>
              </a:defRPr>
            </a:pPr>
            <a:r>
              <a:t>Sí existe una diferencia estadísticamente significativa en la cantidad de vulnerabilidades entre ambas condiciones.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4709160"/>
            <a:ext cx="4572000" cy="685800"/>
          </a:xfrm>
          <a:prstGeom prst="roundRect">
            <a:avLst>
              <a:gd name="adj" fmla="val 3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4709160"/>
            <a:ext cx="4572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Nivel de significancia: α = 0.05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1 · DEFINICIÓN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Qué vamos a medir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57800" cy="402336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E63946"/>
                </a:solidFill>
                <a:latin typeface="Cambria"/>
              </a:defRPr>
            </a:pPr>
            <a:r>
              <a:t>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Independiente: </a:t>
            </a:r>
            <a:r>
              <a:rPr sz="1250" b="0" i="0">
                <a:solidFill>
                  <a:srgbClr val="44536B"/>
                </a:solidFill>
                <a:latin typeface="Calibri"/>
              </a:rPr>
              <a:t>Modalidad de refactorización (manual / asistida por 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Control: </a:t>
            </a:r>
            <a:r>
              <a:rPr sz="1250" b="0" i="0">
                <a:solidFill>
                  <a:srgbClr val="44536B"/>
                </a:solidFill>
                <a:latin typeface="Calibri"/>
              </a:rPr>
              <a:t>Modelo LLM generador; categoría CWE del fragmento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Dependiente: </a:t>
            </a:r>
            <a:r>
              <a:rPr sz="1250" b="0" i="0">
                <a:solidFill>
                  <a:srgbClr val="44536B"/>
                </a:solidFill>
                <a:latin typeface="Calibri"/>
              </a:rPr>
              <a:t>N.º de vulnerabilidades por CWE, antes y después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4709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Dependiente: </a:t>
            </a:r>
            <a:r>
              <a:rPr sz="1250" b="0" i="0">
                <a:solidFill>
                  <a:srgbClr val="44536B"/>
                </a:solidFill>
                <a:latin typeface="Calibri"/>
              </a:rPr>
              <a:t>Precisión, recall, F1-score y FPR de la detección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5257800" cy="40233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E63946"/>
                </a:solidFill>
                <a:latin typeface="Cambria"/>
              </a:defRPr>
            </a:pPr>
            <a:r>
              <a:t>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889503"/>
            <a:ext cx="91440" cy="914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78892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Precisión y recall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3456432"/>
            <a:ext cx="91440" cy="914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355848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4023360"/>
            <a:ext cx="91440" cy="914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922776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Tasa de falsos positivos (FPR)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4590288"/>
            <a:ext cx="91440" cy="914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489704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Reducción % de código vulnerable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5157216"/>
            <a:ext cx="91440" cy="914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5056632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Calibri"/>
              </a:defRPr>
            </a:pPr>
            <a:r>
              <a:t>Tasa de éxito de reparación estática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2 · PLANIFICACIÓN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Diseño experimental: A/B</a:t>
            </a:r>
            <a:br/>
            <a:r>
              <a:t>con dos grupos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5257800" cy="265176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1E2761"/>
                </a:solidFill>
                <a:latin typeface="Cambria"/>
              </a:defRPr>
            </a:pPr>
            <a:r>
              <a:t>Grupo de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E63946"/>
                </a:solidFill>
                <a:latin typeface="Calibri"/>
              </a:defRPr>
            </a:pPr>
            <a:r>
              <a:t>Refactorización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4709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 i="0">
                <a:solidFill>
                  <a:srgbClr val="44536B"/>
                </a:solidFill>
                <a:latin typeface="Calibri"/>
              </a:defRPr>
            </a:pPr>
            <a:r>
              <a:t>Los participantes refactorizan usando únicamente su editor o IDE y la documentación estándar del lenguaje, sin herramientas automáticas de seguridad.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5257800" cy="2651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mbria"/>
              </a:defRPr>
            </a:pPr>
            <a:r>
              <a:t>Grupo experimental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06324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E63946"/>
                </a:solidFill>
                <a:latin typeface="Calibri"/>
              </a:defRPr>
            </a:pPr>
            <a:r>
              <a:t>Refactorización asistida por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20440"/>
            <a:ext cx="4709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 i="0">
                <a:solidFill>
                  <a:srgbClr val="CADCFC"/>
                </a:solidFill>
                <a:latin typeface="Calibri"/>
              </a:defRPr>
            </a:pPr>
            <a:r>
              <a:t>Los participantes refactorizan el mismo conjunto de muestras con un sistema que integra un LLM y herramientas SAST, en el ciclo iterativo de CodeEnhancer.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94960"/>
            <a:ext cx="10881360" cy="68580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Asignación aleatoria de participantes y de muestras de código · Muestra: 20-30 participantes (estudiantes avanzados + profesionales)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2 · PLANIFICACIÓN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Herramientas del experimento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48840"/>
            <a:ext cx="731520" cy="7315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40">
                <a:solidFill>
                  <a:srgbClr val="FFFFFF"/>
                </a:solidFill>
              </a:defRPr>
            </a:pPr>
            <a: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05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1E2761"/>
                </a:solidFill>
                <a:latin typeface="Calibri"/>
              </a:defRPr>
            </a:pPr>
            <a:r>
              <a:t>Generación de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532888"/>
            <a:ext cx="9418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536B"/>
                </a:solidFill>
                <a:latin typeface="Calibri"/>
              </a:defRPr>
            </a:pPr>
            <a:r>
              <a:t>GPT-4o y Claude-3.5 Sonnet, con prompting Step-by-Step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08960"/>
            <a:ext cx="731520" cy="7315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40">
                <a:solidFill>
                  <a:srgbClr val="FFFFFF"/>
                </a:solidFill>
              </a:defRPr>
            </a:pPr>
            <a:r>
              <a:t>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09067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1E2761"/>
                </a:solidFill>
                <a:latin typeface="Calibri"/>
              </a:defRPr>
            </a:pPr>
            <a:r>
              <a:t>Análisis estático (SAST)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93008"/>
            <a:ext cx="9418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536B"/>
                </a:solidFill>
                <a:latin typeface="Calibri"/>
              </a:defRPr>
            </a:pPr>
            <a:r>
              <a:t>Bandit, Pylint, SonarQube y PMD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69080"/>
            <a:ext cx="731520" cy="7315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40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05079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1E2761"/>
                </a:solidFill>
                <a:latin typeface="Calibri"/>
              </a:defRPr>
            </a:pPr>
            <a:r>
              <a:t>Detección estructural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453128"/>
            <a:ext cx="9418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536B"/>
                </a:solidFill>
                <a:latin typeface="Calibri"/>
              </a:defRPr>
            </a:pPr>
            <a:r>
              <a:t>Capa basada en grafos (AST + CFG), en la línea de Devign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29200"/>
            <a:ext cx="731520" cy="73152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40">
                <a:solidFill>
                  <a:srgbClr val="FFFFFF"/>
                </a:solidFill>
              </a:defRPr>
            </a:pPr>
            <a:r>
              <a:t>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0109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 i="0">
                <a:solidFill>
                  <a:srgbClr val="1E2761"/>
                </a:solidFill>
                <a:latin typeface="Calibri"/>
              </a:defRPr>
            </a:pPr>
            <a:r>
              <a:t>Taxonomía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413248"/>
            <a:ext cx="9418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536B"/>
                </a:solidFill>
                <a:latin typeface="Calibri"/>
              </a:defRPr>
            </a:pPr>
            <a:r>
              <a:t>CWE Top 25, cruzado con el mapeo de OWASP Top 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2 · PLANIFICACIÓN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Amenazas a la validez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E63946"/>
                </a:solidFill>
                <a:latin typeface="Cambria"/>
              </a:defRPr>
            </a:pPr>
            <a:r>
              <a:t>Interna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09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1E2761"/>
                </a:solidFill>
                <a:latin typeface="Calibri"/>
              </a:defRPr>
            </a:pPr>
            <a:r>
              <a:t>Diferencias de habilidad entre grupos → asignación aleatoria y balanceo por experiencia.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26771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E63946"/>
                </a:solidFill>
                <a:latin typeface="Cambria"/>
              </a:defRPr>
            </a:pPr>
            <a:r>
              <a:t>Externa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651760"/>
            <a:ext cx="4709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1E2761"/>
                </a:solidFill>
                <a:latin typeface="Calibri"/>
              </a:defRPr>
            </a:pPr>
            <a:r>
              <a:t>Limitado a Python y a un subconjunto de CWE → no se generaliza a otros lenguajes.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E63946"/>
                </a:solidFill>
                <a:latin typeface="Cambria"/>
              </a:defRPr>
            </a:pPr>
            <a:r>
              <a:t>Constructo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709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1E2761"/>
                </a:solidFill>
                <a:latin typeface="Calibri"/>
              </a:defRPr>
            </a:pPr>
            <a:r>
              <a:t>Las SAST también tienen error (RMiner: ~98% precisión, 87% recall) → doble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11480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427939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E63946"/>
                </a:solidFill>
                <a:latin typeface="Cambria"/>
              </a:defRPr>
            </a:pPr>
            <a:r>
              <a:t>Conclusión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663440"/>
            <a:ext cx="4709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 i="0">
                <a:solidFill>
                  <a:srgbClr val="1E2761"/>
                </a:solidFill>
                <a:latin typeface="Calibri"/>
              </a:defRPr>
            </a:pPr>
            <a:r>
              <a:t>Muestra moderada → pruebas no paramétricas en lugar de asumir normalidad.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3 ·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Protocolo de ejecución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257800" cy="1170432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41448"/>
            <a:ext cx="585216" cy="5852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41448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069080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E2761"/>
                </a:solidFill>
                <a:latin typeface="Calibri"/>
              </a:defRPr>
            </a:pPr>
            <a:r>
              <a:t>Generar muestras base con GPT-4o y Claude-3.5 Sonnet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257800" cy="1170432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441448"/>
            <a:ext cx="585216" cy="5852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41448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48840"/>
            <a:ext cx="4069080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E2761"/>
                </a:solidFill>
                <a:latin typeface="Calibri"/>
              </a:defRPr>
            </a:pPr>
            <a:r>
              <a:t>Escaneo SAST inicial (Bandit, Pylint, SonarQube)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56432"/>
            <a:ext cx="5257800" cy="1170432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749039"/>
            <a:ext cx="585216" cy="5852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56432"/>
            <a:ext cx="4069080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E2761"/>
                </a:solidFill>
                <a:latin typeface="Calibri"/>
              </a:defRPr>
            </a:pPr>
            <a:r>
              <a:t>Asignación aleatoria de muestras y participantes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56432"/>
            <a:ext cx="5257800" cy="1170432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749039"/>
            <a:ext cx="585216" cy="5852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456432"/>
            <a:ext cx="4069080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E2761"/>
                </a:solidFill>
                <a:latin typeface="Calibri"/>
              </a:defRPr>
            </a:pPr>
            <a:r>
              <a:t>Grupo manual refactoriza (IDE + documentación estándar)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64024"/>
            <a:ext cx="5257800" cy="1170432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056631"/>
            <a:ext cx="585216" cy="5852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56631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64024"/>
            <a:ext cx="4069080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E2761"/>
                </a:solidFill>
                <a:latin typeface="Calibri"/>
              </a:defRPr>
            </a:pPr>
            <a:r>
              <a:t>Grupo IA refactoriza (ciclo iterativo SAST + LLM)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764024"/>
            <a:ext cx="5257800" cy="1170432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5056631"/>
            <a:ext cx="585216" cy="5852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56631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764024"/>
            <a:ext cx="4069080" cy="1170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1E2761"/>
                </a:solidFill>
                <a:latin typeface="Calibri"/>
              </a:defRPr>
            </a:pPr>
            <a:r>
              <a:t>Escaneo SAST posterior + verificación manual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4 ·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Análisis estadístico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2918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Estadística descriptiva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148840"/>
            <a:ext cx="70866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1E2761"/>
                </a:solidFill>
                <a:latin typeface="Calibri"/>
              </a:defRPr>
            </a:pPr>
            <a:r>
              <a:t>Media, mediana, desviación estándar y cuartiles; gráficos de densidad y de caja.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32918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Prueba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063240"/>
            <a:ext cx="70866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1E2761"/>
                </a:solidFill>
                <a:latin typeface="Calibri"/>
              </a:defRPr>
            </a:pPr>
            <a:r>
              <a:t>Mann-Whitney U, complementada con Cliff's Delta para el tamaño del efecto.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32918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Si se amplía a más grupos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977639"/>
            <a:ext cx="70866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1E2761"/>
                </a:solidFill>
                <a:latin typeface="Calibri"/>
              </a:defRPr>
            </a:pPr>
            <a:r>
              <a:t>Prueba post hoc de Nemenyi.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329184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E63946"/>
                </a:solidFill>
                <a:latin typeface="Calibri"/>
              </a:defRPr>
            </a:pPr>
            <a:r>
              <a:t>Si es de medidas repetidas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892040"/>
            <a:ext cx="70866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 i="0">
                <a:solidFill>
                  <a:srgbClr val="1E2761"/>
                </a:solidFill>
                <a:latin typeface="Calibri"/>
              </a:defRPr>
            </a:pPr>
            <a:r>
              <a:t>Prueba t pareada junto con ANOVA de un factor.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5852160"/>
            <a:ext cx="3657600" cy="548640"/>
          </a:xfrm>
          <a:prstGeom prst="roundRect">
            <a:avLst>
              <a:gd name="adj" fmla="val 3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1104" y="585216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Calibri"/>
              </a:defRPr>
            </a:pPr>
            <a:r>
              <a:t>En todos los casos: α = 0.05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4 ·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Resultados esperados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57800" cy="13716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E63946"/>
                </a:solidFill>
                <a:latin typeface="Cambria"/>
              </a:defRPr>
            </a:pPr>
            <a:r>
              <a:t>43.6% → 18.4%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 i="0">
                <a:solidFill>
                  <a:srgbClr val="CADCFC"/>
                </a:solidFill>
                <a:latin typeface="Calibri"/>
              </a:defRPr>
            </a:pPr>
            <a:r>
              <a:t>Fragmentos de código vulnerables, antes / después (CodeEnhancer)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257800" cy="13716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12848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E63946"/>
                </a:solidFill>
                <a:latin typeface="Cambria"/>
              </a:defRPr>
            </a:pPr>
            <a:r>
              <a:t>0.6772 → 0.9072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880360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 i="0">
                <a:solidFill>
                  <a:srgbClr val="CADCFC"/>
                </a:solidFill>
                <a:latin typeface="Calibri"/>
              </a:defRPr>
            </a:pPr>
            <a:r>
              <a:t>F1-score, GPT-3.5 Turbo → GPT-4o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22776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 i="0">
                <a:solidFill>
                  <a:srgbClr val="44536B"/>
                </a:solidFill>
                <a:latin typeface="Calibri"/>
              </a:defRPr>
            </a:pPr>
            <a:r>
              <a:t>Reducción estadísticamente significativa de vulnerabilidades en el grupo asistido por IA (se espera rechazar H0)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36008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079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 i="0">
                <a:solidFill>
                  <a:srgbClr val="44536B"/>
                </a:solidFill>
                <a:latin typeface="Calibri"/>
              </a:defRPr>
            </a:pPr>
            <a:r>
              <a:t>Efecto más marcado en fallos de patrón sintáctico (CWE-89, CWE-78) que en fallos estructurales (RQ4)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349240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2122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0" i="0">
                <a:solidFill>
                  <a:srgbClr val="44536B"/>
                </a:solidFill>
                <a:latin typeface="Calibri"/>
              </a:defRPr>
            </a:pPr>
            <a:r>
              <a:t>Mejora más clara en precisión que en recall dentro del grupo asistido por 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5 ·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Relevancia para la industria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50591"/>
            <a:ext cx="128016" cy="1280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 i="0">
                <a:solidFill>
                  <a:srgbClr val="1E2761"/>
                </a:solidFill>
                <a:latin typeface="Calibri"/>
              </a:defRPr>
            </a:pPr>
            <a:r>
              <a:t>Las vulnerabilidades en finanzas, salud e infraestructura crítica tienen consecuencias más allá de una falla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27248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383280"/>
            <a:ext cx="128016" cy="1280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27248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 i="0">
                <a:solidFill>
                  <a:srgbClr val="1E2761"/>
                </a:solidFill>
                <a:latin typeface="Calibri"/>
              </a:defRPr>
            </a:pPr>
            <a:r>
              <a:t>Ni siquiera los frameworks especializados, como TensorFlow, están libres de vulnerabilidades propias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59935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315968"/>
            <a:ext cx="128016" cy="1280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59935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 i="0">
                <a:solidFill>
                  <a:srgbClr val="1E2761"/>
                </a:solidFill>
                <a:latin typeface="Calibri"/>
              </a:defRPr>
            </a:pPr>
            <a:r>
              <a:t>La mayoría de las vulnerabilidades persisten porque los desarrolladores no integran la seguridad en su práctica diaria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92623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5248655"/>
            <a:ext cx="128016" cy="128016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92623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 i="0">
                <a:solidFill>
                  <a:srgbClr val="1E2761"/>
                </a:solidFill>
                <a:latin typeface="Calibri"/>
              </a:defRPr>
            </a:pPr>
            <a:r>
              <a:t>El experimento pone a prueba si insertar IA y SAST en una tarea rutinaria, la refactorización, cambia ese resultado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63946"/>
                </a:solidFill>
                <a:latin typeface="Calibri"/>
              </a:defRPr>
            </a:pPr>
            <a:r>
              <a:t>FASE 5 ·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1E2761"/>
                </a:solidFill>
                <a:latin typeface="Cambria"/>
              </a:defRPr>
            </a:pPr>
            <a:r>
              <a:t>Trabajo futuro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502920"/>
            <a:ext cx="1188720" cy="11887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40">
                <a:solidFill>
                  <a:srgbClr val="FFFFFF"/>
                </a:solidFill>
              </a:defRPr>
            </a:pPr>
            <a:r>
              <a:t>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Réplica a mayor escala, en otros lenguajes y en contextos industriales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242316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423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10896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Comparar varias familias de LLM (Gemini, Claude Opus, Mistral, Grok, DeepSeek)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6052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761"/>
                </a:solidFill>
                <a:latin typeface="Calibri"/>
              </a:defRPr>
            </a:pPr>
            <a:r>
              <a:t>Profundizar la capa de detección semántica basada en grafos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18288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59" y="4434840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4348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5120640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E2761"/>
                </a:solidFill>
                <a:latin typeface="Calibri"/>
              </a:defRPr>
            </a:pPr>
            <a:r>
              <a:t>Construir un banco de pruebas diseñado para tareas de refactorización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8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01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mbria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1">
                <a:solidFill>
                  <a:srgbClr val="CADCFC"/>
                </a:solidFill>
                <a:latin typeface="Calibri"/>
              </a:defRPr>
            </a:pPr>
            <a:r>
              <a:t>Preguntas y comentarios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