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9.png"/><Relationship Id="rId12" Type="http://schemas.openxmlformats.org/officeDocument/2006/relationships/image" Target="../media/image-3-10.svg"/><Relationship Id="rId13" Type="http://schemas.openxmlformats.org/officeDocument/2006/relationships/image" Target="../media/image-3-9.png"/><Relationship Id="rId14" Type="http://schemas.openxmlformats.org/officeDocument/2006/relationships/image" Target="../media/image-3-10.svg"/><Relationship Id="rId15" Type="http://schemas.openxmlformats.org/officeDocument/2006/relationships/image" Target="../media/image-3-9.png"/><Relationship Id="rId16" Type="http://schemas.openxmlformats.org/officeDocument/2006/relationships/image" Target="../media/image-3-10.sv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image" Target="../media/image-10-1.png"/><Relationship Id="rId14" Type="http://schemas.openxmlformats.org/officeDocument/2006/relationships/image" Target="../media/image-10-2.svg"/><Relationship Id="rId15" Type="http://schemas.openxmlformats.org/officeDocument/2006/relationships/image" Target="../media/image-10-1.png"/><Relationship Id="rId16" Type="http://schemas.openxmlformats.org/officeDocument/2006/relationships/image" Target="../media/image-10-2.sv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2273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Recolección de Datos en Estudios de Caso 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21310"/>
            <a:ext cx="4722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15 · Unidad 3: Estudios de Caso en IS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Ingeniería de Software · ESPE Sangolquí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Ing. Ángel Marcelo Rea Guamán,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039"/>
            <a:ext cx="5580534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Problema de la Fuente Única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91667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Situación real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39180"/>
            <a:ext cx="39083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investigador estudia cómo un equipo adopta DevOps. Solo hace entrevistas al líder técnico.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2104802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puede fallar?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52315"/>
            <a:ext cx="3908375" cy="143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líder cuenta la versión oficial, no la real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ve lo que el equipo hace en la práctica diaria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documentos internos podrían contar una historia diferente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datos de deployment frequency contradicen lo que él afirma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6119" y="4039419"/>
            <a:ext cx="3908375" cy="524396"/>
          </a:xfrm>
          <a:prstGeom prst="roundRect">
            <a:avLst>
              <a:gd name="adj" fmla="val 11000"/>
            </a:avLst>
          </a:prstGeom>
          <a:solidFill>
            <a:srgbClr val="FFB3B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3" y="4248001"/>
            <a:ext cx="171599" cy="1372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2305" y="4193456"/>
            <a:ext cx="378209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Conclusión errónea → Paper inválido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44269" y="1208336"/>
            <a:ext cx="19050" cy="888429"/>
          </a:xfrm>
          <a:prstGeom prst="roundRect">
            <a:avLst>
              <a:gd name="adj" fmla="val 60000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4950247" y="1328068"/>
            <a:ext cx="370239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 fortaleza distintiva de los estudios de caso es la posibilidad de usar múltiples fuentes de evidencia." — Yin, 2014, p. 119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44269" y="2246412"/>
            <a:ext cx="3908375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 de oro de la recolección en estudios de caso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744269" y="2808461"/>
            <a:ext cx="39083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una sola fuente. Siempre al menos dos. Idealmente tres o más — para poder triangular.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44269" y="3374082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 esta clase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744269" y="3721596"/>
            <a:ext cx="39083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4 fuentes, cómo diseñarlas, cómo combinarlas y cuándo parar.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755"/>
            <a:ext cx="4718521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Las 4 Fuentes de Evidencia 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6B72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(Yin, 2014)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96119" y="824805"/>
            <a:ext cx="86089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estudio de caso IS sólido combina fuentes de naturaleza diferente: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96119" y="1009352"/>
            <a:ext cx="4046786" cy="971624"/>
          </a:xfrm>
          <a:prstGeom prst="roundRect">
            <a:avLst>
              <a:gd name="adj" fmla="val 392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1666" y="1104900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601" y="1179835"/>
            <a:ext cx="122560" cy="122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1666" y="1435447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Entrevistas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1666" y="1612255"/>
            <a:ext cx="3855690" cy="27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spcAft>
                <a:spcPts val="250"/>
              </a:spcAft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Percepciones, experiencias, decisiones, significados</a:t>
            </a:r>
            <a:endParaRPr lang="en-US" sz="7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</a:t>
            </a:r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Entrevista a dev senior sobre adopción de CI/CD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601021" y="1009352"/>
            <a:ext cx="4046860" cy="971624"/>
          </a:xfrm>
          <a:prstGeom prst="roundRect">
            <a:avLst>
              <a:gd name="adj" fmla="val 392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96569" y="1104900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1504" y="1179835"/>
            <a:ext cx="122560" cy="1225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6569" y="1435447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Observación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696569" y="1612255"/>
            <a:ext cx="3855765" cy="27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spcAft>
                <a:spcPts val="250"/>
              </a:spcAft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Comportamiento real en contexto (lo que hacen, no lo que dicen)</a:t>
            </a:r>
            <a:endParaRPr lang="en-US" sz="7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</a:t>
            </a:r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Stand-up diario, sesión de code review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96119" y="2039094"/>
            <a:ext cx="4046786" cy="971624"/>
          </a:xfrm>
          <a:prstGeom prst="roundRect">
            <a:avLst>
              <a:gd name="adj" fmla="val 392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1666" y="2134642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601" y="2209577"/>
            <a:ext cx="122560" cy="1225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1666" y="2465189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Documentos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1666" y="2641997"/>
            <a:ext cx="3855690" cy="27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spcAft>
                <a:spcPts val="250"/>
              </a:spcAft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 formales e informales preexistentes</a:t>
            </a:r>
            <a:endParaRPr lang="en-US" sz="7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</a:t>
            </a:r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Tickets de Jira, wikis, postmortems, políticas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4601021" y="2039094"/>
            <a:ext cx="4046860" cy="971624"/>
          </a:xfrm>
          <a:prstGeom prst="roundRect">
            <a:avLst>
              <a:gd name="adj" fmla="val 392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96569" y="2134642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1504" y="2209577"/>
            <a:ext cx="122560" cy="1225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696569" y="2465189"/>
            <a:ext cx="117790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Artefactos / Métricas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4696569" y="2641997"/>
            <a:ext cx="3855765" cy="27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spcAft>
                <a:spcPts val="250"/>
              </a:spcAft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cuantitativa del sistema</a:t>
            </a:r>
            <a:endParaRPr lang="en-US" sz="7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</a:t>
            </a:r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Historial de commits, coverage de tests, deployment frequency</a:t>
            </a:r>
            <a:endParaRPr lang="en-US" sz="700" dirty="0"/>
          </a:p>
        </p:txBody>
      </p:sp>
      <p:sp>
        <p:nvSpPr>
          <p:cNvPr id="24" name="Text 18"/>
          <p:cNvSpPr/>
          <p:nvPr/>
        </p:nvSpPr>
        <p:spPr>
          <a:xfrm>
            <a:off x="496119" y="3097932"/>
            <a:ext cx="183192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Fortalezas y limitaciones</a:t>
            </a:r>
            <a:endParaRPr lang="en-US" sz="8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327053"/>
            <a:ext cx="4046786" cy="4965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4529" y="3427363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Entrevistas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634529" y="3604171"/>
            <a:ext cx="380806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Riqueza cualitativa, pero sesgadas por memoria y rol</a:t>
            </a:r>
            <a:endParaRPr lang="en-US" sz="7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01021" y="3327053"/>
            <a:ext cx="4046860" cy="49656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39432" y="3427363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Observación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4739432" y="3604171"/>
            <a:ext cx="380814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Autenticidad, pero costosa en tiempo y presencia</a:t>
            </a:r>
            <a:endParaRPr lang="en-US" sz="7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3881735"/>
            <a:ext cx="4046786" cy="49656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4529" y="3982045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Documentos</a:t>
            </a:r>
            <a:endParaRPr lang="en-US" sz="850" dirty="0"/>
          </a:p>
        </p:txBody>
      </p:sp>
      <p:sp>
        <p:nvSpPr>
          <p:cNvPr id="33" name="Text 24"/>
          <p:cNvSpPr/>
          <p:nvPr/>
        </p:nvSpPr>
        <p:spPr>
          <a:xfrm>
            <a:off x="634529" y="4158853"/>
            <a:ext cx="3808065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y persistentes, pero pueden ser incompletos o formales</a:t>
            </a:r>
            <a:endParaRPr lang="en-US" sz="7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01021" y="3881735"/>
            <a:ext cx="4046860" cy="49656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739432" y="3982045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Artefactos</a:t>
            </a:r>
            <a:endParaRPr lang="en-US" sz="850" dirty="0"/>
          </a:p>
        </p:txBody>
      </p:sp>
      <p:sp>
        <p:nvSpPr>
          <p:cNvPr id="36" name="Text 26"/>
          <p:cNvSpPr/>
          <p:nvPr/>
        </p:nvSpPr>
        <p:spPr>
          <a:xfrm>
            <a:off x="4739432" y="4158853"/>
            <a:ext cx="380814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Precisos y no reactivos, pero requieren interpretación</a:t>
            </a:r>
            <a:endParaRPr lang="en-US" sz="700" dirty="0"/>
          </a:p>
        </p:txBody>
      </p:sp>
      <p:sp>
        <p:nvSpPr>
          <p:cNvPr id="37" name="Shape 27"/>
          <p:cNvSpPr/>
          <p:nvPr/>
        </p:nvSpPr>
        <p:spPr>
          <a:xfrm>
            <a:off x="496119" y="4443710"/>
            <a:ext cx="8151763" cy="274960"/>
          </a:xfrm>
          <a:prstGeom prst="roundRect">
            <a:avLst>
              <a:gd name="adj" fmla="val 13873"/>
            </a:avLst>
          </a:prstGeom>
          <a:solidFill>
            <a:srgbClr val="DADBF1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6904" y="4558680"/>
            <a:ext cx="113481" cy="9078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91170" y="4524524"/>
            <a:ext cx="8223126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Principio de Runeson &amp; Höst (2009): las fuentes se eligen en el protocolo, no se improvisan durante el trabajo de campo.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788"/>
            <a:ext cx="749811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Entrevistas Semiestructuradas: El Instrumento Central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55328"/>
            <a:ext cx="228428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¿Por qué semiestructurada?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201117"/>
            <a:ext cx="3946178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Estructurada:</a:t>
            </a:r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rígida, no permite profundizar cuando aparece algo inesperado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estructurada:</a:t>
            </a:r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difícil de comparar entre participantes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Semiestructurada:</a:t>
            </a:r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guión orientador + libertad de explorar → balance ideal para 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06466" y="955328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Reglas prácticas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06466" y="1201117"/>
            <a:ext cx="3946178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hacer preguntas de sí/no como preguntas principales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Grabar con consentimiento explícito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Transcribir dentro de las 24h para preservar contexto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60-90 min por sesión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6119" y="2148557"/>
            <a:ext cx="289478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Anatomía de una guía de entrevista IS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434233"/>
            <a:ext cx="2717229" cy="4252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2382" y="2939207"/>
            <a:ext cx="2504703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Bloque 1 — Contexto del participante 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(5 min)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2382" y="3319165"/>
            <a:ext cx="250470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¿Cuál es tu rol en el equipo? ¿Cuánto tiempo llevas en el proyecto?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2434233"/>
            <a:ext cx="2717229" cy="4252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19611" y="2939207"/>
            <a:ext cx="2504703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Bloque 2 — Preguntas principales 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(30-40 min)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19611" y="3319165"/>
            <a:ext cx="250470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Directamente vinculadas a las preguntas de investigación y proposiciones del protocolo.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319611" y="3664595"/>
            <a:ext cx="2504703" cy="948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Abiertas:</a:t>
            </a:r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"¿Puedes describir cómo funciona el proceso de...?"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Profundización:</a:t>
            </a:r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"¿Puedes contarme un ejemplo concreto de eso?"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Contraste:</a:t>
            </a:r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"¿En qué se diferencia ahora de cómo era antes?"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2434233"/>
            <a:ext cx="2717229" cy="4252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6841" y="2939207"/>
            <a:ext cx="2504703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Bloque 3 — Cierre y adicionales 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(5-10 min)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036841" y="3319165"/>
            <a:ext cx="250470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"¿Hay algo relevante sobre este tema que no te haya preguntado?"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749"/>
            <a:ext cx="5161880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Observación y Análisis Documental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994618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Observación en IS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257598"/>
            <a:ext cx="3943499" cy="1266527"/>
          </a:xfrm>
          <a:prstGeom prst="roundRect">
            <a:avLst>
              <a:gd name="adj" fmla="val 359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823" y="1316980"/>
            <a:ext cx="15512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850" y="1316980"/>
            <a:ext cx="15512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 del investigador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31877" y="1316980"/>
            <a:ext cx="15512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Cuándo usar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9823" y="1584275"/>
            <a:ext cx="15512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participante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20850" y="1584275"/>
            <a:ext cx="109403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 sin intervenir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31877" y="1584275"/>
            <a:ext cx="1094036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Reuniones de equipo, demos, stand-ups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9823" y="2158157"/>
            <a:ext cx="15512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Participante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850" y="2158157"/>
            <a:ext cx="15512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integra al equipo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31877" y="2158157"/>
            <a:ext cx="109403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Investigación-acción, etnografía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6119" y="2617589"/>
            <a:ext cx="363527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 que se registra en una sesión de observación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119" y="2870150"/>
            <a:ext cx="3943499" cy="671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Notas de campo:</a:t>
            </a:r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quién dijo qué, qué decisiones se tomaron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Diagramas de interacción:</a:t>
            </a:r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quién habla con quién, flujos de comunicación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Incidentes críticos:</a:t>
            </a:r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momentos donde algo fue diferente a lo esperado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09145" y="994618"/>
            <a:ext cx="215949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documental en 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45" y="1247180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documentos preexisten al investigador — son trazas naturales del fenómeno.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45" y="1647230"/>
            <a:ext cx="3943499" cy="2351187"/>
          </a:xfrm>
          <a:prstGeom prst="roundRect">
            <a:avLst>
              <a:gd name="adj" fmla="val 193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3908" y="1651992"/>
            <a:ext cx="3933974" cy="262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22403" y="1706612"/>
            <a:ext cx="22048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 de documento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91771" y="1706612"/>
            <a:ext cx="22048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Qué revela en 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13908" y="1914525"/>
            <a:ext cx="3933974" cy="4158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22403" y="1969145"/>
            <a:ext cx="174761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Tickets/issues (Jira, GitHub Issues)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91771" y="1969145"/>
            <a:ext cx="174761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Prioridades reales, deuda técnica, conflictos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13908" y="2330351"/>
            <a:ext cx="3933974" cy="4158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22403" y="2384971"/>
            <a:ext cx="22048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Wikis y READMEs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91771" y="2384971"/>
            <a:ext cx="174761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 formalizado vs. conocimiento real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13908" y="2746177"/>
            <a:ext cx="3933974" cy="4158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22403" y="2800796"/>
            <a:ext cx="174761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Postmortems e informes de incidentes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91771" y="2800796"/>
            <a:ext cx="22048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el equipo procesa los fallos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13908" y="3162002"/>
            <a:ext cx="3933974" cy="4158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22403" y="3216622"/>
            <a:ext cx="22048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requests y code reviews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91771" y="3216622"/>
            <a:ext cx="174761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 de calidad, dinámica de revisión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13908" y="3577828"/>
            <a:ext cx="3933974" cy="4158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22403" y="3632448"/>
            <a:ext cx="174761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Políticas y procesos documentados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91771" y="3632448"/>
            <a:ext cx="22048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"se dice" que se hace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45" y="4091880"/>
            <a:ext cx="3943499" cy="510332"/>
          </a:xfrm>
          <a:prstGeom prst="roundRect">
            <a:avLst>
              <a:gd name="adj" fmla="val 8933"/>
            </a:avLst>
          </a:prstGeom>
          <a:solidFill>
            <a:srgbClr val="FCF2B5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7641" y="4246811"/>
            <a:ext cx="135657" cy="108496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061793" y="4193753"/>
            <a:ext cx="348235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documentos oficiales pueden diferir de la práctica real → por eso siempre triangular con observación o entrevistas.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42478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Triangulación: Convertir Datos en Evidencia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Triangulación (Denzin, 1978 / revisión 2024):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usar múltiples perspectivas para confirmar, enriquecer o cuestionar los hallazgos.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807021"/>
            <a:ext cx="4058171" cy="474464"/>
          </a:xfrm>
          <a:prstGeom prst="roundRect">
            <a:avLst>
              <a:gd name="adj" fmla="val 62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723" y="88262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 datos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71723" y="1014561"/>
            <a:ext cx="3906962" cy="19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Recolectar de múltiples fuentes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Entrevistas + commits + observación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4589711" y="807021"/>
            <a:ext cx="4058171" cy="474464"/>
          </a:xfrm>
          <a:prstGeom prst="roundRect">
            <a:avLst>
              <a:gd name="adj" fmla="val 62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5315" y="88262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Metodológica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665315" y="1014561"/>
            <a:ext cx="3906962" cy="19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Combinar métodos cualitativos y cuantitativos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Entrevistas + métricas de deployment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496119" y="1316906"/>
            <a:ext cx="4058171" cy="474464"/>
          </a:xfrm>
          <a:prstGeom prst="roundRect">
            <a:avLst>
              <a:gd name="adj" fmla="val 62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723" y="1392510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 investigadores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71723" y="1524446"/>
            <a:ext cx="3906962" cy="19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Múltiples investigadores codifican los mismos datos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 investigadores codifican transcripciones → comparar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4589711" y="1316906"/>
            <a:ext cx="4058171" cy="474464"/>
          </a:xfrm>
          <a:prstGeom prst="roundRect">
            <a:avLst>
              <a:gd name="adj" fmla="val 62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5315" y="1392510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Teórica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665315" y="1524446"/>
            <a:ext cx="3906962" cy="19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Interpretar los datos desde múltiples marcos teóricos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IS: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Teoría de difusión de innovaciones + teoría de equipos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496119" y="1844501"/>
            <a:ext cx="213471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Proceso de triangulación en la práctica</a:t>
            </a:r>
            <a:endParaRPr lang="en-US" sz="6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2008361"/>
            <a:ext cx="6339185" cy="290125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56361" y="4220660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56456" y="4220660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Divergencia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264702" y="4220660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740341" y="4220660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Recolectar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96119" y="4949428"/>
            <a:ext cx="8151763" cy="196155"/>
          </a:xfrm>
          <a:prstGeom prst="roundRect">
            <a:avLst>
              <a:gd name="adj" fmla="val 15177"/>
            </a:avLst>
          </a:prstGeom>
          <a:solidFill>
            <a:srgbClr val="B6FCB8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1" y="5037981"/>
            <a:ext cx="88553" cy="7084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356" y="5002560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de 2024 (Schlunegger et al., Sage Journals): La triangulación metodológica —combinar fuentes cualitativas y cuantitativas— es el enfoque más sólido para aumentar la credibilidad de los hallazgos en estudios de caso.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2713"/>
            <a:ext cx="5585296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Saturación de Datos: ¿Cuándo Parar?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90613"/>
            <a:ext cx="197145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problema frecuente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357089"/>
            <a:ext cx="43952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¿Cuántas entrevistas son suficientes? ¿Cuántas observaciones necesito?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609427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1875904"/>
            <a:ext cx="43952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un número fijo. El criterio es la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saturación teórica.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96119" y="2139479"/>
            <a:ext cx="14288" cy="648965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665559" y="2220441"/>
            <a:ext cx="3768626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 alcanza la saturación cuando las nuevas fuentes de datos ya no aportan información nueva que cambie o enriquezca el análisis." — Glaser &amp; Strauss, 1967; aplicado en IS por Runeson et al., 2012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119" y="2889721"/>
            <a:ext cx="265717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Señales prácticas de saturación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156198"/>
            <a:ext cx="3938067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últimas 2-3 entrevistas repiten temas ya identificados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nuevos documentos confirman lo existente sin añadir categorías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observaciones muestran los mismos patrones de comportamiento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6119" y="3796233"/>
            <a:ext cx="340645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 estudios de caso IS con acceso limitado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4062710"/>
            <a:ext cx="393806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saturación es un ideal; en la práctica, el acceso al caso define el límite. Lo importante es documentar explícitamente cuántos datos se recolectaron y por qué se detuvo la recolección.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14577" y="1090613"/>
            <a:ext cx="37428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Mínimos razonables en IS 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(Runeson et al., 2012)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4577" y="1368326"/>
            <a:ext cx="1924050" cy="117031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08811" y="1453009"/>
            <a:ext cx="135508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41825" y="182016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Entrevistas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1825" y="2086645"/>
            <a:ext cx="1669554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6-12 entrevistas para un caso único con múltiples roles</a:t>
            </a:r>
            <a:endParaRPr lang="en-US" sz="8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8594" y="1368326"/>
            <a:ext cx="1924050" cy="117031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22828" y="1453009"/>
            <a:ext cx="135508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855842" y="182016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Observación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855842" y="2086645"/>
            <a:ext cx="1669554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menos 3-5 sesiones representativas</a:t>
            </a:r>
            <a:endParaRPr lang="en-US" sz="8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4577" y="2628602"/>
            <a:ext cx="3938067" cy="11703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15782" y="2713286"/>
            <a:ext cx="135508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841825" y="308044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841825" y="3346921"/>
            <a:ext cx="368357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de documentos de al menos 2 períodos de tiempo diferentes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652209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Member Checking: Validando con los Participantes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65510"/>
            <a:ext cx="2240459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el member checking?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084734"/>
            <a:ext cx="395704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Devolver los hallazgos preliminares a los participantes del caso para que validen, corrijan o complementen la interpretación del investigador.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414835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qué es crucial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1634058"/>
            <a:ext cx="3957042" cy="5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Evita malinterpretaciones de las entrevistas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sesgos del investigador en la codificación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Aumenta la credibilidad y la validez de constructo (Yin, 2014)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participantes a veces añaden información que no mencionaron inicialmente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695602" y="865510"/>
            <a:ext cx="202852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Cómo se implementa en 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95602" y="1093143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695602" y="1244426"/>
            <a:ext cx="3957042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4695602" y="1321668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Redactar resumen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95602" y="1540892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Redactar un resumen de hallazgos en lenguaje accesible (no académico)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95602" y="1812503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95602" y="1963787"/>
            <a:ext cx="3957042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4695602" y="2041029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Compartir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95602" y="2260253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Compartir con los participantes clave del caso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95602" y="2531864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95602" y="2683148"/>
            <a:ext cx="3957042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4695602" y="2760390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Recoger feedback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95602" y="2979613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Recoger feedback escrito o en sesión grupal (focus group de validación)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95602" y="3251225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95602" y="3402509"/>
            <a:ext cx="3957042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4695602" y="3479750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95602" y="3698974"/>
            <a:ext cx="39570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Documentar qué se ajustó y qué permaneció igual — y por qué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95602" y="3978994"/>
            <a:ext cx="3957042" cy="695474"/>
          </a:xfrm>
          <a:prstGeom prst="roundRect">
            <a:avLst>
              <a:gd name="adj" fmla="val 5886"/>
            </a:avLst>
          </a:prstGeom>
          <a:solidFill>
            <a:srgbClr val="FCF2B5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3010" y="4115470"/>
            <a:ext cx="121816" cy="974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12234" y="4063603"/>
            <a:ext cx="3543002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Límite ético importante: El member checking valida la interpretación, no cede el control del análisis al participante. El investigador mantiene la autonomía analítica; el participante confirma o cuestiona los hechos, no las conclusiones teónicas.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180"/>
            <a:ext cx="775402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NASA: Recolección Multi-Fuente como Estándar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00795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NASA combina sistemáticamente múltiples fuentes de evidencia — el mismo principio del estudio de caso IS: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417365"/>
            <a:ext cx="225407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GeneLab / OSDR (2024)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1719709"/>
            <a:ext cx="3924598" cy="219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Artefactos biológicos: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muestras de experimentos en ISS (fuente primaria)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Datos de sensores: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condiciones ambientales de la estación (temperatura, radiación, microgravedad)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Documentación experimental: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protocolos publicados en abierto para replicación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Publicaciones de la comunidad: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800 investigadores analizan los mismos datos desde ángulos distintos → triangulación masiva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 92 publicaciones — cada una es un "punto de triangulación" adicional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417365"/>
            <a:ext cx="40636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Hurricane Ida — observación multi-instrumento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1719709"/>
            <a:ext cx="3924598" cy="1602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Satélites (MODIS, GOES):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observación no participante a escala continental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Estaciones meteorológicas terrestres: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datos cuantitativos en puntos fijos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Equipos en campo: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observación participante de efectos de inundación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Datos de emergencias: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documentos gubernamentales post-evento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28046" y="3443883"/>
            <a:ext cx="3924598" cy="443210"/>
          </a:xfrm>
          <a:prstGeom prst="roundRect">
            <a:avLst>
              <a:gd name="adj" fmla="val 11755"/>
            </a:avLst>
          </a:prstGeom>
          <a:solidFill>
            <a:srgbClr val="DADBF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20" y="3628430"/>
            <a:ext cx="155004" cy="1239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30998" y="3572470"/>
            <a:ext cx="38548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Triangulación de datos en su máxima expresión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4131171"/>
            <a:ext cx="14288" cy="616148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682154" y="4253210"/>
            <a:ext cx="796572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Lección para IS: La robustez no viene de más datos de la misma fuente — viene de más fuentes diferentes que convergen en el mismo hallazgo.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771"/>
            <a:ext cx="30045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Cierre + INVB12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05173"/>
            <a:ext cx="17308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Resumen de la clase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293" y="1151855"/>
            <a:ext cx="152772" cy="1527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187" y="1146795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fuentes: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entrevistas + observación + documentos + artefactos (Yin, 2014)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293" y="1608981"/>
            <a:ext cx="152772" cy="1527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7187" y="1603921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Entrevistas semiestructuradas: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guión en 3 bloques, preguntas abiertas, 60-90 min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293" y="2066106"/>
            <a:ext cx="152772" cy="1527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7187" y="2061046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Observación: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participante vs. participante; registrar notas de campo e incidentes críticos</a:t>
            </a:r>
            <a:endParaRPr lang="en-US" sz="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293" y="2523232"/>
            <a:ext cx="152772" cy="1527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7187" y="2518172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Documentos IS: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tickets, wikis, postmortems, PRs → trazas naturales del fenómeno</a:t>
            </a:r>
            <a:endParaRPr lang="en-US" sz="8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4293" y="2980358"/>
            <a:ext cx="152772" cy="1527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7187" y="2975297"/>
            <a:ext cx="362054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Triangulación: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 tipos; la divergencia es un hallazgo, no un error</a:t>
            </a:r>
            <a:endParaRPr lang="en-US" sz="8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4293" y="3437483"/>
            <a:ext cx="152772" cy="1527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7187" y="3432423"/>
            <a:ext cx="362054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Saturación: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criterio cualitativo, no numérico fijo</a:t>
            </a:r>
            <a:endParaRPr lang="en-US" sz="8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4293" y="3894609"/>
            <a:ext cx="152772" cy="15277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27187" y="3889549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Member checking: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validar interpretación con participantes, sin ceder el análisis</a:t>
            </a:r>
            <a:endParaRPr lang="en-US" sz="8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4293" y="4351734"/>
            <a:ext cx="152772" cy="15277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827187" y="4346674"/>
            <a:ext cx="362054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NASA: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GeneLab + Hurricane Ida como modelo de recolección multi-fuente rigurosa</a:t>
            </a:r>
            <a:endParaRPr lang="en-US" sz="800" dirty="0"/>
          </a:p>
        </p:txBody>
      </p:sp>
      <p:sp>
        <p:nvSpPr>
          <p:cNvPr id="20" name="Shape 10"/>
          <p:cNvSpPr/>
          <p:nvPr/>
        </p:nvSpPr>
        <p:spPr>
          <a:xfrm>
            <a:off x="4701034" y="914326"/>
            <a:ext cx="397892" cy="173013"/>
          </a:xfrm>
          <a:prstGeom prst="roundRect">
            <a:avLst>
              <a:gd name="adj" fmla="val 19789"/>
            </a:avLst>
          </a:prstGeom>
          <a:solidFill>
            <a:srgbClr val="DADBF1"/>
          </a:solidFill>
          <a:ln/>
        </p:spPr>
      </p:sp>
      <p:sp>
        <p:nvSpPr>
          <p:cNvPr id="21" name="Text 11"/>
          <p:cNvSpPr/>
          <p:nvPr/>
        </p:nvSpPr>
        <p:spPr>
          <a:xfrm>
            <a:off x="4762128" y="944835"/>
            <a:ext cx="732904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INVB12</a:t>
            </a:r>
            <a:endParaRPr lang="en-US" sz="600" dirty="0"/>
          </a:p>
        </p:txBody>
      </p:sp>
      <p:sp>
        <p:nvSpPr>
          <p:cNvPr id="22" name="Text 12"/>
          <p:cNvSpPr/>
          <p:nvPr/>
        </p:nvSpPr>
        <p:spPr>
          <a:xfrm>
            <a:off x="4701034" y="1116583"/>
            <a:ext cx="227580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Investigación Bibliográfica 12</a:t>
            </a:r>
            <a:endParaRPr lang="en-US" sz="1000" dirty="0"/>
          </a:p>
        </p:txBody>
      </p:sp>
      <p:sp>
        <p:nvSpPr>
          <p:cNvPr id="23" name="Text 13"/>
          <p:cNvSpPr/>
          <p:nvPr/>
        </p:nvSpPr>
        <p:spPr>
          <a:xfrm>
            <a:off x="4701034" y="1349053"/>
            <a:ext cx="3951610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Retoma tu estudio de caso de INVB10/11. Diseña la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guía de entrevista semiestructurada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tu investigación:</a:t>
            </a:r>
            <a:endParaRPr lang="en-US" sz="800" dirty="0"/>
          </a:p>
        </p:txBody>
      </p:sp>
      <p:sp>
        <p:nvSpPr>
          <p:cNvPr id="24" name="Text 14"/>
          <p:cNvSpPr/>
          <p:nvPr/>
        </p:nvSpPr>
        <p:spPr>
          <a:xfrm>
            <a:off x="4701034" y="1695004"/>
            <a:ext cx="3951610" cy="917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Contexto del participante:</a:t>
            </a:r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2-3 preguntas para establecer el perfil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Preguntas principales:</a:t>
            </a:r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6-8 preguntas abiertas directamente vinculadas a tus preguntas de investigación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Profundización:</a:t>
            </a:r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cada pregunta principal, escribe una pregunta de seguimiento ("¿puedes darme un ejemplo?")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Cierre:</a:t>
            </a:r>
            <a:pPr algn="l" marL="162560" indent="-162560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pregunta de apertura final</a:t>
            </a:r>
            <a:endParaRPr lang="en-US" sz="800" dirty="0"/>
          </a:p>
        </p:txBody>
      </p:sp>
      <p:sp>
        <p:nvSpPr>
          <p:cNvPr id="25" name="Text 15"/>
          <p:cNvSpPr/>
          <p:nvPr/>
        </p:nvSpPr>
        <p:spPr>
          <a:xfrm>
            <a:off x="4701034" y="2677939"/>
            <a:ext cx="3951610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Además, indica: ¿qué documentos del caso planeas revisar y por qué? ¿Cómo triangularás esas fuentes?</a:t>
            </a:r>
            <a:endParaRPr lang="en-US" sz="800" dirty="0"/>
          </a:p>
        </p:txBody>
      </p:sp>
      <p:sp>
        <p:nvSpPr>
          <p:cNvPr id="26" name="Shape 16"/>
          <p:cNvSpPr/>
          <p:nvPr/>
        </p:nvSpPr>
        <p:spPr>
          <a:xfrm>
            <a:off x="4701034" y="3040410"/>
            <a:ext cx="3951610" cy="322659"/>
          </a:xfrm>
          <a:prstGeom prst="roundRect">
            <a:avLst>
              <a:gd name="adj" fmla="val 13264"/>
            </a:avLst>
          </a:prstGeom>
          <a:solidFill>
            <a:srgbClr val="B6D6FC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02907" y="3183359"/>
            <a:ext cx="127322" cy="10187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032102" y="3131716"/>
            <a:ext cx="397586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Formato: 1-2 páginas, APA 7ª · Entrega: próxima clase</a:t>
            </a:r>
            <a:endParaRPr lang="en-US" sz="800" dirty="0"/>
          </a:p>
        </p:txBody>
      </p:sp>
      <p:sp>
        <p:nvSpPr>
          <p:cNvPr id="29" name="Text 18"/>
          <p:cNvSpPr/>
          <p:nvPr/>
        </p:nvSpPr>
        <p:spPr>
          <a:xfrm>
            <a:off x="4701034" y="3445446"/>
            <a:ext cx="17308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Referencias clave</a:t>
            </a:r>
            <a:endParaRPr lang="en-US" sz="1000" dirty="0"/>
          </a:p>
        </p:txBody>
      </p:sp>
      <p:sp>
        <p:nvSpPr>
          <p:cNvPr id="30" name="Text 19"/>
          <p:cNvSpPr/>
          <p:nvPr/>
        </p:nvSpPr>
        <p:spPr>
          <a:xfrm>
            <a:off x="4701034" y="3677915"/>
            <a:ext cx="3951610" cy="611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Yin, R.K. (2014). 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Research: Design and Methods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(5th ed.). Sage.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Runeson, P. &amp; Höst, M. (2009). 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Software Engineering, 14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(2), 131-164.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Schlunegger, M.C. et al. (2024). Methodologic and data-analysis triangulation in case studies. 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in Nursing &amp; Health.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Sage Journals.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2026-06-30T15:28:28Z</dcterms:created>
  <dcterms:modified xsi:type="dcterms:W3CDTF">2026-06-30T15:28:28Z</dcterms:modified>
</cp:coreProperties>
</file>