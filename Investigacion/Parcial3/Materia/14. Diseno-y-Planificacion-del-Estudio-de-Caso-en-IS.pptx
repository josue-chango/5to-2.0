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3.png"/><Relationship Id="rId6" Type="http://schemas.openxmlformats.org/officeDocument/2006/relationships/image" Target="../media/image-6-4.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1.png"/><Relationship Id="rId10" Type="http://schemas.openxmlformats.org/officeDocument/2006/relationships/image" Target="../media/image-6-2.svg"/><Relationship Id="rId11" Type="http://schemas.openxmlformats.org/officeDocument/2006/relationships/image" Target="../media/image-6-1.png"/><Relationship Id="rId12" Type="http://schemas.openxmlformats.org/officeDocument/2006/relationships/image" Target="../media/image-6-2.svg"/><Relationship Id="rId13" Type="http://schemas.openxmlformats.org/officeDocument/2006/relationships/image" Target="../media/image-6-1.png"/><Relationship Id="rId14" Type="http://schemas.openxmlformats.org/officeDocument/2006/relationships/image" Target="../media/image-6-2.svg"/><Relationship Id="rId15" Type="http://schemas.openxmlformats.org/officeDocument/2006/relationships/slideLayout" Target="../slideLayouts/slideLayout2.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image" Target="../media/image-10-1.png"/><Relationship Id="rId12" Type="http://schemas.openxmlformats.org/officeDocument/2006/relationships/image" Target="../media/image-10-2.svg"/><Relationship Id="rId13" Type="http://schemas.openxmlformats.org/officeDocument/2006/relationships/image" Target="../media/image-10-1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502941"/>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Diseño y Planificación del Estudio de Caso en IS</a:t>
            </a:r>
            <a:endParaRPr lang="en-US" sz="2750" dirty="0"/>
          </a:p>
        </p:txBody>
      </p:sp>
      <p:sp>
        <p:nvSpPr>
          <p:cNvPr id="4" name="Shape 1"/>
          <p:cNvSpPr/>
          <p:nvPr/>
        </p:nvSpPr>
        <p:spPr>
          <a:xfrm>
            <a:off x="3925119" y="2601516"/>
            <a:ext cx="1323529" cy="266402"/>
          </a:xfrm>
          <a:prstGeom prst="roundRect">
            <a:avLst>
              <a:gd name="adj" fmla="val 17880"/>
            </a:avLst>
          </a:prstGeom>
          <a:solidFill>
            <a:srgbClr val="DADBF1"/>
          </a:solidFill>
          <a:ln/>
        </p:spPr>
      </p:sp>
      <p:sp>
        <p:nvSpPr>
          <p:cNvPr id="5" name="Text 2"/>
          <p:cNvSpPr/>
          <p:nvPr/>
        </p:nvSpPr>
        <p:spPr>
          <a:xfrm>
            <a:off x="4010174" y="2644006"/>
            <a:ext cx="1610618" cy="181421"/>
          </a:xfrm>
          <a:prstGeom prst="rect">
            <a:avLst/>
          </a:prstGeom>
          <a:noFill/>
          <a:ln/>
        </p:spPr>
        <p:txBody>
          <a:bodyPr wrap="none" lIns="0" tIns="0" rIns="0" bIns="0" rtlCol="0" anchor="t"/>
          <a:lstStyle/>
          <a:p>
            <a:pPr algn="l" indent="0" marL="0">
              <a:lnSpc>
                <a:spcPct val="133000"/>
              </a:lnSpc>
              <a:buNone/>
            </a:pPr>
            <a:r>
              <a:rPr lang="en-US" sz="850" dirty="0">
                <a:solidFill>
                  <a:srgbClr val="272525"/>
                </a:solidFill>
                <a:latin typeface="Inter" pitchFamily="34" charset="0"/>
                <a:ea typeface="Inter" pitchFamily="34" charset="-122"/>
                <a:cs typeface="Inter" pitchFamily="34" charset="-120"/>
              </a:rPr>
              <a:t>CLASE 14 · UNIDAD 3</a:t>
            </a:r>
            <a:endParaRPr lang="en-US" sz="850" dirty="0"/>
          </a:p>
        </p:txBody>
      </p:sp>
      <p:sp>
        <p:nvSpPr>
          <p:cNvPr id="6" name="Text 3"/>
          <p:cNvSpPr/>
          <p:nvPr/>
        </p:nvSpPr>
        <p:spPr>
          <a:xfrm>
            <a:off x="3925119" y="3027387"/>
            <a:ext cx="4722763" cy="613097"/>
          </a:xfrm>
          <a:prstGeom prst="rect">
            <a:avLst/>
          </a:prstGeom>
          <a:noFill/>
          <a:ln/>
        </p:spPr>
        <p:txBody>
          <a:bodyPr wrap="square" lIns="0" tIns="0" rIns="0" bIns="0" rtlCol="0" anchor="t"/>
          <a:lstStyle/>
          <a:p>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Investigación en Ingeniería de Software · ESPE Sangolquí</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Ing. Ángel Marcelo Rea Guamán, Ph.D.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94841"/>
            <a:ext cx="5703838" cy="346100"/>
          </a:xfrm>
          <a:prstGeom prst="rect">
            <a:avLst/>
          </a:prstGeom>
          <a:noFill/>
          <a:ln/>
        </p:spPr>
        <p:txBody>
          <a:bodyPr wrap="none" lIns="0" tIns="0" rIns="0" bIns="0" rtlCol="0" anchor="t"/>
          <a:lstStyle/>
          <a:p>
            <a:pPr algn="l" indent="0" marL="0">
              <a:lnSpc>
                <a:spcPct val="104000"/>
              </a:lnSpc>
              <a:buNone/>
            </a:pPr>
            <a:r>
              <a:rPr lang="en-US" sz="2150" b="1" dirty="0">
                <a:solidFill>
                  <a:srgbClr val="000000"/>
                </a:solidFill>
                <a:latin typeface="Inter Bold" pitchFamily="34" charset="0"/>
                <a:ea typeface="Inter Bold" pitchFamily="34" charset="-122"/>
                <a:cs typeface="Inter Bold" pitchFamily="34" charset="-120"/>
              </a:rPr>
              <a:t>El Diseño como Contrato Metodológico</a:t>
            </a:r>
            <a:endParaRPr lang="en-US" sz="2150" dirty="0"/>
          </a:p>
        </p:txBody>
      </p:sp>
      <p:sp>
        <p:nvSpPr>
          <p:cNvPr id="3" name="Text 1"/>
          <p:cNvSpPr/>
          <p:nvPr/>
        </p:nvSpPr>
        <p:spPr>
          <a:xfrm>
            <a:off x="496119" y="775543"/>
            <a:ext cx="4909617" cy="173013"/>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Un investigador inicia un estudio de caso en una empresa. Al mes:</a:t>
            </a:r>
            <a:endParaRPr lang="en-US" sz="10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078334"/>
            <a:ext cx="4032647" cy="407789"/>
          </a:xfrm>
          <a:prstGeom prst="rect">
            <a:avLst/>
          </a:prstGeom>
        </p:spPr>
      </p:pic>
      <p:sp>
        <p:nvSpPr>
          <p:cNvPr id="5" name="Text 2"/>
          <p:cNvSpPr/>
          <p:nvPr/>
        </p:nvSpPr>
        <p:spPr>
          <a:xfrm>
            <a:off x="678284" y="1203350"/>
            <a:ext cx="3725466"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Las entrevistas se van por las ramas</a:t>
            </a:r>
            <a:endParaRPr lang="en-US" sz="8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5235" y="1078334"/>
            <a:ext cx="4032647" cy="407789"/>
          </a:xfrm>
          <a:prstGeom prst="rect">
            <a:avLst/>
          </a:prstGeom>
        </p:spPr>
      </p:pic>
      <p:sp>
        <p:nvSpPr>
          <p:cNvPr id="7" name="Text 3"/>
          <p:cNvSpPr/>
          <p:nvPr/>
        </p:nvSpPr>
        <p:spPr>
          <a:xfrm>
            <a:off x="4797400" y="1203350"/>
            <a:ext cx="3725466"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No sabe qué evidencia es relevante y qué no</a:t>
            </a:r>
            <a:endParaRPr lang="en-US" sz="8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1572592"/>
            <a:ext cx="4032647" cy="565547"/>
          </a:xfrm>
          <a:prstGeom prst="rect">
            <a:avLst/>
          </a:prstGeom>
        </p:spPr>
      </p:pic>
      <p:sp>
        <p:nvSpPr>
          <p:cNvPr id="9" name="Text 4"/>
          <p:cNvSpPr/>
          <p:nvPr/>
        </p:nvSpPr>
        <p:spPr>
          <a:xfrm>
            <a:off x="678284" y="1697608"/>
            <a:ext cx="3725466"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Llega con preguntas distintas cada visita</a:t>
            </a:r>
            <a:endParaRPr lang="en-US" sz="850"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15235" y="1572592"/>
            <a:ext cx="4032647" cy="565547"/>
          </a:xfrm>
          <a:prstGeom prst="rect">
            <a:avLst/>
          </a:prstGeom>
        </p:spPr>
      </p:pic>
      <p:sp>
        <p:nvSpPr>
          <p:cNvPr id="11" name="Text 5"/>
          <p:cNvSpPr/>
          <p:nvPr/>
        </p:nvSpPr>
        <p:spPr>
          <a:xfrm>
            <a:off x="4797400" y="1697608"/>
            <a:ext cx="3725466"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Al final tiene datos, pero no sabe cómo conectarlos con su pregunta de investigación</a:t>
            </a:r>
            <a:endParaRPr lang="en-US" sz="850" dirty="0"/>
          </a:p>
        </p:txBody>
      </p:sp>
      <p:sp>
        <p:nvSpPr>
          <p:cNvPr id="12" name="Shape 6"/>
          <p:cNvSpPr/>
          <p:nvPr/>
        </p:nvSpPr>
        <p:spPr>
          <a:xfrm>
            <a:off x="496119" y="2235473"/>
            <a:ext cx="8151763" cy="526554"/>
          </a:xfrm>
          <a:prstGeom prst="roundRect">
            <a:avLst>
              <a:gd name="adj" fmla="val 8834"/>
            </a:avLst>
          </a:prstGeom>
          <a:solidFill>
            <a:srgbClr val="FCF2B5"/>
          </a:solidFill>
          <a:ln/>
        </p:spPr>
      </p:sp>
      <p:pic>
        <p:nvPicPr>
          <p:cNvPr id="13" name="Image 4" descr="preencoded.png">    </p:cNvPr>
          <p:cNvPicPr>
            <a:picLocks noChangeAspect="1"/>
          </p:cNvPicPr>
          <p:nvPr/>
        </p:nvPicPr>
        <p:blipFill>
          <a:blip r:embed="rId9"/>
          <a:stretch>
            <a:fillRect/>
          </a:stretch>
        </p:blipFill>
        <p:spPr>
          <a:xfrm>
            <a:off x="606847" y="2381771"/>
            <a:ext cx="138410" cy="110728"/>
          </a:xfrm>
          <a:prstGeom prst="rect">
            <a:avLst/>
          </a:prstGeom>
        </p:spPr>
      </p:pic>
      <p:sp>
        <p:nvSpPr>
          <p:cNvPr id="14" name="Text 7"/>
          <p:cNvSpPr/>
          <p:nvPr/>
        </p:nvSpPr>
        <p:spPr>
          <a:xfrm>
            <a:off x="855985" y="2340992"/>
            <a:ext cx="7681168" cy="315516"/>
          </a:xfrm>
          <a:prstGeom prst="rect">
            <a:avLst/>
          </a:prstGeom>
          <a:noFill/>
          <a:ln/>
        </p:spPr>
        <p:txBody>
          <a:bodyPr wrap="square" lIns="0" tIns="0" rIns="0" bIns="0" rtlCol="0" anchor="t">
            <a:normAutofit/>
          </a:bodyPr>
          <a:lstStyle/>
          <a:p>
            <a:pPr algn="l" indent="0" marL="0">
              <a:lnSpc>
                <a:spcPct val="119000"/>
              </a:lnSpc>
              <a:buNone/>
            </a:pPr>
            <a:r>
              <a:rPr lang="en-US" sz="850" b="1" dirty="0">
                <a:solidFill>
                  <a:srgbClr val="000000"/>
                </a:solidFill>
                <a:latin typeface="Inter Bold" pitchFamily="34" charset="0"/>
                <a:ea typeface="Inter Bold" pitchFamily="34" charset="-122"/>
                <a:cs typeface="Inter Bold" pitchFamily="34" charset="-120"/>
              </a:rPr>
              <a:t>Diagnóstico:</a:t>
            </a:r>
            <a:pPr algn="l" indent="0" marL="0">
              <a:lnSpc>
                <a:spcPct val="119000"/>
              </a:lnSpc>
              <a:buNone/>
            </a:pPr>
            <a:r>
              <a:rPr lang="en-US" sz="850" dirty="0">
                <a:solidFill>
                  <a:srgbClr val="000000"/>
                </a:solidFill>
                <a:latin typeface="Inter" pitchFamily="34" charset="0"/>
                <a:ea typeface="Inter" pitchFamily="34" charset="-122"/>
                <a:cs typeface="Inter" pitchFamily="34" charset="-120"/>
              </a:rPr>
              <a:t> ausencia de diseño. El diseño no es un trámite burocrático — es el mapa que convierte datos en evidencia y evidencia en conocimiento.</a:t>
            </a:r>
            <a:endParaRPr lang="en-US" sz="850" dirty="0"/>
          </a:p>
        </p:txBody>
      </p:sp>
      <p:sp>
        <p:nvSpPr>
          <p:cNvPr id="15" name="Shape 8"/>
          <p:cNvSpPr/>
          <p:nvPr/>
        </p:nvSpPr>
        <p:spPr>
          <a:xfrm>
            <a:off x="496119" y="2859360"/>
            <a:ext cx="14288" cy="667941"/>
          </a:xfrm>
          <a:prstGeom prst="roundRect">
            <a:avLst>
              <a:gd name="adj" fmla="val 59998"/>
            </a:avLst>
          </a:prstGeom>
          <a:solidFill>
            <a:srgbClr val="4950BC"/>
          </a:solidFill>
          <a:ln/>
        </p:spPr>
      </p:sp>
      <p:sp>
        <p:nvSpPr>
          <p:cNvPr id="16" name="Text 9"/>
          <p:cNvSpPr/>
          <p:nvPr/>
        </p:nvSpPr>
        <p:spPr>
          <a:xfrm>
            <a:off x="662211" y="2956694"/>
            <a:ext cx="7985671"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"El diseño de la investigación es la lógica que conecta los datos que serán recolectados (y las conclusiones que serán extraídas) con las preguntas iniciales del estudio."</a:t>
            </a:r>
            <a:endParaRPr lang="en-US" sz="850" dirty="0"/>
          </a:p>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 Yin, 2014, p. 27</a:t>
            </a:r>
            <a:endParaRPr lang="en-US" sz="850" dirty="0"/>
          </a:p>
        </p:txBody>
      </p:sp>
      <p:sp>
        <p:nvSpPr>
          <p:cNvPr id="17" name="Text 10"/>
          <p:cNvSpPr/>
          <p:nvPr/>
        </p:nvSpPr>
        <p:spPr>
          <a:xfrm>
            <a:off x="496119" y="3657079"/>
            <a:ext cx="1841599" cy="173013"/>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Sin diseño riguroso:</a:t>
            </a:r>
            <a:endParaRPr lang="en-US" sz="1050" dirty="0"/>
          </a:p>
        </p:txBody>
      </p:sp>
      <p:sp>
        <p:nvSpPr>
          <p:cNvPr id="18" name="Text 11"/>
          <p:cNvSpPr/>
          <p:nvPr/>
        </p:nvSpPr>
        <p:spPr>
          <a:xfrm>
            <a:off x="496119" y="3959870"/>
            <a:ext cx="8151763" cy="533698"/>
          </a:xfrm>
          <a:prstGeom prst="rect">
            <a:avLst/>
          </a:prstGeom>
          <a:noFill/>
          <a:ln/>
        </p:spPr>
        <p:txBody>
          <a:bodyPr wrap="square" lIns="0" tIns="0" rIns="0" bIns="0" rtlCol="0" anchor="t">
            <a:normAutofit/>
          </a:bodyPr>
          <a:lstStyle/>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Los datos no responden las preguntas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Los hallazgos no son defendibles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El estudio no puede ser evaluado ni replicado</a:t>
            </a:r>
            <a:endParaRPr lang="en-US" sz="850" dirty="0"/>
          </a:p>
        </p:txBody>
      </p:sp>
      <p:sp>
        <p:nvSpPr>
          <p:cNvPr id="19" name="Text 12"/>
          <p:cNvSpPr/>
          <p:nvPr/>
        </p:nvSpPr>
        <p:spPr>
          <a:xfrm>
            <a:off x="496119" y="4590901"/>
            <a:ext cx="8608963"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Esta clase:</a:t>
            </a:r>
            <a:pPr algn="l" indent="0" marL="0">
              <a:lnSpc>
                <a:spcPct val="119000"/>
              </a:lnSpc>
              <a:buNone/>
            </a:pPr>
            <a:r>
              <a:rPr lang="en-US" sz="850" dirty="0">
                <a:solidFill>
                  <a:srgbClr val="272525"/>
                </a:solidFill>
                <a:latin typeface="Inter" pitchFamily="34" charset="0"/>
                <a:ea typeface="Inter" pitchFamily="34" charset="-122"/>
                <a:cs typeface="Inter" pitchFamily="34" charset="-120"/>
              </a:rPr>
              <a:t> cómo construir un diseño y un protocolo sólidos antes de entrar al campo.</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38522"/>
            <a:ext cx="6616154" cy="373782"/>
          </a:xfrm>
          <a:prstGeom prst="rect">
            <a:avLst/>
          </a:prstGeom>
          <a:noFill/>
          <a:ln/>
        </p:spPr>
        <p:txBody>
          <a:bodyPr wrap="none" lIns="0" tIns="0" rIns="0" bIns="0" rtlCol="0" anchor="t"/>
          <a:lstStyle/>
          <a:p>
            <a:pPr algn="l" indent="0" marL="0">
              <a:lnSpc>
                <a:spcPct val="104000"/>
              </a:lnSpc>
              <a:buNone/>
            </a:pPr>
            <a:r>
              <a:rPr lang="en-US" sz="2350" b="1" dirty="0">
                <a:solidFill>
                  <a:srgbClr val="000000"/>
                </a:solidFill>
                <a:latin typeface="Inter Bold" pitchFamily="34" charset="0"/>
                <a:ea typeface="Inter Bold" pitchFamily="34" charset="-122"/>
                <a:cs typeface="Inter Bold" pitchFamily="34" charset="-120"/>
              </a:rPr>
              <a:t>Los 5 Componentes del Diseño (Yin, 2014)</a:t>
            </a:r>
            <a:endParaRPr lang="en-US" sz="2350" dirty="0"/>
          </a:p>
        </p:txBody>
      </p:sp>
      <p:sp>
        <p:nvSpPr>
          <p:cNvPr id="3" name="Text 1"/>
          <p:cNvSpPr/>
          <p:nvPr/>
        </p:nvSpPr>
        <p:spPr>
          <a:xfrm>
            <a:off x="496119" y="1014115"/>
            <a:ext cx="8608963"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Todo estudio de caso bien diseñado responde estas 5 preguntas antes de recolectar un solo dato:</a:t>
            </a:r>
            <a:endParaRPr lang="en-US" sz="900" dirty="0"/>
          </a:p>
        </p:txBody>
      </p:sp>
      <p:sp>
        <p:nvSpPr>
          <p:cNvPr id="4" name="Shape 2"/>
          <p:cNvSpPr/>
          <p:nvPr/>
        </p:nvSpPr>
        <p:spPr>
          <a:xfrm>
            <a:off x="496119" y="1303958"/>
            <a:ext cx="8151763" cy="2580084"/>
          </a:xfrm>
          <a:prstGeom prst="roundRect">
            <a:avLst>
              <a:gd name="adj" fmla="val 1947"/>
            </a:avLst>
          </a:prstGeom>
          <a:noFill/>
          <a:ln w="4763">
            <a:solidFill>
              <a:srgbClr val="000000">
                <a:alpha val="8000"/>
              </a:srgbClr>
            </a:solidFill>
            <a:prstDash val="solid"/>
          </a:ln>
        </p:spPr>
      </p:sp>
      <p:sp>
        <p:nvSpPr>
          <p:cNvPr id="5" name="Text 3"/>
          <p:cNvSpPr/>
          <p:nvPr/>
        </p:nvSpPr>
        <p:spPr>
          <a:xfrm>
            <a:off x="620613" y="1373981"/>
            <a:ext cx="2009254"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Componente</a:t>
            </a:r>
            <a:endParaRPr lang="en-US" sz="900" dirty="0"/>
          </a:p>
        </p:txBody>
      </p:sp>
      <p:sp>
        <p:nvSpPr>
          <p:cNvPr id="6" name="Text 4"/>
          <p:cNvSpPr/>
          <p:nvPr/>
        </p:nvSpPr>
        <p:spPr>
          <a:xfrm>
            <a:off x="2411834" y="1373981"/>
            <a:ext cx="3067794"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Pregunta que responde</a:t>
            </a:r>
            <a:endParaRPr lang="en-US" sz="900" dirty="0"/>
          </a:p>
        </p:txBody>
      </p:sp>
      <p:sp>
        <p:nvSpPr>
          <p:cNvPr id="7" name="Text 5"/>
          <p:cNvSpPr/>
          <p:nvPr/>
        </p:nvSpPr>
        <p:spPr>
          <a:xfrm>
            <a:off x="5261595" y="1373981"/>
            <a:ext cx="3719140"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Ejemplo IS</a:t>
            </a:r>
            <a:endParaRPr lang="en-US" sz="900" dirty="0"/>
          </a:p>
        </p:txBody>
      </p:sp>
      <p:sp>
        <p:nvSpPr>
          <p:cNvPr id="8" name="Text 6"/>
          <p:cNvSpPr/>
          <p:nvPr/>
        </p:nvSpPr>
        <p:spPr>
          <a:xfrm>
            <a:off x="620613" y="1685627"/>
            <a:ext cx="1552054" cy="352723"/>
          </a:xfrm>
          <a:prstGeom prst="rect">
            <a:avLst/>
          </a:prstGeom>
          <a:noFill/>
          <a:ln/>
        </p:spPr>
        <p:txBody>
          <a:bodyPr wrap="square" lIns="0" tIns="0" rIns="0" bIns="0" rtlCol="0" anchor="t">
            <a:normAutofit/>
          </a:bodyPr>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1. Preguntas de investigación</a:t>
            </a:r>
            <a:endParaRPr lang="en-US" sz="900" dirty="0"/>
          </a:p>
        </p:txBody>
      </p:sp>
      <p:sp>
        <p:nvSpPr>
          <p:cNvPr id="9" name="Text 7"/>
          <p:cNvSpPr/>
          <p:nvPr/>
        </p:nvSpPr>
        <p:spPr>
          <a:xfrm>
            <a:off x="2411834" y="1685627"/>
            <a:ext cx="3067794"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¿Qué quiero saber? (cómo / por qué)</a:t>
            </a:r>
            <a:endParaRPr lang="en-US" sz="900" dirty="0"/>
          </a:p>
        </p:txBody>
      </p:sp>
      <p:sp>
        <p:nvSpPr>
          <p:cNvPr id="10" name="Text 8"/>
          <p:cNvSpPr/>
          <p:nvPr/>
        </p:nvSpPr>
        <p:spPr>
          <a:xfrm>
            <a:off x="5261595" y="1685627"/>
            <a:ext cx="3719140"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¿Cómo adoptan DevOps los equipos de desarrollo?</a:t>
            </a:r>
            <a:endParaRPr lang="en-US" sz="900" dirty="0"/>
          </a:p>
        </p:txBody>
      </p:sp>
      <p:sp>
        <p:nvSpPr>
          <p:cNvPr id="11" name="Text 9"/>
          <p:cNvSpPr/>
          <p:nvPr/>
        </p:nvSpPr>
        <p:spPr>
          <a:xfrm>
            <a:off x="620613" y="2173635"/>
            <a:ext cx="2009254"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2. Proposiciones</a:t>
            </a:r>
            <a:endParaRPr lang="en-US" sz="900" dirty="0"/>
          </a:p>
        </p:txBody>
      </p:sp>
      <p:sp>
        <p:nvSpPr>
          <p:cNvPr id="12" name="Text 10"/>
          <p:cNvSpPr/>
          <p:nvPr/>
        </p:nvSpPr>
        <p:spPr>
          <a:xfrm>
            <a:off x="2411834" y="2173635"/>
            <a:ext cx="2610594"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¿Qué espero encontrar? (hipótesis orientadoras)</a:t>
            </a:r>
            <a:endParaRPr lang="en-US" sz="900" dirty="0"/>
          </a:p>
        </p:txBody>
      </p:sp>
      <p:sp>
        <p:nvSpPr>
          <p:cNvPr id="13" name="Text 11"/>
          <p:cNvSpPr/>
          <p:nvPr/>
        </p:nvSpPr>
        <p:spPr>
          <a:xfrm>
            <a:off x="5261595" y="2173635"/>
            <a:ext cx="3261940"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"La adopción de DevOps se ve obstaculizada por la cultura organizacional"</a:t>
            </a:r>
            <a:endParaRPr lang="en-US" sz="900" dirty="0"/>
          </a:p>
        </p:txBody>
      </p:sp>
      <p:sp>
        <p:nvSpPr>
          <p:cNvPr id="14" name="Text 12"/>
          <p:cNvSpPr/>
          <p:nvPr/>
        </p:nvSpPr>
        <p:spPr>
          <a:xfrm>
            <a:off x="620613" y="2661642"/>
            <a:ext cx="2009254"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3. Unidad de análisis</a:t>
            </a:r>
            <a:endParaRPr lang="en-US" sz="900" dirty="0"/>
          </a:p>
        </p:txBody>
      </p:sp>
      <p:sp>
        <p:nvSpPr>
          <p:cNvPr id="15" name="Text 13"/>
          <p:cNvSpPr/>
          <p:nvPr/>
        </p:nvSpPr>
        <p:spPr>
          <a:xfrm>
            <a:off x="2411834" y="2661642"/>
            <a:ext cx="3067794"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¿Qué es mi "caso"?</a:t>
            </a:r>
            <a:endParaRPr lang="en-US" sz="900" dirty="0"/>
          </a:p>
        </p:txBody>
      </p:sp>
      <p:sp>
        <p:nvSpPr>
          <p:cNvPr id="16" name="Text 14"/>
          <p:cNvSpPr/>
          <p:nvPr/>
        </p:nvSpPr>
        <p:spPr>
          <a:xfrm>
            <a:off x="5261595" y="2661642"/>
            <a:ext cx="3719140"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Un equipo de desarrollo de una empresa mediana</a:t>
            </a:r>
            <a:endParaRPr lang="en-US" sz="900" dirty="0"/>
          </a:p>
        </p:txBody>
      </p:sp>
      <p:sp>
        <p:nvSpPr>
          <p:cNvPr id="17" name="Text 15"/>
          <p:cNvSpPr/>
          <p:nvPr/>
        </p:nvSpPr>
        <p:spPr>
          <a:xfrm>
            <a:off x="620613" y="2973288"/>
            <a:ext cx="2009254" cy="176361"/>
          </a:xfrm>
          <a:prstGeom prst="rect">
            <a:avLst/>
          </a:prstGeom>
          <a:noFill/>
          <a:ln/>
        </p:spPr>
        <p:txBody>
          <a:bodyPr wrap="none" lIns="0" tIns="0" rIns="0" bIns="0" rtlCol="0" anchor="t"/>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4. Lógica de vinculación</a:t>
            </a:r>
            <a:endParaRPr lang="en-US" sz="900" dirty="0"/>
          </a:p>
        </p:txBody>
      </p:sp>
      <p:sp>
        <p:nvSpPr>
          <p:cNvPr id="18" name="Text 16"/>
          <p:cNvSpPr/>
          <p:nvPr/>
        </p:nvSpPr>
        <p:spPr>
          <a:xfrm>
            <a:off x="2411834" y="2973288"/>
            <a:ext cx="3067794"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¿Cómo los datos responden las preguntas?</a:t>
            </a:r>
            <a:endParaRPr lang="en-US" sz="900" dirty="0"/>
          </a:p>
        </p:txBody>
      </p:sp>
      <p:sp>
        <p:nvSpPr>
          <p:cNvPr id="19" name="Text 17"/>
          <p:cNvSpPr/>
          <p:nvPr/>
        </p:nvSpPr>
        <p:spPr>
          <a:xfrm>
            <a:off x="5261595" y="2973288"/>
            <a:ext cx="3261940"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Entrevistas a devs + métricas de deployment → frecuencia de releases</a:t>
            </a:r>
            <a:endParaRPr lang="en-US" sz="900" dirty="0"/>
          </a:p>
        </p:txBody>
      </p:sp>
      <p:sp>
        <p:nvSpPr>
          <p:cNvPr id="20" name="Text 18"/>
          <p:cNvSpPr/>
          <p:nvPr/>
        </p:nvSpPr>
        <p:spPr>
          <a:xfrm>
            <a:off x="620613" y="3461296"/>
            <a:ext cx="1552054" cy="352723"/>
          </a:xfrm>
          <a:prstGeom prst="rect">
            <a:avLst/>
          </a:prstGeom>
          <a:noFill/>
          <a:ln/>
        </p:spPr>
        <p:txBody>
          <a:bodyPr wrap="square" lIns="0" tIns="0" rIns="0" bIns="0" rtlCol="0" anchor="t">
            <a:normAutofit/>
          </a:bodyPr>
          <a:lstStyle/>
          <a:p>
            <a:pPr algn="l" indent="0" marL="0">
              <a:lnSpc>
                <a:spcPct val="123000"/>
              </a:lnSpc>
              <a:buNone/>
            </a:pPr>
            <a:r>
              <a:rPr lang="en-US" sz="900" b="1" dirty="0">
                <a:solidFill>
                  <a:srgbClr val="272525"/>
                </a:solidFill>
                <a:latin typeface="Inter Bold" pitchFamily="34" charset="0"/>
                <a:ea typeface="Inter Bold" pitchFamily="34" charset="-122"/>
                <a:cs typeface="Inter Bold" pitchFamily="34" charset="-120"/>
              </a:rPr>
              <a:t>5. Criterios de interpretación</a:t>
            </a:r>
            <a:endParaRPr lang="en-US" sz="900" dirty="0"/>
          </a:p>
        </p:txBody>
      </p:sp>
      <p:sp>
        <p:nvSpPr>
          <p:cNvPr id="21" name="Text 19"/>
          <p:cNvSpPr/>
          <p:nvPr/>
        </p:nvSpPr>
        <p:spPr>
          <a:xfrm>
            <a:off x="2411834" y="3461296"/>
            <a:ext cx="3067794" cy="176361"/>
          </a:xfrm>
          <a:prstGeom prst="rect">
            <a:avLst/>
          </a:prstGeom>
          <a:noFill/>
          <a:ln/>
        </p:spPr>
        <p:txBody>
          <a:bodyPr wrap="none" lIns="0" tIns="0" rIns="0" bIns="0" rtlCol="0" anchor="t"/>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¿Cómo sé si mis hallazgos son válidos?</a:t>
            </a:r>
            <a:endParaRPr lang="en-US" sz="900" dirty="0"/>
          </a:p>
        </p:txBody>
      </p:sp>
      <p:sp>
        <p:nvSpPr>
          <p:cNvPr id="22" name="Text 20"/>
          <p:cNvSpPr/>
          <p:nvPr/>
        </p:nvSpPr>
        <p:spPr>
          <a:xfrm>
            <a:off x="5261595" y="3461296"/>
            <a:ext cx="3261940"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72525"/>
                </a:solidFill>
                <a:latin typeface="Inter" pitchFamily="34" charset="0"/>
                <a:ea typeface="Inter" pitchFamily="34" charset="-122"/>
                <a:cs typeface="Inter" pitchFamily="34" charset="-120"/>
              </a:rPr>
              <a:t>Triangulación de 3 fuentes; member checking con participantes</a:t>
            </a:r>
            <a:endParaRPr lang="en-US" sz="900" dirty="0"/>
          </a:p>
        </p:txBody>
      </p:sp>
      <p:sp>
        <p:nvSpPr>
          <p:cNvPr id="23" name="Shape 21"/>
          <p:cNvSpPr/>
          <p:nvPr/>
        </p:nvSpPr>
        <p:spPr>
          <a:xfrm>
            <a:off x="496119" y="3997523"/>
            <a:ext cx="8151763" cy="593973"/>
          </a:xfrm>
          <a:prstGeom prst="roundRect">
            <a:avLst>
              <a:gd name="adj" fmla="val 8458"/>
            </a:avLst>
          </a:prstGeom>
          <a:solidFill>
            <a:srgbClr val="DADBF1"/>
          </a:solidFill>
          <a:ln/>
        </p:spPr>
      </p:sp>
      <p:pic>
        <p:nvPicPr>
          <p:cNvPr id="24" name="Image 0" descr="preencoded.png">    </p:cNvPr>
          <p:cNvPicPr>
            <a:picLocks noChangeAspect="1"/>
          </p:cNvPicPr>
          <p:nvPr/>
        </p:nvPicPr>
        <p:blipFill>
          <a:blip r:embed="rId1"/>
          <a:stretch>
            <a:fillRect/>
          </a:stretch>
        </p:blipFill>
        <p:spPr>
          <a:xfrm>
            <a:off x="615702" y="4161309"/>
            <a:ext cx="149498" cy="119583"/>
          </a:xfrm>
          <a:prstGeom prst="rect">
            <a:avLst/>
          </a:prstGeom>
        </p:spPr>
      </p:pic>
      <p:sp>
        <p:nvSpPr>
          <p:cNvPr id="25" name="Text 22"/>
          <p:cNvSpPr/>
          <p:nvPr/>
        </p:nvSpPr>
        <p:spPr>
          <a:xfrm>
            <a:off x="884783" y="4118149"/>
            <a:ext cx="7643515" cy="352723"/>
          </a:xfrm>
          <a:prstGeom prst="rect">
            <a:avLst/>
          </a:prstGeom>
          <a:noFill/>
          <a:ln/>
        </p:spPr>
        <p:txBody>
          <a:bodyPr wrap="square" lIns="0" tIns="0" rIns="0" bIns="0" rtlCol="0" anchor="t">
            <a:normAutofit/>
          </a:bodyPr>
          <a:lstStyle/>
          <a:p>
            <a:pPr algn="l" indent="0" marL="0">
              <a:lnSpc>
                <a:spcPct val="123000"/>
              </a:lnSpc>
              <a:buNone/>
            </a:pPr>
            <a:r>
              <a:rPr lang="en-US" sz="900" b="1" dirty="0">
                <a:solidFill>
                  <a:srgbClr val="000000"/>
                </a:solidFill>
                <a:latin typeface="Inter Bold" pitchFamily="34" charset="0"/>
                <a:ea typeface="Inter Bold" pitchFamily="34" charset="-122"/>
                <a:cs typeface="Inter Bold" pitchFamily="34" charset="-120"/>
              </a:rPr>
              <a:t>Nota crítica:</a:t>
            </a:r>
            <a:pPr algn="l" indent="0" marL="0">
              <a:lnSpc>
                <a:spcPct val="123000"/>
              </a:lnSpc>
              <a:buNone/>
            </a:pPr>
            <a:r>
              <a:rPr lang="en-US" sz="900" dirty="0">
                <a:solidFill>
                  <a:srgbClr val="000000"/>
                </a:solidFill>
                <a:latin typeface="Inter" pitchFamily="34" charset="0"/>
                <a:ea typeface="Inter" pitchFamily="34" charset="-122"/>
                <a:cs typeface="Inter" pitchFamily="34" charset="-120"/>
              </a:rPr>
              <a:t> Los componentes 2-5 son los más frecuentemente omitidos en estudios de caso IS publicados (Rico, ICSE 2024). Un diseño sin proposiciones tiende a convertirse en descripción sin explicación.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57126"/>
            <a:ext cx="6074494" cy="387548"/>
          </a:xfrm>
          <a:prstGeom prst="rect">
            <a:avLst/>
          </a:prstGeom>
          <a:noFill/>
          <a:ln/>
        </p:spPr>
        <p:txBody>
          <a:bodyPr wrap="none" lIns="0" tIns="0" rIns="0" bIns="0" rtlCol="0" anchor="t"/>
          <a:lstStyle/>
          <a:p>
            <a:pPr algn="l" indent="0" marL="0">
              <a:lnSpc>
                <a:spcPct val="104000"/>
              </a:lnSpc>
              <a:buNone/>
            </a:pPr>
            <a:r>
              <a:rPr lang="en-US" sz="2400" b="1" dirty="0">
                <a:solidFill>
                  <a:srgbClr val="000000"/>
                </a:solidFill>
                <a:latin typeface="Inter Bold" pitchFamily="34" charset="0"/>
                <a:ea typeface="Inter Bold" pitchFamily="34" charset="-122"/>
                <a:cs typeface="Inter Bold" pitchFamily="34" charset="-120"/>
              </a:rPr>
              <a:t>Proposiciones: el Corazón del Diseño</a:t>
            </a:r>
            <a:endParaRPr lang="en-US" sz="2400" dirty="0"/>
          </a:p>
        </p:txBody>
      </p:sp>
      <p:sp>
        <p:nvSpPr>
          <p:cNvPr id="3" name="Text 1"/>
          <p:cNvSpPr/>
          <p:nvPr/>
        </p:nvSpPr>
        <p:spPr>
          <a:xfrm>
            <a:off x="496119" y="1115913"/>
            <a:ext cx="4097908"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Inter Bold" pitchFamily="34" charset="0"/>
                <a:ea typeface="Inter Bold" pitchFamily="34" charset="-122"/>
                <a:cs typeface="Inter Bold" pitchFamily="34" charset="-120"/>
              </a:rPr>
              <a:t>¿Qué es una proposición en un estudio de caso?</a:t>
            </a:r>
            <a:endParaRPr lang="en-US" sz="1200" dirty="0"/>
          </a:p>
        </p:txBody>
      </p:sp>
      <p:sp>
        <p:nvSpPr>
          <p:cNvPr id="4" name="Text 2"/>
          <p:cNvSpPr/>
          <p:nvPr/>
        </p:nvSpPr>
        <p:spPr>
          <a:xfrm>
            <a:off x="496119" y="1418258"/>
            <a:ext cx="3924598" cy="558105"/>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No es una hipótesis estadística (H₀/H₁). Es una </a:t>
            </a:r>
            <a:pPr algn="l" indent="0" marL="0">
              <a:lnSpc>
                <a:spcPct val="125000"/>
              </a:lnSpc>
              <a:buNone/>
            </a:pPr>
            <a:r>
              <a:rPr lang="en-US" sz="950" b="1" dirty="0">
                <a:solidFill>
                  <a:srgbClr val="272525"/>
                </a:solidFill>
                <a:latin typeface="Inter Bold" pitchFamily="34" charset="0"/>
                <a:ea typeface="Inter Bold" pitchFamily="34" charset="-122"/>
                <a:cs typeface="Inter Bold" pitchFamily="34" charset="-120"/>
              </a:rPr>
              <a:t>afirmación orientadora</a:t>
            </a:r>
            <a:pPr algn="l" indent="0" marL="0">
              <a:lnSpc>
                <a:spcPct val="125000"/>
              </a:lnSpc>
              <a:buNone/>
            </a:pPr>
            <a:r>
              <a:rPr lang="en-US" sz="950" dirty="0">
                <a:solidFill>
                  <a:srgbClr val="272525"/>
                </a:solidFill>
                <a:latin typeface="Inter" pitchFamily="34" charset="0"/>
                <a:ea typeface="Inter" pitchFamily="34" charset="-122"/>
                <a:cs typeface="Inter" pitchFamily="34" charset="-120"/>
              </a:rPr>
              <a:t> derivada de la teoría o la práctica que guía qué observar y cómo interpretar los datos.</a:t>
            </a:r>
            <a:endParaRPr lang="en-US" sz="950" dirty="0"/>
          </a:p>
        </p:txBody>
      </p:sp>
      <p:sp>
        <p:nvSpPr>
          <p:cNvPr id="5" name="Text 3"/>
          <p:cNvSpPr/>
          <p:nvPr/>
        </p:nvSpPr>
        <p:spPr>
          <a:xfrm>
            <a:off x="496119" y="2084859"/>
            <a:ext cx="2007766"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Inter Bold" pitchFamily="34" charset="0"/>
                <a:ea typeface="Inter Bold" pitchFamily="34" charset="-122"/>
                <a:cs typeface="Inter Bold" pitchFamily="34" charset="-120"/>
              </a:rPr>
              <a:t>Función:</a:t>
            </a:r>
            <a:endParaRPr lang="en-US" sz="1200" dirty="0"/>
          </a:p>
        </p:txBody>
      </p:sp>
      <p:sp>
        <p:nvSpPr>
          <p:cNvPr id="6" name="Text 4"/>
          <p:cNvSpPr/>
          <p:nvPr/>
        </p:nvSpPr>
        <p:spPr>
          <a:xfrm>
            <a:off x="496119" y="2387203"/>
            <a:ext cx="3924598" cy="820043"/>
          </a:xfrm>
          <a:prstGeom prst="rect">
            <a:avLst/>
          </a:prstGeom>
          <a:noFill/>
          <a:ln/>
        </p:spPr>
        <p:txBody>
          <a:bodyPr wrap="square" lIns="0" tIns="0" rIns="0" bIns="0" rtlCol="0" anchor="t">
            <a:normAutofit/>
          </a:bodyPr>
          <a:lstStyle/>
          <a:p>
            <a:pPr algn="l" marL="193040" indent="-193040">
              <a:lnSpc>
                <a:spcPct val="125000"/>
              </a:lnSpc>
              <a:buSzPct val="100000"/>
              <a:buChar char="•"/>
            </a:pPr>
            <a:r>
              <a:rPr lang="en-US" sz="950" dirty="0">
                <a:solidFill>
                  <a:srgbClr val="272525"/>
                </a:solidFill>
                <a:latin typeface="Inter" pitchFamily="34" charset="0"/>
                <a:ea typeface="Inter" pitchFamily="34" charset="-122"/>
                <a:cs typeface="Inter" pitchFamily="34" charset="-120"/>
              </a:rPr>
              <a:t>Evita que el investigador recolecte "todo" sin criterio</a:t>
            </a:r>
            <a:endParaRPr lang="en-US" sz="950" dirty="0"/>
          </a:p>
          <a:p>
            <a:pPr algn="l" marL="193040" indent="-193040">
              <a:lnSpc>
                <a:spcPct val="125000"/>
              </a:lnSpc>
              <a:buSzPct val="100000"/>
              <a:buChar char="•"/>
            </a:pPr>
            <a:r>
              <a:rPr lang="en-US" sz="950" dirty="0">
                <a:solidFill>
                  <a:srgbClr val="272525"/>
                </a:solidFill>
                <a:latin typeface="Inter" pitchFamily="34" charset="0"/>
                <a:ea typeface="Inter" pitchFamily="34" charset="-122"/>
                <a:cs typeface="Inter" pitchFamily="34" charset="-120"/>
              </a:rPr>
              <a:t>Da dirección analítica antes de entrar al campo</a:t>
            </a:r>
            <a:endParaRPr lang="en-US" sz="950" dirty="0"/>
          </a:p>
          <a:p>
            <a:pPr algn="l" marL="193040" indent="-193040">
              <a:lnSpc>
                <a:spcPct val="125000"/>
              </a:lnSpc>
              <a:buSzPct val="100000"/>
              <a:buChar char="•"/>
            </a:pPr>
            <a:r>
              <a:rPr lang="en-US" sz="950" dirty="0">
                <a:solidFill>
                  <a:srgbClr val="272525"/>
                </a:solidFill>
                <a:latin typeface="Inter" pitchFamily="34" charset="0"/>
                <a:ea typeface="Inter" pitchFamily="34" charset="-122"/>
                <a:cs typeface="Inter" pitchFamily="34" charset="-120"/>
              </a:rPr>
              <a:t>Permite evaluar si los hallazgos confirman, refutan o matizan la expectativa teórica</a:t>
            </a:r>
            <a:endParaRPr lang="en-US" sz="950" dirty="0"/>
          </a:p>
        </p:txBody>
      </p:sp>
      <p:sp>
        <p:nvSpPr>
          <p:cNvPr id="7" name="Text 5"/>
          <p:cNvSpPr/>
          <p:nvPr/>
        </p:nvSpPr>
        <p:spPr>
          <a:xfrm>
            <a:off x="4728046" y="1115913"/>
            <a:ext cx="2223343"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Inter Bold" pitchFamily="34" charset="0"/>
                <a:ea typeface="Inter Bold" pitchFamily="34" charset="-122"/>
                <a:cs typeface="Inter Bold" pitchFamily="34" charset="-120"/>
              </a:rPr>
              <a:t>Tipos de proposiciones</a:t>
            </a:r>
            <a:endParaRPr lang="en-US" sz="1200" dirty="0"/>
          </a:p>
        </p:txBody>
      </p:sp>
      <p:sp>
        <p:nvSpPr>
          <p:cNvPr id="8" name="Shape 6"/>
          <p:cNvSpPr/>
          <p:nvPr/>
        </p:nvSpPr>
        <p:spPr>
          <a:xfrm>
            <a:off x="4728046" y="1431801"/>
            <a:ext cx="3924598" cy="2257127"/>
          </a:xfrm>
          <a:prstGeom prst="roundRect">
            <a:avLst>
              <a:gd name="adj" fmla="val 2308"/>
            </a:avLst>
          </a:prstGeom>
          <a:noFill/>
          <a:ln w="4763">
            <a:solidFill>
              <a:srgbClr val="000000">
                <a:alpha val="8000"/>
              </a:srgbClr>
            </a:solidFill>
            <a:prstDash val="solid"/>
          </a:ln>
        </p:spPr>
      </p:sp>
      <p:sp>
        <p:nvSpPr>
          <p:cNvPr id="9" name="Text 7"/>
          <p:cNvSpPr/>
          <p:nvPr/>
        </p:nvSpPr>
        <p:spPr>
          <a:xfrm>
            <a:off x="4856857" y="1506438"/>
            <a:ext cx="1577132" cy="186035"/>
          </a:xfrm>
          <a:prstGeom prst="rect">
            <a:avLst/>
          </a:prstGeom>
          <a:noFill/>
          <a:ln/>
        </p:spPr>
        <p:txBody>
          <a:bodyPr wrap="none" lIns="0" tIns="0" rIns="0" bIns="0" rtlCol="0" anchor="t"/>
          <a:lstStyle/>
          <a:p>
            <a:pPr algn="l" indent="0" marL="0">
              <a:lnSpc>
                <a:spcPct val="125000"/>
              </a:lnSpc>
              <a:buNone/>
            </a:pPr>
            <a:r>
              <a:rPr lang="en-US" sz="950" b="1" dirty="0">
                <a:solidFill>
                  <a:srgbClr val="272525"/>
                </a:solidFill>
                <a:latin typeface="Inter Bold" pitchFamily="34" charset="0"/>
                <a:ea typeface="Inter Bold" pitchFamily="34" charset="-122"/>
                <a:cs typeface="Inter Bold" pitchFamily="34" charset="-120"/>
              </a:rPr>
              <a:t>Tipo</a:t>
            </a:r>
            <a:endParaRPr lang="en-US" sz="950" dirty="0"/>
          </a:p>
        </p:txBody>
      </p:sp>
      <p:sp>
        <p:nvSpPr>
          <p:cNvPr id="10" name="Text 8"/>
          <p:cNvSpPr/>
          <p:nvPr/>
        </p:nvSpPr>
        <p:spPr>
          <a:xfrm>
            <a:off x="6229499" y="1506438"/>
            <a:ext cx="2751609" cy="186035"/>
          </a:xfrm>
          <a:prstGeom prst="rect">
            <a:avLst/>
          </a:prstGeom>
          <a:noFill/>
          <a:ln/>
        </p:spPr>
        <p:txBody>
          <a:bodyPr wrap="none" lIns="0" tIns="0" rIns="0" bIns="0" rtlCol="0" anchor="t"/>
          <a:lstStyle/>
          <a:p>
            <a:pPr algn="l" indent="0" marL="0">
              <a:lnSpc>
                <a:spcPct val="125000"/>
              </a:lnSpc>
              <a:buNone/>
            </a:pPr>
            <a:r>
              <a:rPr lang="en-US" sz="950" b="1" dirty="0">
                <a:solidFill>
                  <a:srgbClr val="272525"/>
                </a:solidFill>
                <a:latin typeface="Inter Bold" pitchFamily="34" charset="0"/>
                <a:ea typeface="Inter Bold" pitchFamily="34" charset="-122"/>
                <a:cs typeface="Inter Bold" pitchFamily="34" charset="-120"/>
              </a:rPr>
              <a:t>Ejemplo IS</a:t>
            </a:r>
            <a:endParaRPr lang="en-US" sz="950" dirty="0"/>
          </a:p>
        </p:txBody>
      </p:sp>
      <p:sp>
        <p:nvSpPr>
          <p:cNvPr id="11" name="Text 9"/>
          <p:cNvSpPr/>
          <p:nvPr/>
        </p:nvSpPr>
        <p:spPr>
          <a:xfrm>
            <a:off x="4856857" y="1836986"/>
            <a:ext cx="1577132" cy="186035"/>
          </a:xfrm>
          <a:prstGeom prst="rect">
            <a:avLst/>
          </a:prstGeom>
          <a:noFill/>
          <a:ln/>
        </p:spPr>
        <p:txBody>
          <a:bodyPr wrap="none" lIns="0" tIns="0" rIns="0" bIns="0" rtlCol="0" anchor="t"/>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Basada en teoría</a:t>
            </a:r>
            <a:endParaRPr lang="en-US" sz="950" dirty="0"/>
          </a:p>
        </p:txBody>
      </p:sp>
      <p:sp>
        <p:nvSpPr>
          <p:cNvPr id="12" name="Text 10"/>
          <p:cNvSpPr/>
          <p:nvPr/>
        </p:nvSpPr>
        <p:spPr>
          <a:xfrm>
            <a:off x="6229499" y="1836986"/>
            <a:ext cx="2294409" cy="744141"/>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"Según la teoría de difusión de innovaciones (Rogers), la adopción ágil requiere un 'early adopter' interno con autoridad"</a:t>
            </a:r>
            <a:endParaRPr lang="en-US" sz="950" dirty="0"/>
          </a:p>
        </p:txBody>
      </p:sp>
      <p:sp>
        <p:nvSpPr>
          <p:cNvPr id="13" name="Text 11"/>
          <p:cNvSpPr/>
          <p:nvPr/>
        </p:nvSpPr>
        <p:spPr>
          <a:xfrm>
            <a:off x="4856857" y="2725638"/>
            <a:ext cx="1119932"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Basada en práctica</a:t>
            </a:r>
            <a:endParaRPr lang="en-US" sz="950" dirty="0"/>
          </a:p>
        </p:txBody>
      </p:sp>
      <p:sp>
        <p:nvSpPr>
          <p:cNvPr id="14" name="Text 12"/>
          <p:cNvSpPr/>
          <p:nvPr/>
        </p:nvSpPr>
        <p:spPr>
          <a:xfrm>
            <a:off x="6229499" y="2725638"/>
            <a:ext cx="2294409"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"Los equipos que usan CI/CD reportan menos conflictos de integración"</a:t>
            </a:r>
            <a:endParaRPr lang="en-US" sz="950" dirty="0"/>
          </a:p>
        </p:txBody>
      </p:sp>
      <p:sp>
        <p:nvSpPr>
          <p:cNvPr id="15" name="Text 13"/>
          <p:cNvSpPr/>
          <p:nvPr/>
        </p:nvSpPr>
        <p:spPr>
          <a:xfrm>
            <a:off x="4856857" y="3242221"/>
            <a:ext cx="1119932"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Exploratoria (sin proposición)</a:t>
            </a:r>
            <a:endParaRPr lang="en-US" sz="950" dirty="0"/>
          </a:p>
        </p:txBody>
      </p:sp>
      <p:sp>
        <p:nvSpPr>
          <p:cNvPr id="16" name="Text 14"/>
          <p:cNvSpPr/>
          <p:nvPr/>
        </p:nvSpPr>
        <p:spPr>
          <a:xfrm>
            <a:off x="6229499" y="3242221"/>
            <a:ext cx="2294409"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Válida solo en estudios exploratorios puros; se documenta explícitamente</a:t>
            </a:r>
            <a:endParaRPr lang="en-US" sz="950" dirty="0"/>
          </a:p>
        </p:txBody>
      </p:sp>
      <p:sp>
        <p:nvSpPr>
          <p:cNvPr id="17" name="Shape 15"/>
          <p:cNvSpPr/>
          <p:nvPr/>
        </p:nvSpPr>
        <p:spPr>
          <a:xfrm>
            <a:off x="4728046" y="3810967"/>
            <a:ext cx="14288" cy="753368"/>
          </a:xfrm>
          <a:prstGeom prst="roundRect">
            <a:avLst>
              <a:gd name="adj" fmla="val 59998"/>
            </a:avLst>
          </a:prstGeom>
          <a:solidFill>
            <a:srgbClr val="4950BC"/>
          </a:solidFill>
          <a:ln/>
        </p:spPr>
      </p:sp>
      <p:sp>
        <p:nvSpPr>
          <p:cNvPr id="18" name="Text 16"/>
          <p:cNvSpPr/>
          <p:nvPr/>
        </p:nvSpPr>
        <p:spPr>
          <a:xfrm>
            <a:off x="4914081" y="3908599"/>
            <a:ext cx="3738562" cy="558105"/>
          </a:xfrm>
          <a:prstGeom prst="rect">
            <a:avLst/>
          </a:prstGeom>
          <a:noFill/>
          <a:ln/>
        </p:spPr>
        <p:txBody>
          <a:bodyPr wrap="square" lIns="0" tIns="0" rIns="0" bIns="0" rtlCol="0" anchor="t">
            <a:normAutofit/>
          </a:bodyPr>
          <a:lstStyle/>
          <a:p>
            <a:pPr algn="l" indent="0" marL="0">
              <a:lnSpc>
                <a:spcPct val="125000"/>
              </a:lnSpc>
              <a:buNone/>
            </a:pPr>
            <a:r>
              <a:rPr lang="en-US" sz="950" b="1" dirty="0">
                <a:solidFill>
                  <a:srgbClr val="272525"/>
                </a:solidFill>
                <a:latin typeface="Inter Bold" pitchFamily="34" charset="0"/>
                <a:ea typeface="Inter Bold" pitchFamily="34" charset="-122"/>
                <a:cs typeface="Inter Bold" pitchFamily="34" charset="-120"/>
              </a:rPr>
              <a:t>Regla de Runeson &amp; Höst (2009):</a:t>
            </a:r>
            <a:pPr algn="l" indent="0" marL="0">
              <a:lnSpc>
                <a:spcPct val="125000"/>
              </a:lnSpc>
              <a:buNone/>
            </a:pPr>
            <a:r>
              <a:rPr lang="en-US" sz="950" dirty="0">
                <a:solidFill>
                  <a:srgbClr val="272525"/>
                </a:solidFill>
                <a:latin typeface="Inter" pitchFamily="34" charset="0"/>
                <a:ea typeface="Inter" pitchFamily="34" charset="-122"/>
                <a:cs typeface="Inter" pitchFamily="34" charset="-120"/>
              </a:rPr>
              <a:t> Si el estudio es descriptivo o explicativo, debe tener al menos una proposición. Si es exploratorio, puede operar sin ella — pero debe justificarlo.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4028629"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Selección del Caso: Muestreo Intencional</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En estudios de caso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NO se muestrea estadísticamente</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 se selecciona intencionalmente.</a:t>
            </a:r>
            <a:endParaRPr lang="en-US" sz="550" dirty="0"/>
          </a:p>
        </p:txBody>
      </p:sp>
      <p:pic>
        <p:nvPicPr>
          <p:cNvPr id="4" name="Image 0" descr="preencoded.png">    </p:cNvPr>
          <p:cNvPicPr>
            <a:picLocks noChangeAspect="1"/>
          </p:cNvPicPr>
          <p:nvPr/>
        </p:nvPicPr>
        <p:blipFill>
          <a:blip r:embed="rId1"/>
          <a:stretch>
            <a:fillRect/>
          </a:stretch>
        </p:blipFill>
        <p:spPr>
          <a:xfrm>
            <a:off x="496119" y="846832"/>
            <a:ext cx="3989412" cy="3989412"/>
          </a:xfrm>
          <a:prstGeom prst="rect">
            <a:avLst/>
          </a:prstGeom>
        </p:spPr>
      </p:pic>
      <p:sp>
        <p:nvSpPr>
          <p:cNvPr id="5" name="Text 2"/>
          <p:cNvSpPr/>
          <p:nvPr/>
        </p:nvSpPr>
        <p:spPr>
          <a:xfrm>
            <a:off x="4663232" y="2526655"/>
            <a:ext cx="1343174"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Justificación escrita</a:t>
            </a:r>
            <a:endParaRPr lang="en-US" sz="650" dirty="0"/>
          </a:p>
        </p:txBody>
      </p:sp>
      <p:sp>
        <p:nvSpPr>
          <p:cNvPr id="6" name="Text 3"/>
          <p:cNvSpPr/>
          <p:nvPr/>
        </p:nvSpPr>
        <p:spPr>
          <a:xfrm>
            <a:off x="4663232" y="2672804"/>
            <a:ext cx="3989412"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La selección del caso debe documentarse en el protocolo. </a:t>
            </a:r>
            <a:pPr algn="l" indent="0" marL="0">
              <a:lnSpc>
                <a:spcPct val="100000"/>
              </a:lnSpc>
              <a:buNone/>
            </a:pPr>
            <a:r>
              <a:rPr lang="en-US" sz="550" i="1" dirty="0">
                <a:solidFill>
                  <a:srgbClr val="272525"/>
                </a:solidFill>
                <a:latin typeface="Inter" pitchFamily="34" charset="0"/>
                <a:ea typeface="Inter" pitchFamily="34" charset="-122"/>
                <a:cs typeface="Inter" pitchFamily="34" charset="-120"/>
              </a:rPr>
              <a:t>"Elegí esta empresa porque el gerente me dio acceso"</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NO es justificación metodológica.</a:t>
            </a:r>
            <a:endParaRPr lang="en-US" sz="550" dirty="0"/>
          </a:p>
        </p:txBody>
      </p:sp>
      <p:sp>
        <p:nvSpPr>
          <p:cNvPr id="7" name="Shape 4"/>
          <p:cNvSpPr/>
          <p:nvPr/>
        </p:nvSpPr>
        <p:spPr>
          <a:xfrm>
            <a:off x="4663232" y="2882726"/>
            <a:ext cx="3989412" cy="269230"/>
          </a:xfrm>
          <a:prstGeom prst="roundRect">
            <a:avLst>
              <a:gd name="adj" fmla="val 11058"/>
            </a:avLst>
          </a:prstGeom>
          <a:solidFill>
            <a:srgbClr val="B6D6FC"/>
          </a:solidFill>
          <a:ln/>
        </p:spPr>
      </p:sp>
      <p:pic>
        <p:nvPicPr>
          <p:cNvPr id="8" name="Image 1" descr="preencoded.png">    </p:cNvPr>
          <p:cNvPicPr>
            <a:picLocks noChangeAspect="1"/>
          </p:cNvPicPr>
          <p:nvPr/>
        </p:nvPicPr>
        <p:blipFill>
          <a:blip r:embed="rId2"/>
          <a:stretch>
            <a:fillRect/>
          </a:stretch>
        </p:blipFill>
        <p:spPr>
          <a:xfrm>
            <a:off x="4734074" y="2971279"/>
            <a:ext cx="88553" cy="70842"/>
          </a:xfrm>
          <a:prstGeom prst="rect">
            <a:avLst/>
          </a:prstGeom>
        </p:spPr>
      </p:pic>
      <p:sp>
        <p:nvSpPr>
          <p:cNvPr id="9" name="Text 5"/>
          <p:cNvSpPr/>
          <p:nvPr/>
        </p:nvSpPr>
        <p:spPr>
          <a:xfrm>
            <a:off x="4893469" y="2932286"/>
            <a:ext cx="3688333" cy="170111"/>
          </a:xfrm>
          <a:prstGeom prst="rect">
            <a:avLst/>
          </a:prstGeom>
          <a:noFill/>
          <a:ln/>
        </p:spPr>
        <p:txBody>
          <a:bodyPr wrap="square" lIns="0" tIns="0" rIns="0" bIns="0" rtlCol="0" anchor="t">
            <a:normAutofit/>
          </a:bodyPr>
          <a:lstStyle/>
          <a:p>
            <a:pPr algn="l" indent="0" marL="0">
              <a:lnSpc>
                <a:spcPct val="100000"/>
              </a:lnSpc>
              <a:buNone/>
            </a:pPr>
            <a:r>
              <a:rPr lang="en-US" sz="550" b="1" dirty="0">
                <a:solidFill>
                  <a:srgbClr val="000000"/>
                </a:solidFill>
                <a:latin typeface="Inter Bold" pitchFamily="34" charset="0"/>
                <a:ea typeface="Inter Bold" pitchFamily="34" charset="-122"/>
                <a:cs typeface="Inter Bold" pitchFamily="34" charset="-120"/>
              </a:rPr>
              <a:t>Ejemplo real:</a:t>
            </a:r>
            <a:pPr algn="l" indent="0" marL="0">
              <a:lnSpc>
                <a:spcPct val="100000"/>
              </a:lnSpc>
              <a:buNone/>
            </a:pPr>
            <a:r>
              <a:rPr lang="en-US" sz="550" dirty="0">
                <a:solidFill>
                  <a:srgbClr val="000000"/>
                </a:solidFill>
                <a:latin typeface="Inter" pitchFamily="34" charset="0"/>
                <a:ea typeface="Inter" pitchFamily="34" charset="-122"/>
                <a:cs typeface="Inter" pitchFamily="34" charset="-120"/>
              </a:rPr>
              <a:t> Lwakatare et al. (2016) seleccionaron 5 empresas finlandesas de diferentes tamaños para obtener variación intencional en el contexto, no representatividad estadística.</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93427"/>
            <a:ext cx="3402434" cy="235297"/>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Inter Bold" pitchFamily="34" charset="0"/>
                <a:ea typeface="Inter Bold" pitchFamily="34" charset="-122"/>
                <a:cs typeface="Inter Bold" pitchFamily="34" charset="-120"/>
              </a:rPr>
              <a:t>El Protocolo del Estudio de Caso</a:t>
            </a:r>
            <a:endParaRPr lang="en-US" sz="1450" dirty="0"/>
          </a:p>
        </p:txBody>
      </p:sp>
      <p:sp>
        <p:nvSpPr>
          <p:cNvPr id="3" name="Text 1"/>
          <p:cNvSpPr/>
          <p:nvPr/>
        </p:nvSpPr>
        <p:spPr>
          <a:xfrm>
            <a:off x="496119" y="708720"/>
            <a:ext cx="8608963" cy="92199"/>
          </a:xfrm>
          <a:prstGeom prst="rect">
            <a:avLst/>
          </a:prstGeom>
          <a:noFill/>
          <a:ln/>
        </p:spPr>
        <p:txBody>
          <a:bodyPr wrap="none" lIns="0" tIns="0" rIns="0" bIns="0" rtlCol="0" anchor="t"/>
          <a:lstStyle/>
          <a:p>
            <a:pPr algn="l" indent="0" marL="0">
              <a:lnSpc>
                <a:spcPct val="102000"/>
              </a:lnSpc>
              <a:buNone/>
            </a:pPr>
            <a:r>
              <a:rPr lang="en-US" sz="550" dirty="0">
                <a:solidFill>
                  <a:srgbClr val="272525"/>
                </a:solidFill>
                <a:latin typeface="Inter" pitchFamily="34" charset="0"/>
                <a:ea typeface="Inter" pitchFamily="34" charset="-122"/>
                <a:cs typeface="Inter" pitchFamily="34" charset="-120"/>
              </a:rPr>
              <a:t>El protocolo es el documento central de la fase de planificación (Runeson &amp; Höst, 2009).</a:t>
            </a:r>
            <a:endParaRPr lang="en-US" sz="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845865"/>
            <a:ext cx="8151763" cy="509662"/>
          </a:xfrm>
          <a:prstGeom prst="rect">
            <a:avLst/>
          </a:prstGeom>
        </p:spPr>
      </p:pic>
      <p:sp>
        <p:nvSpPr>
          <p:cNvPr id="5" name="Text 2"/>
          <p:cNvSpPr/>
          <p:nvPr/>
        </p:nvSpPr>
        <p:spPr>
          <a:xfrm>
            <a:off x="597396" y="1030114"/>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1</a:t>
            </a:r>
            <a:endParaRPr lang="en-US" sz="850" dirty="0"/>
          </a:p>
        </p:txBody>
      </p:sp>
      <p:sp>
        <p:nvSpPr>
          <p:cNvPr id="6" name="Text 3"/>
          <p:cNvSpPr/>
          <p:nvPr/>
        </p:nvSpPr>
        <p:spPr>
          <a:xfrm>
            <a:off x="846832" y="930697"/>
            <a:ext cx="945282"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Contexto y objetivos</a:t>
            </a:r>
            <a:endParaRPr lang="en-US" sz="700" dirty="0"/>
          </a:p>
        </p:txBody>
      </p:sp>
      <p:sp>
        <p:nvSpPr>
          <p:cNvPr id="7" name="Text 4"/>
          <p:cNvSpPr/>
          <p:nvPr/>
        </p:nvSpPr>
        <p:spPr>
          <a:xfrm>
            <a:off x="846832" y="1072307"/>
            <a:ext cx="7716217" cy="198388"/>
          </a:xfrm>
          <a:prstGeom prst="rect">
            <a:avLst/>
          </a:prstGeom>
          <a:noFill/>
          <a:ln/>
        </p:spPr>
        <p:txBody>
          <a:bodyPr wrap="square" lIns="0" tIns="0" rIns="0" bIns="0" rtlCol="0" anchor="t">
            <a:normAutofit/>
          </a:bodyPr>
          <a:lstStyle/>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Descripción del caso seleccionado</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Propósito y justificación metodológica</a:t>
            </a:r>
            <a:endParaRPr lang="en-US" sz="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395487"/>
            <a:ext cx="8151763" cy="451842"/>
          </a:xfrm>
          <a:prstGeom prst="rect">
            <a:avLst/>
          </a:prstGeom>
        </p:spPr>
      </p:pic>
      <p:sp>
        <p:nvSpPr>
          <p:cNvPr id="9" name="Text 5"/>
          <p:cNvSpPr/>
          <p:nvPr/>
        </p:nvSpPr>
        <p:spPr>
          <a:xfrm>
            <a:off x="597396" y="1550789"/>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2</a:t>
            </a:r>
            <a:endParaRPr lang="en-US" sz="850" dirty="0"/>
          </a:p>
        </p:txBody>
      </p:sp>
      <p:sp>
        <p:nvSpPr>
          <p:cNvPr id="10" name="Text 6"/>
          <p:cNvSpPr/>
          <p:nvPr/>
        </p:nvSpPr>
        <p:spPr>
          <a:xfrm>
            <a:off x="846832" y="1480319"/>
            <a:ext cx="2003599"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Preguntas de investigación y proposiciones</a:t>
            </a:r>
            <a:endParaRPr lang="en-US" sz="700" dirty="0"/>
          </a:p>
        </p:txBody>
      </p:sp>
      <p:sp>
        <p:nvSpPr>
          <p:cNvPr id="11" name="Text 7"/>
          <p:cNvSpPr/>
          <p:nvPr/>
        </p:nvSpPr>
        <p:spPr>
          <a:xfrm>
            <a:off x="846832" y="1621929"/>
            <a:ext cx="7716217" cy="92199"/>
          </a:xfrm>
          <a:prstGeom prst="rect">
            <a:avLst/>
          </a:prstGeom>
          <a:noFill/>
          <a:ln/>
        </p:spPr>
        <p:txBody>
          <a:bodyPr wrap="none" lIns="0" tIns="0" rIns="0" bIns="0" rtlCol="0" anchor="t"/>
          <a:lstStyle/>
          <a:p>
            <a:pPr algn="l" indent="0" marL="0">
              <a:lnSpc>
                <a:spcPct val="102000"/>
              </a:lnSpc>
              <a:buNone/>
            </a:pPr>
            <a:r>
              <a:rPr lang="en-US" sz="550" dirty="0">
                <a:solidFill>
                  <a:srgbClr val="272525"/>
                </a:solidFill>
                <a:latin typeface="Inter" pitchFamily="34" charset="0"/>
                <a:ea typeface="Inter" pitchFamily="34" charset="-122"/>
                <a:cs typeface="Inter" pitchFamily="34" charset="-120"/>
              </a:rPr>
              <a:t>Listadas explícitamente con su vínculo al marco teórico</a:t>
            </a:r>
            <a:endParaRPr lang="en-US" sz="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1887289"/>
            <a:ext cx="8151763" cy="451842"/>
          </a:xfrm>
          <a:prstGeom prst="rect">
            <a:avLst/>
          </a:prstGeom>
        </p:spPr>
      </p:pic>
      <p:sp>
        <p:nvSpPr>
          <p:cNvPr id="13" name="Text 8"/>
          <p:cNvSpPr/>
          <p:nvPr/>
        </p:nvSpPr>
        <p:spPr>
          <a:xfrm>
            <a:off x="597396" y="2042592"/>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3</a:t>
            </a:r>
            <a:endParaRPr lang="en-US" sz="850" dirty="0"/>
          </a:p>
        </p:txBody>
      </p:sp>
      <p:sp>
        <p:nvSpPr>
          <p:cNvPr id="14" name="Text 9"/>
          <p:cNvSpPr/>
          <p:nvPr/>
        </p:nvSpPr>
        <p:spPr>
          <a:xfrm>
            <a:off x="846832" y="1972121"/>
            <a:ext cx="1014710"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Unidad(es) de análisis</a:t>
            </a:r>
            <a:endParaRPr lang="en-US" sz="700" dirty="0"/>
          </a:p>
        </p:txBody>
      </p:sp>
      <p:sp>
        <p:nvSpPr>
          <p:cNvPr id="15" name="Text 10"/>
          <p:cNvSpPr/>
          <p:nvPr/>
        </p:nvSpPr>
        <p:spPr>
          <a:xfrm>
            <a:off x="846832" y="2113731"/>
            <a:ext cx="7716217" cy="92199"/>
          </a:xfrm>
          <a:prstGeom prst="rect">
            <a:avLst/>
          </a:prstGeom>
          <a:noFill/>
          <a:ln/>
        </p:spPr>
        <p:txBody>
          <a:bodyPr wrap="none" lIns="0" tIns="0" rIns="0" bIns="0" rtlCol="0" anchor="t"/>
          <a:lstStyle/>
          <a:p>
            <a:pPr algn="l" indent="0" marL="0">
              <a:lnSpc>
                <a:spcPct val="102000"/>
              </a:lnSpc>
              <a:buNone/>
            </a:pPr>
            <a:r>
              <a:rPr lang="en-US" sz="550" dirty="0">
                <a:solidFill>
                  <a:srgbClr val="272525"/>
                </a:solidFill>
                <a:latin typeface="Inter" pitchFamily="34" charset="0"/>
                <a:ea typeface="Inter" pitchFamily="34" charset="-122"/>
                <a:cs typeface="Inter" pitchFamily="34" charset="-120"/>
              </a:rPr>
              <a:t>¿Qué se estudia? ¿A qué nivel? (equipo / proyecto / organización)</a:t>
            </a:r>
            <a:endParaRPr lang="en-US" sz="5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2379092"/>
            <a:ext cx="8151763" cy="722040"/>
          </a:xfrm>
          <a:prstGeom prst="rect">
            <a:avLst/>
          </a:prstGeom>
        </p:spPr>
      </p:pic>
      <p:sp>
        <p:nvSpPr>
          <p:cNvPr id="17" name="Text 11"/>
          <p:cNvSpPr/>
          <p:nvPr/>
        </p:nvSpPr>
        <p:spPr>
          <a:xfrm>
            <a:off x="597396" y="2669530"/>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4</a:t>
            </a:r>
            <a:endParaRPr lang="en-US" sz="850" dirty="0"/>
          </a:p>
        </p:txBody>
      </p:sp>
      <p:sp>
        <p:nvSpPr>
          <p:cNvPr id="18" name="Text 12"/>
          <p:cNvSpPr/>
          <p:nvPr/>
        </p:nvSpPr>
        <p:spPr>
          <a:xfrm>
            <a:off x="846832" y="2463924"/>
            <a:ext cx="1559719"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Fuentes de evidencia planificadas</a:t>
            </a:r>
            <a:endParaRPr lang="en-US" sz="700" dirty="0"/>
          </a:p>
        </p:txBody>
      </p:sp>
      <p:sp>
        <p:nvSpPr>
          <p:cNvPr id="19" name="Text 13"/>
          <p:cNvSpPr/>
          <p:nvPr/>
        </p:nvSpPr>
        <p:spPr>
          <a:xfrm>
            <a:off x="846832" y="2605534"/>
            <a:ext cx="7716217" cy="410766"/>
          </a:xfrm>
          <a:prstGeom prst="rect">
            <a:avLst/>
          </a:prstGeom>
          <a:noFill/>
          <a:ln/>
        </p:spPr>
        <p:txBody>
          <a:bodyPr wrap="square" lIns="0" tIns="0" rIns="0" bIns="0" rtlCol="0" anchor="t">
            <a:normAutofit/>
          </a:bodyPr>
          <a:lstStyle/>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Entrevistas: ¿a quién?, ¿cuántas?, ¿qué guión?</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Documentos: ¿cuáles? ¿cómo se recolectan?</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Observación: ¿cuándo?, ¿qué se observa?</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Métricas / artefactos de código: ¿qué herramientas?</a:t>
            </a:r>
            <a:endParaRPr lang="en-US" sz="55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3141092"/>
            <a:ext cx="8151763" cy="509662"/>
          </a:xfrm>
          <a:prstGeom prst="rect">
            <a:avLst/>
          </a:prstGeom>
        </p:spPr>
      </p:pic>
      <p:sp>
        <p:nvSpPr>
          <p:cNvPr id="21" name="Text 14"/>
          <p:cNvSpPr/>
          <p:nvPr/>
        </p:nvSpPr>
        <p:spPr>
          <a:xfrm>
            <a:off x="597396" y="3325341"/>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5</a:t>
            </a:r>
            <a:endParaRPr lang="en-US" sz="850" dirty="0"/>
          </a:p>
        </p:txBody>
      </p:sp>
      <p:sp>
        <p:nvSpPr>
          <p:cNvPr id="22" name="Text 15"/>
          <p:cNvSpPr/>
          <p:nvPr/>
        </p:nvSpPr>
        <p:spPr>
          <a:xfrm>
            <a:off x="846832" y="3225924"/>
            <a:ext cx="1194197"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Procedimientos de campo</a:t>
            </a:r>
            <a:endParaRPr lang="en-US" sz="700" dirty="0"/>
          </a:p>
        </p:txBody>
      </p:sp>
      <p:sp>
        <p:nvSpPr>
          <p:cNvPr id="23" name="Text 16"/>
          <p:cNvSpPr/>
          <p:nvPr/>
        </p:nvSpPr>
        <p:spPr>
          <a:xfrm>
            <a:off x="846832" y="3367534"/>
            <a:ext cx="7716217" cy="198388"/>
          </a:xfrm>
          <a:prstGeom prst="rect">
            <a:avLst/>
          </a:prstGeom>
          <a:noFill/>
          <a:ln/>
        </p:spPr>
        <p:txBody>
          <a:bodyPr wrap="square" lIns="0" tIns="0" rIns="0" bIns="0" rtlCol="0" anchor="t">
            <a:normAutofit/>
          </a:bodyPr>
          <a:lstStyle/>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Cronograma de visitas/sesiones</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Roles (investigador principal, observador, transcriptor)</a:t>
            </a:r>
            <a:endParaRPr lang="en-US" sz="5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119" y="3690714"/>
            <a:ext cx="8151763" cy="509662"/>
          </a:xfrm>
          <a:prstGeom prst="rect">
            <a:avLst/>
          </a:prstGeom>
        </p:spPr>
      </p:pic>
      <p:sp>
        <p:nvSpPr>
          <p:cNvPr id="25" name="Text 17"/>
          <p:cNvSpPr/>
          <p:nvPr/>
        </p:nvSpPr>
        <p:spPr>
          <a:xfrm>
            <a:off x="597396" y="3874963"/>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6</a:t>
            </a:r>
            <a:endParaRPr lang="en-US" sz="850" dirty="0"/>
          </a:p>
        </p:txBody>
      </p:sp>
      <p:sp>
        <p:nvSpPr>
          <p:cNvPr id="26" name="Text 18"/>
          <p:cNvSpPr/>
          <p:nvPr/>
        </p:nvSpPr>
        <p:spPr>
          <a:xfrm>
            <a:off x="846832" y="3775546"/>
            <a:ext cx="974452"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Estrategia de análisis</a:t>
            </a:r>
            <a:endParaRPr lang="en-US" sz="700" dirty="0"/>
          </a:p>
        </p:txBody>
      </p:sp>
      <p:sp>
        <p:nvSpPr>
          <p:cNvPr id="27" name="Text 19"/>
          <p:cNvSpPr/>
          <p:nvPr/>
        </p:nvSpPr>
        <p:spPr>
          <a:xfrm>
            <a:off x="846832" y="3917156"/>
            <a:ext cx="7716217" cy="198388"/>
          </a:xfrm>
          <a:prstGeom prst="rect">
            <a:avLst/>
          </a:prstGeom>
          <a:noFill/>
          <a:ln/>
        </p:spPr>
        <p:txBody>
          <a:bodyPr wrap="square" lIns="0" tIns="0" rIns="0" bIns="0" rtlCol="0" anchor="t">
            <a:normAutofit/>
          </a:bodyPr>
          <a:lstStyle/>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¿Cómo se codificarán los datos?</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¿Cómo se triangulará la evidencia?</a:t>
            </a:r>
            <a:endParaRPr lang="en-US" sz="550" dirty="0"/>
          </a:p>
        </p:txBody>
      </p:sp>
      <p:pic>
        <p:nvPicPr>
          <p:cNvPr id="2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119" y="4240337"/>
            <a:ext cx="8151763" cy="509662"/>
          </a:xfrm>
          <a:prstGeom prst="rect">
            <a:avLst/>
          </a:prstGeom>
        </p:spPr>
      </p:pic>
      <p:sp>
        <p:nvSpPr>
          <p:cNvPr id="29" name="Text 20"/>
          <p:cNvSpPr/>
          <p:nvPr/>
        </p:nvSpPr>
        <p:spPr>
          <a:xfrm>
            <a:off x="597396" y="4424586"/>
            <a:ext cx="112961" cy="141163"/>
          </a:xfrm>
          <a:prstGeom prst="rect">
            <a:avLst/>
          </a:prstGeom>
          <a:noFill/>
          <a:ln/>
        </p:spPr>
        <p:txBody>
          <a:bodyPr wrap="none" lIns="0" tIns="0" rIns="0" bIns="0" rtlCol="0" anchor="ctr"/>
          <a:lstStyle/>
          <a:p>
            <a:pPr algn="ctr" indent="0" marL="0">
              <a:lnSpc>
                <a:spcPct val="100000"/>
              </a:lnSpc>
              <a:buNone/>
            </a:pPr>
            <a:r>
              <a:rPr lang="en-US" sz="850" b="1" dirty="0">
                <a:solidFill>
                  <a:srgbClr val="272525"/>
                </a:solidFill>
                <a:latin typeface="Inter Bold" pitchFamily="34" charset="0"/>
                <a:ea typeface="Inter Bold" pitchFamily="34" charset="-122"/>
                <a:cs typeface="Inter Bold" pitchFamily="34" charset="-120"/>
              </a:rPr>
              <a:t>7</a:t>
            </a:r>
            <a:endParaRPr lang="en-US" sz="850" dirty="0"/>
          </a:p>
        </p:txBody>
      </p:sp>
      <p:sp>
        <p:nvSpPr>
          <p:cNvPr id="30" name="Text 21"/>
          <p:cNvSpPr/>
          <p:nvPr/>
        </p:nvSpPr>
        <p:spPr>
          <a:xfrm>
            <a:off x="846832" y="4325169"/>
            <a:ext cx="941412" cy="117649"/>
          </a:xfrm>
          <a:prstGeom prst="rect">
            <a:avLst/>
          </a:prstGeom>
          <a:noFill/>
          <a:ln/>
        </p:spPr>
        <p:txBody>
          <a:bodyPr wrap="none" lIns="0" tIns="0" rIns="0" bIns="0" rtlCol="0" anchor="t"/>
          <a:lstStyle/>
          <a:p>
            <a:pPr algn="l" indent="0" marL="0">
              <a:lnSpc>
                <a:spcPct val="104000"/>
              </a:lnSpc>
              <a:buNone/>
            </a:pPr>
            <a:r>
              <a:rPr lang="en-US" sz="700" b="1" dirty="0">
                <a:solidFill>
                  <a:srgbClr val="272525"/>
                </a:solidFill>
                <a:latin typeface="Inter Bold" pitchFamily="34" charset="0"/>
                <a:ea typeface="Inter Bold" pitchFamily="34" charset="-122"/>
                <a:cs typeface="Inter Bold" pitchFamily="34" charset="-120"/>
              </a:rPr>
              <a:t>Validez y ética</a:t>
            </a:r>
            <a:endParaRPr lang="en-US" sz="700" dirty="0"/>
          </a:p>
        </p:txBody>
      </p:sp>
      <p:sp>
        <p:nvSpPr>
          <p:cNvPr id="31" name="Text 22"/>
          <p:cNvSpPr/>
          <p:nvPr/>
        </p:nvSpPr>
        <p:spPr>
          <a:xfrm>
            <a:off x="846832" y="4466779"/>
            <a:ext cx="7716217" cy="198388"/>
          </a:xfrm>
          <a:prstGeom prst="rect">
            <a:avLst/>
          </a:prstGeom>
          <a:noFill/>
          <a:ln/>
        </p:spPr>
        <p:txBody>
          <a:bodyPr wrap="square" lIns="0" tIns="0" rIns="0" bIns="0" rtlCol="0" anchor="t">
            <a:normAutofit/>
          </a:bodyPr>
          <a:lstStyle/>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Amenazas anticipadas y mitigaciones</a:t>
            </a:r>
            <a:endParaRPr lang="en-US" sz="550" dirty="0"/>
          </a:p>
          <a:p>
            <a:pPr algn="l" marL="111760" indent="-111760">
              <a:lnSpc>
                <a:spcPct val="102000"/>
              </a:lnSpc>
              <a:buSzPct val="100000"/>
              <a:buChar char="•"/>
            </a:pPr>
            <a:r>
              <a:rPr lang="en-US" sz="550" dirty="0">
                <a:solidFill>
                  <a:srgbClr val="272525"/>
                </a:solidFill>
                <a:latin typeface="Inter" pitchFamily="34" charset="0"/>
                <a:ea typeface="Inter" pitchFamily="34" charset="-122"/>
                <a:cs typeface="Inter" pitchFamily="34" charset="-120"/>
              </a:rPr>
              <a:t>Consideraciones éticas</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5362"/>
            <a:ext cx="4646265" cy="283741"/>
          </a:xfrm>
          <a:prstGeom prst="rect">
            <a:avLst/>
          </a:prstGeom>
          <a:noFill/>
          <a:ln/>
        </p:spPr>
        <p:txBody>
          <a:bodyPr wrap="none" lIns="0" tIns="0" rIns="0" bIns="0" rtlCol="0" anchor="t"/>
          <a:lstStyle/>
          <a:p>
            <a:pPr algn="l" indent="0" marL="0">
              <a:lnSpc>
                <a:spcPct val="104000"/>
              </a:lnSpc>
              <a:buNone/>
            </a:pPr>
            <a:r>
              <a:rPr lang="en-US" sz="1750" b="1" dirty="0">
                <a:solidFill>
                  <a:srgbClr val="000000"/>
                </a:solidFill>
                <a:latin typeface="Inter Bold" pitchFamily="34" charset="0"/>
                <a:ea typeface="Inter Bold" pitchFamily="34" charset="-122"/>
                <a:cs typeface="Inter Bold" pitchFamily="34" charset="-120"/>
              </a:rPr>
              <a:t>Acceso y Ética en Estudios de Caso IS</a:t>
            </a:r>
            <a:endParaRPr lang="en-US" sz="1750" dirty="0"/>
          </a:p>
        </p:txBody>
      </p:sp>
      <p:sp>
        <p:nvSpPr>
          <p:cNvPr id="3" name="Text 1"/>
          <p:cNvSpPr/>
          <p:nvPr/>
        </p:nvSpPr>
        <p:spPr>
          <a:xfrm>
            <a:off x="496119" y="795412"/>
            <a:ext cx="860896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El acceso al caso no es automático — se negocia y se documenta.</a:t>
            </a:r>
            <a:endParaRPr lang="en-US" sz="700" dirty="0"/>
          </a:p>
        </p:txBody>
      </p:sp>
      <p:sp>
        <p:nvSpPr>
          <p:cNvPr id="4" name="Text 2"/>
          <p:cNvSpPr/>
          <p:nvPr/>
        </p:nvSpPr>
        <p:spPr>
          <a:xfrm>
            <a:off x="496119" y="1038076"/>
            <a:ext cx="1592387"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Proceso de acceso</a:t>
            </a:r>
            <a:endParaRPr lang="en-US" sz="850" dirty="0"/>
          </a:p>
        </p:txBody>
      </p:sp>
      <p:sp>
        <p:nvSpPr>
          <p:cNvPr id="5" name="Text 3"/>
          <p:cNvSpPr/>
          <p:nvPr/>
        </p:nvSpPr>
        <p:spPr>
          <a:xfrm>
            <a:off x="496119" y="1245394"/>
            <a:ext cx="181570" cy="113481"/>
          </a:xfrm>
          <a:prstGeom prst="rect">
            <a:avLst/>
          </a:prstGeom>
          <a:noFill/>
          <a:ln/>
        </p:spPr>
        <p:txBody>
          <a:bodyPr wrap="none" lIns="0" tIns="0" rIns="0" bIns="0" rtlCol="0" anchor="ctr"/>
          <a:lstStyle/>
          <a:p>
            <a:pPr algn="l" indent="0" marL="0">
              <a:lnSpc>
                <a:spcPct val="100000"/>
              </a:lnSpc>
              <a:buNone/>
            </a:pPr>
            <a:r>
              <a:rPr lang="en-US" sz="700" dirty="0">
                <a:solidFill>
                  <a:srgbClr val="272525"/>
                </a:solidFill>
                <a:latin typeface="Inter Light" pitchFamily="34" charset="0"/>
                <a:ea typeface="Inter Light" pitchFamily="34" charset="-122"/>
                <a:cs typeface="Inter Light" pitchFamily="34" charset="-120"/>
              </a:rPr>
              <a:t>01</a:t>
            </a:r>
            <a:endParaRPr lang="en-US" sz="700" dirty="0"/>
          </a:p>
        </p:txBody>
      </p:sp>
      <p:sp>
        <p:nvSpPr>
          <p:cNvPr id="6" name="Shape 4"/>
          <p:cNvSpPr/>
          <p:nvPr/>
        </p:nvSpPr>
        <p:spPr>
          <a:xfrm>
            <a:off x="496119" y="1390204"/>
            <a:ext cx="3965153" cy="9525"/>
          </a:xfrm>
          <a:prstGeom prst="rect">
            <a:avLst/>
          </a:prstGeom>
          <a:solidFill>
            <a:srgbClr val="4950BC"/>
          </a:solidFill>
          <a:ln/>
        </p:spPr>
      </p:sp>
      <p:sp>
        <p:nvSpPr>
          <p:cNvPr id="7" name="Text 5"/>
          <p:cNvSpPr/>
          <p:nvPr/>
        </p:nvSpPr>
        <p:spPr>
          <a:xfrm>
            <a:off x="496119" y="1454646"/>
            <a:ext cx="396515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Identificar el caso y contactar a la organización</a:t>
            </a:r>
            <a:endParaRPr lang="en-US" sz="700" dirty="0"/>
          </a:p>
        </p:txBody>
      </p:sp>
      <p:sp>
        <p:nvSpPr>
          <p:cNvPr id="8" name="Text 6"/>
          <p:cNvSpPr/>
          <p:nvPr/>
        </p:nvSpPr>
        <p:spPr>
          <a:xfrm>
            <a:off x="496119" y="1699989"/>
            <a:ext cx="181570" cy="113481"/>
          </a:xfrm>
          <a:prstGeom prst="rect">
            <a:avLst/>
          </a:prstGeom>
          <a:noFill/>
          <a:ln/>
        </p:spPr>
        <p:txBody>
          <a:bodyPr wrap="none" lIns="0" tIns="0" rIns="0" bIns="0" rtlCol="0" anchor="ctr"/>
          <a:lstStyle/>
          <a:p>
            <a:pPr algn="l" indent="0" marL="0">
              <a:lnSpc>
                <a:spcPct val="100000"/>
              </a:lnSpc>
              <a:buNone/>
            </a:pPr>
            <a:r>
              <a:rPr lang="en-US" sz="700" dirty="0">
                <a:solidFill>
                  <a:srgbClr val="272525"/>
                </a:solidFill>
                <a:latin typeface="Inter Light" pitchFamily="34" charset="0"/>
                <a:ea typeface="Inter Light" pitchFamily="34" charset="-122"/>
                <a:cs typeface="Inter Light" pitchFamily="34" charset="-120"/>
              </a:rPr>
              <a:t>02</a:t>
            </a:r>
            <a:endParaRPr lang="en-US" sz="700" dirty="0"/>
          </a:p>
        </p:txBody>
      </p:sp>
      <p:sp>
        <p:nvSpPr>
          <p:cNvPr id="9" name="Shape 7"/>
          <p:cNvSpPr/>
          <p:nvPr/>
        </p:nvSpPr>
        <p:spPr>
          <a:xfrm>
            <a:off x="496119" y="1844799"/>
            <a:ext cx="3965153" cy="9525"/>
          </a:xfrm>
          <a:prstGeom prst="rect">
            <a:avLst/>
          </a:prstGeom>
          <a:solidFill>
            <a:srgbClr val="4950BC"/>
          </a:solidFill>
          <a:ln/>
        </p:spPr>
      </p:sp>
      <p:sp>
        <p:nvSpPr>
          <p:cNvPr id="10" name="Text 8"/>
          <p:cNvSpPr/>
          <p:nvPr/>
        </p:nvSpPr>
        <p:spPr>
          <a:xfrm>
            <a:off x="496119" y="1909242"/>
            <a:ext cx="396515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Presentar el estudio: objetivos, métodos, compromisos (¿qué obtendrán ellos?)</a:t>
            </a:r>
            <a:endParaRPr lang="en-US" sz="700" dirty="0"/>
          </a:p>
        </p:txBody>
      </p:sp>
      <p:sp>
        <p:nvSpPr>
          <p:cNvPr id="11" name="Text 9"/>
          <p:cNvSpPr/>
          <p:nvPr/>
        </p:nvSpPr>
        <p:spPr>
          <a:xfrm>
            <a:off x="496119" y="2154585"/>
            <a:ext cx="181570" cy="113481"/>
          </a:xfrm>
          <a:prstGeom prst="rect">
            <a:avLst/>
          </a:prstGeom>
          <a:noFill/>
          <a:ln/>
        </p:spPr>
        <p:txBody>
          <a:bodyPr wrap="none" lIns="0" tIns="0" rIns="0" bIns="0" rtlCol="0" anchor="ctr"/>
          <a:lstStyle/>
          <a:p>
            <a:pPr algn="l" indent="0" marL="0">
              <a:lnSpc>
                <a:spcPct val="100000"/>
              </a:lnSpc>
              <a:buNone/>
            </a:pPr>
            <a:r>
              <a:rPr lang="en-US" sz="700" dirty="0">
                <a:solidFill>
                  <a:srgbClr val="272525"/>
                </a:solidFill>
                <a:latin typeface="Inter Light" pitchFamily="34" charset="0"/>
                <a:ea typeface="Inter Light" pitchFamily="34" charset="-122"/>
                <a:cs typeface="Inter Light" pitchFamily="34" charset="-120"/>
              </a:rPr>
              <a:t>03</a:t>
            </a:r>
            <a:endParaRPr lang="en-US" sz="700" dirty="0"/>
          </a:p>
        </p:txBody>
      </p:sp>
      <p:sp>
        <p:nvSpPr>
          <p:cNvPr id="12" name="Shape 10"/>
          <p:cNvSpPr/>
          <p:nvPr/>
        </p:nvSpPr>
        <p:spPr>
          <a:xfrm>
            <a:off x="496119" y="2299395"/>
            <a:ext cx="3965153" cy="9525"/>
          </a:xfrm>
          <a:prstGeom prst="rect">
            <a:avLst/>
          </a:prstGeom>
          <a:solidFill>
            <a:srgbClr val="4950BC"/>
          </a:solidFill>
          <a:ln/>
        </p:spPr>
      </p:sp>
      <p:sp>
        <p:nvSpPr>
          <p:cNvPr id="13" name="Text 11"/>
          <p:cNvSpPr/>
          <p:nvPr/>
        </p:nvSpPr>
        <p:spPr>
          <a:xfrm>
            <a:off x="496119" y="2363837"/>
            <a:ext cx="396515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Firmar acuerdos formales antes de iniciar</a:t>
            </a:r>
            <a:endParaRPr lang="en-US" sz="700" dirty="0"/>
          </a:p>
        </p:txBody>
      </p:sp>
      <p:sp>
        <p:nvSpPr>
          <p:cNvPr id="14" name="Text 12"/>
          <p:cNvSpPr/>
          <p:nvPr/>
        </p:nvSpPr>
        <p:spPr>
          <a:xfrm>
            <a:off x="496119" y="2616473"/>
            <a:ext cx="2740447"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Principios éticos IS (Runeson et al., 2012)</a:t>
            </a:r>
            <a:endParaRPr lang="en-US" sz="850" dirty="0"/>
          </a:p>
        </p:txBody>
      </p:sp>
      <p:sp>
        <p:nvSpPr>
          <p:cNvPr id="15" name="Shape 13"/>
          <p:cNvSpPr/>
          <p:nvPr/>
        </p:nvSpPr>
        <p:spPr>
          <a:xfrm>
            <a:off x="496119" y="2823790"/>
            <a:ext cx="1953518" cy="840804"/>
          </a:xfrm>
          <a:prstGeom prst="roundRect">
            <a:avLst>
              <a:gd name="adj" fmla="val 4537"/>
            </a:avLst>
          </a:prstGeom>
          <a:solidFill>
            <a:srgbClr val="DADBF1"/>
          </a:solidFill>
          <a:ln w="4763">
            <a:solidFill>
              <a:srgbClr val="C0C1D7"/>
            </a:solidFill>
            <a:prstDash val="solid"/>
          </a:ln>
        </p:spPr>
      </p:sp>
      <p:sp>
        <p:nvSpPr>
          <p:cNvPr id="16" name="Shape 14"/>
          <p:cNvSpPr/>
          <p:nvPr/>
        </p:nvSpPr>
        <p:spPr>
          <a:xfrm>
            <a:off x="591666" y="2919338"/>
            <a:ext cx="272430" cy="272430"/>
          </a:xfrm>
          <a:prstGeom prst="roundRect">
            <a:avLst>
              <a:gd name="adj" fmla="val 20975768"/>
            </a:avLst>
          </a:prstGeom>
          <a:solidFill>
            <a:srgbClr val="4950BC"/>
          </a:solidFill>
          <a:ln/>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6601" y="2994273"/>
            <a:ext cx="122560" cy="122560"/>
          </a:xfrm>
          <a:prstGeom prst="rect">
            <a:avLst/>
          </a:prstGeom>
        </p:spPr>
      </p:pic>
      <p:sp>
        <p:nvSpPr>
          <p:cNvPr id="18" name="Text 15"/>
          <p:cNvSpPr/>
          <p:nvPr/>
        </p:nvSpPr>
        <p:spPr>
          <a:xfrm>
            <a:off x="591666" y="3249885"/>
            <a:ext cx="1135187" cy="141908"/>
          </a:xfrm>
          <a:prstGeom prst="rect">
            <a:avLst/>
          </a:prstGeom>
          <a:noFill/>
          <a:ln/>
        </p:spPr>
        <p:txBody>
          <a:bodyPr wrap="none" lIns="0" tIns="0" rIns="0" bIns="0" rtlCol="0" anchor="t"/>
          <a:lstStyle/>
          <a:p>
            <a:pPr algn="l" indent="0" marL="0">
              <a:lnSpc>
                <a:spcPct val="104000"/>
              </a:lnSpc>
              <a:buNone/>
            </a:pPr>
            <a:r>
              <a:rPr lang="en-US" sz="850" b="1" dirty="0">
                <a:solidFill>
                  <a:srgbClr val="272525"/>
                </a:solidFill>
                <a:latin typeface="Inter Bold" pitchFamily="34" charset="0"/>
                <a:ea typeface="Inter Bold" pitchFamily="34" charset="-122"/>
                <a:cs typeface="Inter Bold" pitchFamily="34" charset="-120"/>
              </a:rPr>
              <a:t>Voluntariedad</a:t>
            </a:r>
            <a:endParaRPr lang="en-US" sz="850" dirty="0"/>
          </a:p>
        </p:txBody>
      </p:sp>
      <p:sp>
        <p:nvSpPr>
          <p:cNvPr id="19" name="Text 16"/>
          <p:cNvSpPr/>
          <p:nvPr/>
        </p:nvSpPr>
        <p:spPr>
          <a:xfrm>
            <a:off x="591666" y="3449910"/>
            <a:ext cx="176242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Ningún participante es obligado</a:t>
            </a:r>
            <a:endParaRPr lang="en-US" sz="700" dirty="0"/>
          </a:p>
        </p:txBody>
      </p:sp>
      <p:sp>
        <p:nvSpPr>
          <p:cNvPr id="20" name="Shape 17"/>
          <p:cNvSpPr/>
          <p:nvPr/>
        </p:nvSpPr>
        <p:spPr>
          <a:xfrm>
            <a:off x="2507754" y="2823790"/>
            <a:ext cx="1953518" cy="840804"/>
          </a:xfrm>
          <a:prstGeom prst="roundRect">
            <a:avLst>
              <a:gd name="adj" fmla="val 4537"/>
            </a:avLst>
          </a:prstGeom>
          <a:solidFill>
            <a:srgbClr val="DADBF1"/>
          </a:solidFill>
          <a:ln w="4763">
            <a:solidFill>
              <a:srgbClr val="C0C1D7"/>
            </a:solidFill>
            <a:prstDash val="solid"/>
          </a:ln>
        </p:spPr>
      </p:sp>
      <p:sp>
        <p:nvSpPr>
          <p:cNvPr id="21" name="Shape 18"/>
          <p:cNvSpPr/>
          <p:nvPr/>
        </p:nvSpPr>
        <p:spPr>
          <a:xfrm>
            <a:off x="2603302" y="2919338"/>
            <a:ext cx="272430" cy="272430"/>
          </a:xfrm>
          <a:prstGeom prst="roundRect">
            <a:avLst>
              <a:gd name="adj" fmla="val 20975768"/>
            </a:avLst>
          </a:prstGeom>
          <a:solidFill>
            <a:srgbClr val="4950BC"/>
          </a:solidFill>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78237" y="2994273"/>
            <a:ext cx="122560" cy="122560"/>
          </a:xfrm>
          <a:prstGeom prst="rect">
            <a:avLst/>
          </a:prstGeom>
        </p:spPr>
      </p:pic>
      <p:sp>
        <p:nvSpPr>
          <p:cNvPr id="23" name="Text 19"/>
          <p:cNvSpPr/>
          <p:nvPr/>
        </p:nvSpPr>
        <p:spPr>
          <a:xfrm>
            <a:off x="2603302" y="3249885"/>
            <a:ext cx="1135187" cy="141908"/>
          </a:xfrm>
          <a:prstGeom prst="rect">
            <a:avLst/>
          </a:prstGeom>
          <a:noFill/>
          <a:ln/>
        </p:spPr>
        <p:txBody>
          <a:bodyPr wrap="none" lIns="0" tIns="0" rIns="0" bIns="0" rtlCol="0" anchor="t"/>
          <a:lstStyle/>
          <a:p>
            <a:pPr algn="l" indent="0" marL="0">
              <a:lnSpc>
                <a:spcPct val="104000"/>
              </a:lnSpc>
              <a:buNone/>
            </a:pPr>
            <a:r>
              <a:rPr lang="en-US" sz="850" b="1" dirty="0">
                <a:solidFill>
                  <a:srgbClr val="272525"/>
                </a:solidFill>
                <a:latin typeface="Inter Bold" pitchFamily="34" charset="0"/>
                <a:ea typeface="Inter Bold" pitchFamily="34" charset="-122"/>
                <a:cs typeface="Inter Bold" pitchFamily="34" charset="-120"/>
              </a:rPr>
              <a:t>Beneficencia</a:t>
            </a:r>
            <a:endParaRPr lang="en-US" sz="850" dirty="0"/>
          </a:p>
        </p:txBody>
      </p:sp>
      <p:sp>
        <p:nvSpPr>
          <p:cNvPr id="24" name="Text 20"/>
          <p:cNvSpPr/>
          <p:nvPr/>
        </p:nvSpPr>
        <p:spPr>
          <a:xfrm>
            <a:off x="2603302" y="3449910"/>
            <a:ext cx="176242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El estudio no debe causar daño al caso</a:t>
            </a:r>
            <a:endParaRPr lang="en-US" sz="700" dirty="0"/>
          </a:p>
        </p:txBody>
      </p:sp>
      <p:sp>
        <p:nvSpPr>
          <p:cNvPr id="25" name="Shape 21"/>
          <p:cNvSpPr/>
          <p:nvPr/>
        </p:nvSpPr>
        <p:spPr>
          <a:xfrm>
            <a:off x="496119" y="3722712"/>
            <a:ext cx="1953518" cy="959941"/>
          </a:xfrm>
          <a:prstGeom prst="roundRect">
            <a:avLst>
              <a:gd name="adj" fmla="val 3974"/>
            </a:avLst>
          </a:prstGeom>
          <a:solidFill>
            <a:srgbClr val="DADBF1"/>
          </a:solidFill>
          <a:ln w="4763">
            <a:solidFill>
              <a:srgbClr val="C0C1D7"/>
            </a:solidFill>
            <a:prstDash val="solid"/>
          </a:ln>
        </p:spPr>
      </p:sp>
      <p:sp>
        <p:nvSpPr>
          <p:cNvPr id="26" name="Shape 22"/>
          <p:cNvSpPr/>
          <p:nvPr/>
        </p:nvSpPr>
        <p:spPr>
          <a:xfrm>
            <a:off x="591666" y="3818260"/>
            <a:ext cx="272430" cy="272430"/>
          </a:xfrm>
          <a:prstGeom prst="roundRect">
            <a:avLst>
              <a:gd name="adj" fmla="val 20975768"/>
            </a:avLst>
          </a:prstGeom>
          <a:solidFill>
            <a:srgbClr val="4950BC"/>
          </a:solidFill>
          <a:ln/>
        </p:spPr>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6601" y="3893195"/>
            <a:ext cx="122560" cy="122560"/>
          </a:xfrm>
          <a:prstGeom prst="rect">
            <a:avLst/>
          </a:prstGeom>
        </p:spPr>
      </p:pic>
      <p:sp>
        <p:nvSpPr>
          <p:cNvPr id="28" name="Text 23"/>
          <p:cNvSpPr/>
          <p:nvPr/>
        </p:nvSpPr>
        <p:spPr>
          <a:xfrm>
            <a:off x="591666" y="4148807"/>
            <a:ext cx="1135187" cy="141908"/>
          </a:xfrm>
          <a:prstGeom prst="rect">
            <a:avLst/>
          </a:prstGeom>
          <a:noFill/>
          <a:ln/>
        </p:spPr>
        <p:txBody>
          <a:bodyPr wrap="none" lIns="0" tIns="0" rIns="0" bIns="0" rtlCol="0" anchor="t"/>
          <a:lstStyle/>
          <a:p>
            <a:pPr algn="l" indent="0" marL="0">
              <a:lnSpc>
                <a:spcPct val="104000"/>
              </a:lnSpc>
              <a:buNone/>
            </a:pPr>
            <a:r>
              <a:rPr lang="en-US" sz="850" b="1" dirty="0">
                <a:solidFill>
                  <a:srgbClr val="272525"/>
                </a:solidFill>
                <a:latin typeface="Inter Bold" pitchFamily="34" charset="0"/>
                <a:ea typeface="Inter Bold" pitchFamily="34" charset="-122"/>
                <a:cs typeface="Inter Bold" pitchFamily="34" charset="-120"/>
              </a:rPr>
              <a:t>Transparencia</a:t>
            </a:r>
            <a:endParaRPr lang="en-US" sz="850" dirty="0"/>
          </a:p>
        </p:txBody>
      </p:sp>
      <p:sp>
        <p:nvSpPr>
          <p:cNvPr id="29" name="Text 24"/>
          <p:cNvSpPr/>
          <p:nvPr/>
        </p:nvSpPr>
        <p:spPr>
          <a:xfrm>
            <a:off x="591666" y="4348832"/>
            <a:ext cx="1762423" cy="238274"/>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Los participantes saben qué se hará con los datos</a:t>
            </a:r>
            <a:endParaRPr lang="en-US" sz="700" dirty="0"/>
          </a:p>
        </p:txBody>
      </p:sp>
      <p:sp>
        <p:nvSpPr>
          <p:cNvPr id="30" name="Shape 25"/>
          <p:cNvSpPr/>
          <p:nvPr/>
        </p:nvSpPr>
        <p:spPr>
          <a:xfrm>
            <a:off x="2507754" y="3722712"/>
            <a:ext cx="1953518" cy="959941"/>
          </a:xfrm>
          <a:prstGeom prst="roundRect">
            <a:avLst>
              <a:gd name="adj" fmla="val 3974"/>
            </a:avLst>
          </a:prstGeom>
          <a:solidFill>
            <a:srgbClr val="DADBF1"/>
          </a:solidFill>
          <a:ln w="4763">
            <a:solidFill>
              <a:srgbClr val="C0C1D7"/>
            </a:solidFill>
            <a:prstDash val="solid"/>
          </a:ln>
        </p:spPr>
      </p:sp>
      <p:sp>
        <p:nvSpPr>
          <p:cNvPr id="31" name="Shape 26"/>
          <p:cNvSpPr/>
          <p:nvPr/>
        </p:nvSpPr>
        <p:spPr>
          <a:xfrm>
            <a:off x="2603302" y="3818260"/>
            <a:ext cx="272430" cy="272430"/>
          </a:xfrm>
          <a:prstGeom prst="roundRect">
            <a:avLst>
              <a:gd name="adj" fmla="val 20975768"/>
            </a:avLst>
          </a:prstGeom>
          <a:solidFill>
            <a:srgbClr val="4950BC"/>
          </a:solidFill>
          <a:ln/>
        </p:spPr>
      </p:sp>
      <p:pic>
        <p:nvPicPr>
          <p:cNvPr id="3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78237" y="3893195"/>
            <a:ext cx="122560" cy="122560"/>
          </a:xfrm>
          <a:prstGeom prst="rect">
            <a:avLst/>
          </a:prstGeom>
        </p:spPr>
      </p:pic>
      <p:sp>
        <p:nvSpPr>
          <p:cNvPr id="33" name="Text 27"/>
          <p:cNvSpPr/>
          <p:nvPr/>
        </p:nvSpPr>
        <p:spPr>
          <a:xfrm>
            <a:off x="2603302" y="4148807"/>
            <a:ext cx="1135187" cy="141908"/>
          </a:xfrm>
          <a:prstGeom prst="rect">
            <a:avLst/>
          </a:prstGeom>
          <a:noFill/>
          <a:ln/>
        </p:spPr>
        <p:txBody>
          <a:bodyPr wrap="none" lIns="0" tIns="0" rIns="0" bIns="0" rtlCol="0" anchor="t"/>
          <a:lstStyle/>
          <a:p>
            <a:pPr algn="l" indent="0" marL="0">
              <a:lnSpc>
                <a:spcPct val="104000"/>
              </a:lnSpc>
              <a:buNone/>
            </a:pPr>
            <a:r>
              <a:rPr lang="en-US" sz="850" b="1" dirty="0">
                <a:solidFill>
                  <a:srgbClr val="272525"/>
                </a:solidFill>
                <a:latin typeface="Inter Bold" pitchFamily="34" charset="0"/>
                <a:ea typeface="Inter Bold" pitchFamily="34" charset="-122"/>
                <a:cs typeface="Inter Bold" pitchFamily="34" charset="-120"/>
              </a:rPr>
              <a:t>Reversibilidad</a:t>
            </a:r>
            <a:endParaRPr lang="en-US" sz="850" dirty="0"/>
          </a:p>
        </p:txBody>
      </p:sp>
      <p:sp>
        <p:nvSpPr>
          <p:cNvPr id="34" name="Text 28"/>
          <p:cNvSpPr/>
          <p:nvPr/>
        </p:nvSpPr>
        <p:spPr>
          <a:xfrm>
            <a:off x="2603302" y="4348832"/>
            <a:ext cx="1762423"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Pueden retirarse en cualquier momento</a:t>
            </a:r>
            <a:endParaRPr lang="en-US" sz="700" dirty="0"/>
          </a:p>
        </p:txBody>
      </p:sp>
      <p:sp>
        <p:nvSpPr>
          <p:cNvPr id="35" name="Text 29"/>
          <p:cNvSpPr/>
          <p:nvPr/>
        </p:nvSpPr>
        <p:spPr>
          <a:xfrm>
            <a:off x="4687491" y="1038076"/>
            <a:ext cx="2027634"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Documentos éticos mínimos</a:t>
            </a:r>
            <a:endParaRPr lang="en-US" sz="850" dirty="0"/>
          </a:p>
        </p:txBody>
      </p:sp>
      <p:sp>
        <p:nvSpPr>
          <p:cNvPr id="36" name="Shape 30"/>
          <p:cNvSpPr/>
          <p:nvPr/>
        </p:nvSpPr>
        <p:spPr>
          <a:xfrm>
            <a:off x="4687491" y="1245394"/>
            <a:ext cx="3965153" cy="1140023"/>
          </a:xfrm>
          <a:prstGeom prst="roundRect">
            <a:avLst>
              <a:gd name="adj" fmla="val 3346"/>
            </a:avLst>
          </a:prstGeom>
          <a:noFill/>
          <a:ln w="4763">
            <a:solidFill>
              <a:srgbClr val="000000">
                <a:alpha val="8000"/>
              </a:srgbClr>
            </a:solidFill>
            <a:prstDash val="solid"/>
          </a:ln>
        </p:spPr>
      </p:sp>
      <p:sp>
        <p:nvSpPr>
          <p:cNvPr id="37" name="Text 31"/>
          <p:cNvSpPr/>
          <p:nvPr/>
        </p:nvSpPr>
        <p:spPr>
          <a:xfrm>
            <a:off x="4783113" y="1289819"/>
            <a:ext cx="2055614"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Documento</a:t>
            </a:r>
            <a:endParaRPr lang="en-US" sz="700" dirty="0"/>
          </a:p>
        </p:txBody>
      </p:sp>
      <p:sp>
        <p:nvSpPr>
          <p:cNvPr id="38" name="Text 32"/>
          <p:cNvSpPr/>
          <p:nvPr/>
        </p:nvSpPr>
        <p:spPr>
          <a:xfrm>
            <a:off x="6563097" y="1289819"/>
            <a:ext cx="2451199"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Propósito</a:t>
            </a:r>
            <a:endParaRPr lang="en-US" sz="700" dirty="0"/>
          </a:p>
        </p:txBody>
      </p:sp>
      <p:sp>
        <p:nvSpPr>
          <p:cNvPr id="39" name="Text 33"/>
          <p:cNvSpPr/>
          <p:nvPr/>
        </p:nvSpPr>
        <p:spPr>
          <a:xfrm>
            <a:off x="4783113" y="1493044"/>
            <a:ext cx="2055614"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Carta de autorización</a:t>
            </a:r>
            <a:endParaRPr lang="en-US" sz="700" dirty="0"/>
          </a:p>
        </p:txBody>
      </p:sp>
      <p:sp>
        <p:nvSpPr>
          <p:cNvPr id="40" name="Text 34"/>
          <p:cNvSpPr/>
          <p:nvPr/>
        </p:nvSpPr>
        <p:spPr>
          <a:xfrm>
            <a:off x="6563097" y="1493044"/>
            <a:ext cx="1993999" cy="238274"/>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La organización autoriza formalmente la investigación</a:t>
            </a:r>
            <a:endParaRPr lang="en-US" sz="700" dirty="0"/>
          </a:p>
        </p:txBody>
      </p:sp>
      <p:sp>
        <p:nvSpPr>
          <p:cNvPr id="41" name="Text 35"/>
          <p:cNvSpPr/>
          <p:nvPr/>
        </p:nvSpPr>
        <p:spPr>
          <a:xfrm>
            <a:off x="4783113" y="1815405"/>
            <a:ext cx="2055614"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Consentimiento informado</a:t>
            </a:r>
            <a:endParaRPr lang="en-US" sz="700" dirty="0"/>
          </a:p>
        </p:txBody>
      </p:sp>
      <p:sp>
        <p:nvSpPr>
          <p:cNvPr id="42" name="Text 36"/>
          <p:cNvSpPr/>
          <p:nvPr/>
        </p:nvSpPr>
        <p:spPr>
          <a:xfrm>
            <a:off x="6563097" y="1815405"/>
            <a:ext cx="2451199"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Cada participante consiente voluntariamente</a:t>
            </a:r>
            <a:endParaRPr lang="en-US" sz="700" dirty="0"/>
          </a:p>
        </p:txBody>
      </p:sp>
      <p:sp>
        <p:nvSpPr>
          <p:cNvPr id="43" name="Text 37"/>
          <p:cNvSpPr/>
          <p:nvPr/>
        </p:nvSpPr>
        <p:spPr>
          <a:xfrm>
            <a:off x="4783113" y="2018630"/>
            <a:ext cx="2055614"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Acuerdo de confidencialidad (NDA)</a:t>
            </a:r>
            <a:endParaRPr lang="en-US" sz="700" dirty="0"/>
          </a:p>
        </p:txBody>
      </p:sp>
      <p:sp>
        <p:nvSpPr>
          <p:cNvPr id="44" name="Text 38"/>
          <p:cNvSpPr/>
          <p:nvPr/>
        </p:nvSpPr>
        <p:spPr>
          <a:xfrm>
            <a:off x="6563097" y="2018630"/>
            <a:ext cx="2451199"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Protege datos sensibles de la empresa</a:t>
            </a:r>
            <a:endParaRPr lang="en-US" sz="700" dirty="0"/>
          </a:p>
        </p:txBody>
      </p:sp>
      <p:sp>
        <p:nvSpPr>
          <p:cNvPr id="45" name="Text 39"/>
          <p:cNvSpPr/>
          <p:nvPr/>
        </p:nvSpPr>
        <p:spPr>
          <a:xfrm>
            <a:off x="4783113" y="2221855"/>
            <a:ext cx="2055614"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Protocolo de anonimización</a:t>
            </a:r>
            <a:endParaRPr lang="en-US" sz="700" dirty="0"/>
          </a:p>
        </p:txBody>
      </p:sp>
      <p:sp>
        <p:nvSpPr>
          <p:cNvPr id="46" name="Text 40"/>
          <p:cNvSpPr/>
          <p:nvPr/>
        </p:nvSpPr>
        <p:spPr>
          <a:xfrm>
            <a:off x="6563097" y="2221855"/>
            <a:ext cx="2451199" cy="119137"/>
          </a:xfrm>
          <a:prstGeom prst="rect">
            <a:avLst/>
          </a:prstGeom>
          <a:noFill/>
          <a:ln/>
        </p:spPr>
        <p:txBody>
          <a:bodyPr wrap="none" lIns="0" tIns="0" rIns="0" bIns="0" rtlCol="0" anchor="t"/>
          <a:lstStyle/>
          <a:p>
            <a:pPr algn="l" indent="0" marL="0">
              <a:lnSpc>
                <a:spcPct val="109000"/>
              </a:lnSpc>
              <a:buNone/>
            </a:pPr>
            <a:r>
              <a:rPr lang="en-US" sz="700" dirty="0">
                <a:solidFill>
                  <a:srgbClr val="272525"/>
                </a:solidFill>
                <a:latin typeface="Inter" pitchFamily="34" charset="0"/>
                <a:ea typeface="Inter" pitchFamily="34" charset="-122"/>
                <a:cs typeface="Inter" pitchFamily="34" charset="-120"/>
              </a:rPr>
              <a:t>Define cómo se protegerá la identidad</a:t>
            </a:r>
            <a:endParaRPr lang="en-US" sz="700" dirty="0"/>
          </a:p>
        </p:txBody>
      </p:sp>
      <p:sp>
        <p:nvSpPr>
          <p:cNvPr id="47" name="Shape 41"/>
          <p:cNvSpPr/>
          <p:nvPr/>
        </p:nvSpPr>
        <p:spPr>
          <a:xfrm>
            <a:off x="4687491" y="2450827"/>
            <a:ext cx="3965153" cy="507429"/>
          </a:xfrm>
          <a:prstGeom prst="roundRect">
            <a:avLst>
              <a:gd name="adj" fmla="val 7517"/>
            </a:avLst>
          </a:prstGeom>
          <a:solidFill>
            <a:srgbClr val="FCF2B5"/>
          </a:solidFill>
          <a:ln/>
        </p:spPr>
      </p:sp>
      <p:pic>
        <p:nvPicPr>
          <p:cNvPr id="48" name="Image 4" descr="preencoded.png">    </p:cNvPr>
          <p:cNvPicPr>
            <a:picLocks noChangeAspect="1"/>
          </p:cNvPicPr>
          <p:nvPr/>
        </p:nvPicPr>
        <p:blipFill>
          <a:blip r:embed="rId9"/>
          <a:stretch>
            <a:fillRect/>
          </a:stretch>
        </p:blipFill>
        <p:spPr>
          <a:xfrm>
            <a:off x="4778276" y="2575322"/>
            <a:ext cx="113481" cy="90785"/>
          </a:xfrm>
          <a:prstGeom prst="rect">
            <a:avLst/>
          </a:prstGeom>
        </p:spPr>
      </p:pic>
      <p:sp>
        <p:nvSpPr>
          <p:cNvPr id="49" name="Text 42"/>
          <p:cNvSpPr/>
          <p:nvPr/>
        </p:nvSpPr>
        <p:spPr>
          <a:xfrm>
            <a:off x="4982542" y="2525837"/>
            <a:ext cx="3579316" cy="357411"/>
          </a:xfrm>
          <a:prstGeom prst="rect">
            <a:avLst/>
          </a:prstGeom>
          <a:noFill/>
          <a:ln/>
        </p:spPr>
        <p:txBody>
          <a:bodyPr wrap="square" lIns="0" tIns="0" rIns="0" bIns="0" rtlCol="0" anchor="t">
            <a:normAutofit/>
          </a:bodyPr>
          <a:lstStyle/>
          <a:p>
            <a:pPr algn="l" indent="0" marL="0">
              <a:lnSpc>
                <a:spcPct val="109000"/>
              </a:lnSpc>
              <a:buNone/>
            </a:pPr>
            <a:r>
              <a:rPr lang="en-US" sz="700" b="1" dirty="0">
                <a:solidFill>
                  <a:srgbClr val="000000"/>
                </a:solidFill>
                <a:latin typeface="Inter Bold" pitchFamily="34" charset="0"/>
                <a:ea typeface="Inter Bold" pitchFamily="34" charset="-122"/>
                <a:cs typeface="Inter Bold" pitchFamily="34" charset="-120"/>
              </a:rPr>
              <a:t>Riesgo real:</a:t>
            </a:r>
            <a:pPr algn="l" indent="0" marL="0">
              <a:lnSpc>
                <a:spcPct val="109000"/>
              </a:lnSpc>
              <a:buNone/>
            </a:pPr>
            <a:r>
              <a:rPr lang="en-US" sz="700" dirty="0">
                <a:solidFill>
                  <a:srgbClr val="000000"/>
                </a:solidFill>
                <a:latin typeface="Inter" pitchFamily="34" charset="0"/>
                <a:ea typeface="Inter" pitchFamily="34" charset="-122"/>
                <a:cs typeface="Inter" pitchFamily="34" charset="-120"/>
              </a:rPr>
              <a:t> Un investigador que omite estos pasos puede perder el acceso al caso a mitad del estudio o invalidar sus datos éticamente. Planificar la ética es planificar la sostenibilidad del estudio.</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82575"/>
            <a:ext cx="6881887" cy="339179"/>
          </a:xfrm>
          <a:prstGeom prst="rect">
            <a:avLst/>
          </a:prstGeom>
          <a:noFill/>
          <a:ln/>
        </p:spPr>
        <p:txBody>
          <a:bodyPr wrap="none" lIns="0" tIns="0" rIns="0" bIns="0" rtlCol="0" anchor="t"/>
          <a:lstStyle/>
          <a:p>
            <a:pPr algn="l" indent="0" marL="0">
              <a:lnSpc>
                <a:spcPct val="104000"/>
              </a:lnSpc>
              <a:buNone/>
            </a:pPr>
            <a:r>
              <a:rPr lang="en-US" sz="2100" b="1" dirty="0">
                <a:solidFill>
                  <a:srgbClr val="000000"/>
                </a:solidFill>
                <a:latin typeface="Inter Bold" pitchFamily="34" charset="0"/>
                <a:ea typeface="Inter Bold" pitchFamily="34" charset="-122"/>
                <a:cs typeface="Inter Bold" pitchFamily="34" charset="-120"/>
              </a:rPr>
              <a:t>NASA como Modelo de Diseño Científico Abierto</a:t>
            </a:r>
            <a:endParaRPr lang="en-US" sz="2100" dirty="0"/>
          </a:p>
        </p:txBody>
      </p:sp>
      <p:sp>
        <p:nvSpPr>
          <p:cNvPr id="3" name="Text 1"/>
          <p:cNvSpPr/>
          <p:nvPr/>
        </p:nvSpPr>
        <p:spPr>
          <a:xfrm>
            <a:off x="496119" y="854943"/>
            <a:ext cx="5704061" cy="169515"/>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El OSDMP (Open Science and Data Management Plan) de NASA — Essentials L3</a:t>
            </a:r>
            <a:endParaRPr lang="en-US" sz="1050" dirty="0"/>
          </a:p>
        </p:txBody>
      </p:sp>
      <p:sp>
        <p:nvSpPr>
          <p:cNvPr id="4" name="Text 2"/>
          <p:cNvSpPr/>
          <p:nvPr/>
        </p:nvSpPr>
        <p:spPr>
          <a:xfrm>
            <a:off x="496119" y="1149102"/>
            <a:ext cx="8608963"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El OSDMP es el equivalente NASA al protocolo de un estudio de caso. Antes de iniciar cualquier misión de investigación, se documenta:</a:t>
            </a:r>
            <a:endParaRPr lang="en-US" sz="850" dirty="0"/>
          </a:p>
        </p:txBody>
      </p:sp>
      <p:sp>
        <p:nvSpPr>
          <p:cNvPr id="5" name="Shape 3"/>
          <p:cNvSpPr/>
          <p:nvPr/>
        </p:nvSpPr>
        <p:spPr>
          <a:xfrm>
            <a:off x="496119" y="1395859"/>
            <a:ext cx="8151763" cy="1608534"/>
          </a:xfrm>
          <a:prstGeom prst="roundRect">
            <a:avLst>
              <a:gd name="adj" fmla="val 2834"/>
            </a:avLst>
          </a:prstGeom>
          <a:noFill/>
          <a:ln w="4763">
            <a:solidFill>
              <a:srgbClr val="000000">
                <a:alpha val="8000"/>
              </a:srgbClr>
            </a:solidFill>
            <a:prstDash val="solid"/>
          </a:ln>
        </p:spPr>
      </p:sp>
      <p:sp>
        <p:nvSpPr>
          <p:cNvPr id="6" name="Text 4"/>
          <p:cNvSpPr/>
          <p:nvPr/>
        </p:nvSpPr>
        <p:spPr>
          <a:xfrm>
            <a:off x="609451" y="1455241"/>
            <a:ext cx="3904208" cy="153293"/>
          </a:xfrm>
          <a:prstGeom prst="rect">
            <a:avLst/>
          </a:prstGeom>
          <a:noFill/>
          <a:ln/>
        </p:spPr>
        <p:txBody>
          <a:bodyPr wrap="none" lIns="0" tIns="0" rIns="0" bIns="0" rtlCol="0" anchor="t"/>
          <a:lstStyle/>
          <a:p>
            <a:pPr algn="l" indent="0" marL="0">
              <a:lnSpc>
                <a:spcPct val="118000"/>
              </a:lnSpc>
              <a:buNone/>
            </a:pPr>
            <a:r>
              <a:rPr lang="en-US" sz="850" b="1" dirty="0">
                <a:solidFill>
                  <a:srgbClr val="272525"/>
                </a:solidFill>
                <a:latin typeface="Inter Bold" pitchFamily="34" charset="0"/>
                <a:ea typeface="Inter Bold" pitchFamily="34" charset="-122"/>
                <a:cs typeface="Inter Bold" pitchFamily="34" charset="-120"/>
              </a:rPr>
              <a:t>Elemento OSDMP</a:t>
            </a:r>
            <a:endParaRPr lang="en-US" sz="850" dirty="0"/>
          </a:p>
        </p:txBody>
      </p:sp>
      <p:sp>
        <p:nvSpPr>
          <p:cNvPr id="7" name="Text 5"/>
          <p:cNvSpPr/>
          <p:nvPr/>
        </p:nvSpPr>
        <p:spPr>
          <a:xfrm>
            <a:off x="4273451" y="1455241"/>
            <a:ext cx="4718372" cy="153293"/>
          </a:xfrm>
          <a:prstGeom prst="rect">
            <a:avLst/>
          </a:prstGeom>
          <a:noFill/>
          <a:ln/>
        </p:spPr>
        <p:txBody>
          <a:bodyPr wrap="none" lIns="0" tIns="0" rIns="0" bIns="0" rtlCol="0" anchor="t"/>
          <a:lstStyle/>
          <a:p>
            <a:pPr algn="l" indent="0" marL="0">
              <a:lnSpc>
                <a:spcPct val="118000"/>
              </a:lnSpc>
              <a:buNone/>
            </a:pPr>
            <a:r>
              <a:rPr lang="en-US" sz="850" b="1" dirty="0">
                <a:solidFill>
                  <a:srgbClr val="272525"/>
                </a:solidFill>
                <a:latin typeface="Inter Bold" pitchFamily="34" charset="0"/>
                <a:ea typeface="Inter Bold" pitchFamily="34" charset="-122"/>
                <a:cs typeface="Inter Bold" pitchFamily="34" charset="-120"/>
              </a:rPr>
              <a:t>Equivalente en protocolo de estudio de caso IS</a:t>
            </a:r>
            <a:endParaRPr lang="en-US" sz="850" dirty="0"/>
          </a:p>
        </p:txBody>
      </p:sp>
      <p:sp>
        <p:nvSpPr>
          <p:cNvPr id="8" name="Text 6"/>
          <p:cNvSpPr/>
          <p:nvPr/>
        </p:nvSpPr>
        <p:spPr>
          <a:xfrm>
            <a:off x="609451" y="1722537"/>
            <a:ext cx="3904208"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Objetivos científicos</a:t>
            </a:r>
            <a:endParaRPr lang="en-US" sz="850" dirty="0"/>
          </a:p>
        </p:txBody>
      </p:sp>
      <p:sp>
        <p:nvSpPr>
          <p:cNvPr id="9" name="Text 7"/>
          <p:cNvSpPr/>
          <p:nvPr/>
        </p:nvSpPr>
        <p:spPr>
          <a:xfrm>
            <a:off x="4273451" y="1722537"/>
            <a:ext cx="4718372"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Preguntas de investigación y proposiciones</a:t>
            </a:r>
            <a:endParaRPr lang="en-US" sz="850" dirty="0"/>
          </a:p>
        </p:txBody>
      </p:sp>
      <p:sp>
        <p:nvSpPr>
          <p:cNvPr id="10" name="Text 8"/>
          <p:cNvSpPr/>
          <p:nvPr/>
        </p:nvSpPr>
        <p:spPr>
          <a:xfrm>
            <a:off x="609451" y="1989832"/>
            <a:ext cx="3904208"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Tipos de datos que se generarán</a:t>
            </a:r>
            <a:endParaRPr lang="en-US" sz="850" dirty="0"/>
          </a:p>
        </p:txBody>
      </p:sp>
      <p:sp>
        <p:nvSpPr>
          <p:cNvPr id="11" name="Text 9"/>
          <p:cNvSpPr/>
          <p:nvPr/>
        </p:nvSpPr>
        <p:spPr>
          <a:xfrm>
            <a:off x="4273451" y="1989832"/>
            <a:ext cx="4718372"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Fuentes de evidencia planificadas</a:t>
            </a:r>
            <a:endParaRPr lang="en-US" sz="850" dirty="0"/>
          </a:p>
        </p:txBody>
      </p:sp>
      <p:sp>
        <p:nvSpPr>
          <p:cNvPr id="12" name="Text 10"/>
          <p:cNvSpPr/>
          <p:nvPr/>
        </p:nvSpPr>
        <p:spPr>
          <a:xfrm>
            <a:off x="609451" y="2257127"/>
            <a:ext cx="3904208"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Cómo se compartirán los datos</a:t>
            </a:r>
            <a:endParaRPr lang="en-US" sz="850" dirty="0"/>
          </a:p>
        </p:txBody>
      </p:sp>
      <p:sp>
        <p:nvSpPr>
          <p:cNvPr id="13" name="Text 11"/>
          <p:cNvSpPr/>
          <p:nvPr/>
        </p:nvSpPr>
        <p:spPr>
          <a:xfrm>
            <a:off x="4273451" y="2257127"/>
            <a:ext cx="4718372"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Plan de anonimización y publicación</a:t>
            </a:r>
            <a:endParaRPr lang="en-US" sz="850" dirty="0"/>
          </a:p>
        </p:txBody>
      </p:sp>
      <p:sp>
        <p:nvSpPr>
          <p:cNvPr id="14" name="Text 12"/>
          <p:cNvSpPr/>
          <p:nvPr/>
        </p:nvSpPr>
        <p:spPr>
          <a:xfrm>
            <a:off x="609451" y="2524423"/>
            <a:ext cx="3904208"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Software y herramientas usadas</a:t>
            </a:r>
            <a:endParaRPr lang="en-US" sz="850" dirty="0"/>
          </a:p>
        </p:txBody>
      </p:sp>
      <p:sp>
        <p:nvSpPr>
          <p:cNvPr id="15" name="Text 13"/>
          <p:cNvSpPr/>
          <p:nvPr/>
        </p:nvSpPr>
        <p:spPr>
          <a:xfrm>
            <a:off x="4273451" y="2524423"/>
            <a:ext cx="4718372"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Instrumentos de recolección y análisis</a:t>
            </a:r>
            <a:endParaRPr lang="en-US" sz="850" dirty="0"/>
          </a:p>
        </p:txBody>
      </p:sp>
      <p:sp>
        <p:nvSpPr>
          <p:cNvPr id="16" name="Text 14"/>
          <p:cNvSpPr/>
          <p:nvPr/>
        </p:nvSpPr>
        <p:spPr>
          <a:xfrm>
            <a:off x="609451" y="2791718"/>
            <a:ext cx="3904208"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Estándares de calidad</a:t>
            </a:r>
            <a:endParaRPr lang="en-US" sz="850" dirty="0"/>
          </a:p>
        </p:txBody>
      </p:sp>
      <p:sp>
        <p:nvSpPr>
          <p:cNvPr id="17" name="Text 15"/>
          <p:cNvSpPr/>
          <p:nvPr/>
        </p:nvSpPr>
        <p:spPr>
          <a:xfrm>
            <a:off x="4273451" y="2791718"/>
            <a:ext cx="4718372" cy="153293"/>
          </a:xfrm>
          <a:prstGeom prst="rect">
            <a:avLst/>
          </a:prstGeom>
          <a:noFill/>
          <a:ln/>
        </p:spPr>
        <p:txBody>
          <a:bodyPr wrap="none" lIns="0" tIns="0" rIns="0" bIns="0" rtlCol="0" anchor="t"/>
          <a:lstStyle/>
          <a:p>
            <a:pPr algn="l" indent="0" marL="0">
              <a:lnSpc>
                <a:spcPct val="118000"/>
              </a:lnSpc>
              <a:buNone/>
            </a:pPr>
            <a:r>
              <a:rPr lang="en-US" sz="850" dirty="0">
                <a:solidFill>
                  <a:srgbClr val="272525"/>
                </a:solidFill>
                <a:latin typeface="Inter" pitchFamily="34" charset="0"/>
                <a:ea typeface="Inter" pitchFamily="34" charset="-122"/>
                <a:cs typeface="Inter" pitchFamily="34" charset="-120"/>
              </a:rPr>
              <a:t>Criterios de interpretación y validez</a:t>
            </a:r>
            <a:endParaRPr lang="en-US" sz="850" dirty="0"/>
          </a:p>
        </p:txBody>
      </p:sp>
      <p:sp>
        <p:nvSpPr>
          <p:cNvPr id="18" name="Text 16"/>
          <p:cNvSpPr/>
          <p:nvPr/>
        </p:nvSpPr>
        <p:spPr>
          <a:xfrm>
            <a:off x="496119" y="3180904"/>
            <a:ext cx="3061990" cy="169515"/>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Pre-registro (NASA / Open Science M5)</a:t>
            </a:r>
            <a:endParaRPr lang="en-US" sz="1050" dirty="0"/>
          </a:p>
        </p:txBody>
      </p:sp>
      <p:sp>
        <p:nvSpPr>
          <p:cNvPr id="19" name="Text 17"/>
          <p:cNvSpPr/>
          <p:nvPr/>
        </p:nvSpPr>
        <p:spPr>
          <a:xfrm>
            <a:off x="496119" y="3433465"/>
            <a:ext cx="3943499" cy="671215"/>
          </a:xfrm>
          <a:prstGeom prst="rect">
            <a:avLst/>
          </a:prstGeom>
          <a:noFill/>
          <a:ln/>
        </p:spPr>
        <p:txBody>
          <a:bodyPr wrap="square" lIns="0" tIns="0" rIns="0" bIns="0" rtlCol="0" anchor="t">
            <a:normAutofit/>
          </a:bodyPr>
          <a:lstStyle/>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Antes de recolectar datos, se registra públicamente el diseño del estudio</a:t>
            </a:r>
            <a:endParaRPr lang="en-US" sz="850" dirty="0"/>
          </a:p>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Previene el HARKing (Hypothesizing After Results are Known)</a:t>
            </a:r>
            <a:endParaRPr lang="en-US" sz="850" dirty="0"/>
          </a:p>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Equivalente IS: registrar el protocolo en OSF (Open Science Framework) antes del trabajo de campo</a:t>
            </a:r>
            <a:endParaRPr lang="en-US" sz="850" dirty="0"/>
          </a:p>
        </p:txBody>
      </p:sp>
      <p:sp>
        <p:nvSpPr>
          <p:cNvPr id="20" name="Text 18"/>
          <p:cNvSpPr/>
          <p:nvPr/>
        </p:nvSpPr>
        <p:spPr>
          <a:xfrm>
            <a:off x="4709145" y="3180904"/>
            <a:ext cx="2054498" cy="169515"/>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GeneLab — ejemplo real</a:t>
            </a:r>
            <a:endParaRPr lang="en-US" sz="1050" dirty="0"/>
          </a:p>
        </p:txBody>
      </p:sp>
      <p:sp>
        <p:nvSpPr>
          <p:cNvPr id="21" name="Text 19"/>
          <p:cNvSpPr/>
          <p:nvPr/>
        </p:nvSpPr>
        <p:spPr>
          <a:xfrm>
            <a:off x="4709145" y="3433465"/>
            <a:ext cx="3943499" cy="671215"/>
          </a:xfrm>
          <a:prstGeom prst="rect">
            <a:avLst/>
          </a:prstGeom>
          <a:noFill/>
          <a:ln/>
        </p:spPr>
        <p:txBody>
          <a:bodyPr wrap="square" lIns="0" tIns="0" rIns="0" bIns="0" rtlCol="0" anchor="t">
            <a:normAutofit/>
          </a:bodyPr>
          <a:lstStyle/>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800+ investigadores con acceso a los mismos datos originales</a:t>
            </a:r>
            <a:endParaRPr lang="en-US" sz="850" dirty="0"/>
          </a:p>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El protocolo de cada experimento es público y replicable</a:t>
            </a:r>
            <a:endParaRPr lang="en-US" sz="850" dirty="0"/>
          </a:p>
          <a:p>
            <a:pPr algn="l" marL="172720" indent="-172720">
              <a:lnSpc>
                <a:spcPct val="118000"/>
              </a:lnSpc>
              <a:buSzPct val="100000"/>
              <a:buChar char="•"/>
            </a:pPr>
            <a:r>
              <a:rPr lang="en-US" sz="850" dirty="0">
                <a:solidFill>
                  <a:srgbClr val="272525"/>
                </a:solidFill>
                <a:latin typeface="Inter" pitchFamily="34" charset="0"/>
                <a:ea typeface="Inter" pitchFamily="34" charset="-122"/>
                <a:cs typeface="Inter" pitchFamily="34" charset="-120"/>
              </a:rPr>
              <a:t>Resultado: 92 publicaciones independientes del mismo conjunto de datos (2024)</a:t>
            </a:r>
            <a:endParaRPr lang="en-US" sz="850" dirty="0"/>
          </a:p>
        </p:txBody>
      </p:sp>
      <p:sp>
        <p:nvSpPr>
          <p:cNvPr id="22" name="Shape 20"/>
          <p:cNvSpPr/>
          <p:nvPr/>
        </p:nvSpPr>
        <p:spPr>
          <a:xfrm>
            <a:off x="496119" y="4227165"/>
            <a:ext cx="14288" cy="340221"/>
          </a:xfrm>
          <a:prstGeom prst="roundRect">
            <a:avLst>
              <a:gd name="adj" fmla="val 59998"/>
            </a:avLst>
          </a:prstGeom>
          <a:solidFill>
            <a:srgbClr val="4950BC"/>
          </a:solidFill>
          <a:ln/>
        </p:spPr>
      </p:sp>
      <p:sp>
        <p:nvSpPr>
          <p:cNvPr id="23" name="Text 21"/>
          <p:cNvSpPr/>
          <p:nvPr/>
        </p:nvSpPr>
        <p:spPr>
          <a:xfrm>
            <a:off x="658862" y="4320629"/>
            <a:ext cx="8446219" cy="153293"/>
          </a:xfrm>
          <a:prstGeom prst="rect">
            <a:avLst/>
          </a:prstGeom>
          <a:noFill/>
          <a:ln/>
        </p:spPr>
        <p:txBody>
          <a:bodyPr wrap="none" lIns="0" tIns="0" rIns="0" bIns="0" rtlCol="0" anchor="t"/>
          <a:lstStyle/>
          <a:p>
            <a:pPr algn="l" indent="0" marL="0">
              <a:lnSpc>
                <a:spcPct val="118000"/>
              </a:lnSpc>
              <a:buNone/>
            </a:pPr>
            <a:r>
              <a:rPr lang="en-US" sz="850" b="1" dirty="0">
                <a:solidFill>
                  <a:srgbClr val="272525"/>
                </a:solidFill>
                <a:latin typeface="Inter Bold" pitchFamily="34" charset="0"/>
                <a:ea typeface="Inter Bold" pitchFamily="34" charset="-122"/>
                <a:cs typeface="Inter Bold" pitchFamily="34" charset="-120"/>
              </a:rPr>
              <a:t>Lección para IS:</a:t>
            </a:r>
            <a:pPr algn="l" indent="0" marL="0">
              <a:lnSpc>
                <a:spcPct val="118000"/>
              </a:lnSpc>
              <a:buNone/>
            </a:pPr>
            <a:r>
              <a:rPr lang="en-US" sz="850" dirty="0">
                <a:solidFill>
                  <a:srgbClr val="272525"/>
                </a:solidFill>
                <a:latin typeface="Inter" pitchFamily="34" charset="0"/>
                <a:ea typeface="Inter" pitchFamily="34" charset="-122"/>
                <a:cs typeface="Inter" pitchFamily="34" charset="-120"/>
              </a:rPr>
              <a:t> Un protocolo público antes de iniciar = más credibilidad, más replicabilidad, menos sesgo del investigador.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600373"/>
            <a:ext cx="5313908" cy="346100"/>
          </a:xfrm>
          <a:prstGeom prst="rect">
            <a:avLst/>
          </a:prstGeom>
          <a:noFill/>
          <a:ln/>
        </p:spPr>
        <p:txBody>
          <a:bodyPr wrap="none" lIns="0" tIns="0" rIns="0" bIns="0" rtlCol="0" anchor="t"/>
          <a:lstStyle/>
          <a:p>
            <a:pPr algn="l" indent="0" marL="0">
              <a:lnSpc>
                <a:spcPct val="104000"/>
              </a:lnSpc>
              <a:buNone/>
            </a:pPr>
            <a:r>
              <a:rPr lang="en-US" sz="2150" b="1" dirty="0">
                <a:solidFill>
                  <a:srgbClr val="000000"/>
                </a:solidFill>
                <a:latin typeface="Inter Bold" pitchFamily="34" charset="0"/>
                <a:ea typeface="Inter Bold" pitchFamily="34" charset="-122"/>
                <a:cs typeface="Inter Bold" pitchFamily="34" charset="-120"/>
              </a:rPr>
              <a:t>Planificar la Validez desde el Diseño</a:t>
            </a:r>
            <a:endParaRPr lang="en-US" sz="2150" dirty="0"/>
          </a:p>
        </p:txBody>
      </p:sp>
      <p:sp>
        <p:nvSpPr>
          <p:cNvPr id="3" name="Text 1"/>
          <p:cNvSpPr/>
          <p:nvPr/>
        </p:nvSpPr>
        <p:spPr>
          <a:xfrm>
            <a:off x="496119" y="1119485"/>
            <a:ext cx="8608963"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Las amenazas a la validez no se "descubren" al final — se anticipan desde el diseño.</a:t>
            </a:r>
            <a:endParaRPr lang="en-US" sz="850" dirty="0"/>
          </a:p>
        </p:txBody>
      </p:sp>
      <p:sp>
        <p:nvSpPr>
          <p:cNvPr id="4" name="Text 2"/>
          <p:cNvSpPr/>
          <p:nvPr/>
        </p:nvSpPr>
        <p:spPr>
          <a:xfrm>
            <a:off x="496119" y="1407021"/>
            <a:ext cx="4194646" cy="173013"/>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Cuatro tipos de validez en estudios de caso (Yin, 2014):</a:t>
            </a:r>
            <a:endParaRPr lang="en-US" sz="1050" dirty="0"/>
          </a:p>
        </p:txBody>
      </p:sp>
      <p:sp>
        <p:nvSpPr>
          <p:cNvPr id="5" name="Shape 3"/>
          <p:cNvSpPr/>
          <p:nvPr/>
        </p:nvSpPr>
        <p:spPr>
          <a:xfrm>
            <a:off x="496119" y="1709812"/>
            <a:ext cx="8151763" cy="1699171"/>
          </a:xfrm>
          <a:prstGeom prst="roundRect">
            <a:avLst>
              <a:gd name="adj" fmla="val 2738"/>
            </a:avLst>
          </a:prstGeom>
          <a:noFill/>
          <a:ln w="4763">
            <a:solidFill>
              <a:srgbClr val="000000">
                <a:alpha val="8000"/>
              </a:srgbClr>
            </a:solidFill>
            <a:prstDash val="solid"/>
          </a:ln>
        </p:spPr>
      </p:sp>
      <p:sp>
        <p:nvSpPr>
          <p:cNvPr id="6" name="Text 4"/>
          <p:cNvSpPr/>
          <p:nvPr/>
        </p:nvSpPr>
        <p:spPr>
          <a:xfrm>
            <a:off x="611758" y="1771204"/>
            <a:ext cx="202696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Tipo</a:t>
            </a:r>
            <a:endParaRPr lang="en-US" sz="850" dirty="0"/>
          </a:p>
        </p:txBody>
      </p:sp>
      <p:sp>
        <p:nvSpPr>
          <p:cNvPr id="7" name="Text 5"/>
          <p:cNvSpPr/>
          <p:nvPr/>
        </p:nvSpPr>
        <p:spPr>
          <a:xfrm>
            <a:off x="2402979" y="1771204"/>
            <a:ext cx="267838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Pregunta</a:t>
            </a:r>
            <a:endParaRPr lang="en-US" sz="850" dirty="0"/>
          </a:p>
        </p:txBody>
      </p:sp>
      <p:sp>
        <p:nvSpPr>
          <p:cNvPr id="8" name="Text 6"/>
          <p:cNvSpPr/>
          <p:nvPr/>
        </p:nvSpPr>
        <p:spPr>
          <a:xfrm>
            <a:off x="4845621" y="1771204"/>
            <a:ext cx="4143970"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Cómo planificarla desde el diseño</a:t>
            </a:r>
            <a:endParaRPr lang="en-US" sz="850" dirty="0"/>
          </a:p>
        </p:txBody>
      </p:sp>
      <p:sp>
        <p:nvSpPr>
          <p:cNvPr id="9" name="Text 7"/>
          <p:cNvSpPr/>
          <p:nvPr/>
        </p:nvSpPr>
        <p:spPr>
          <a:xfrm>
            <a:off x="611758" y="2046982"/>
            <a:ext cx="202696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Validez de constructo</a:t>
            </a:r>
            <a:endParaRPr lang="en-US" sz="850" dirty="0"/>
          </a:p>
        </p:txBody>
      </p:sp>
      <p:sp>
        <p:nvSpPr>
          <p:cNvPr id="10" name="Text 8"/>
          <p:cNvSpPr/>
          <p:nvPr/>
        </p:nvSpPr>
        <p:spPr>
          <a:xfrm>
            <a:off x="2402979" y="2046982"/>
            <a:ext cx="2678385"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¿Mido lo que digo que mido?</a:t>
            </a:r>
            <a:endParaRPr lang="en-US" sz="850" dirty="0"/>
          </a:p>
        </p:txBody>
      </p:sp>
      <p:sp>
        <p:nvSpPr>
          <p:cNvPr id="11" name="Text 9"/>
          <p:cNvSpPr/>
          <p:nvPr/>
        </p:nvSpPr>
        <p:spPr>
          <a:xfrm>
            <a:off x="4845621" y="2046982"/>
            <a:ext cx="3686770"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Múltiples fuentes de evidencia; revisión por participantes (member checking)</a:t>
            </a:r>
            <a:endParaRPr lang="en-US" sz="850" dirty="0"/>
          </a:p>
        </p:txBody>
      </p:sp>
      <p:sp>
        <p:nvSpPr>
          <p:cNvPr id="12" name="Text 10"/>
          <p:cNvSpPr/>
          <p:nvPr/>
        </p:nvSpPr>
        <p:spPr>
          <a:xfrm>
            <a:off x="611758" y="2480518"/>
            <a:ext cx="202696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Validez interna</a:t>
            </a:r>
            <a:endParaRPr lang="en-US" sz="850" dirty="0"/>
          </a:p>
        </p:txBody>
      </p:sp>
      <p:sp>
        <p:nvSpPr>
          <p:cNvPr id="13" name="Text 11"/>
          <p:cNvSpPr/>
          <p:nvPr/>
        </p:nvSpPr>
        <p:spPr>
          <a:xfrm>
            <a:off x="2402979" y="2480518"/>
            <a:ext cx="2678385"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¿Mis explicaciones son correctas?</a:t>
            </a:r>
            <a:endParaRPr lang="en-US" sz="850" dirty="0"/>
          </a:p>
        </p:txBody>
      </p:sp>
      <p:sp>
        <p:nvSpPr>
          <p:cNvPr id="14" name="Text 12"/>
          <p:cNvSpPr/>
          <p:nvPr/>
        </p:nvSpPr>
        <p:spPr>
          <a:xfrm>
            <a:off x="4845621" y="2480518"/>
            <a:ext cx="3686770"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Análisis rival de explicaciones alternativas; lógica de vinculación explícita</a:t>
            </a:r>
            <a:endParaRPr lang="en-US" sz="850" dirty="0"/>
          </a:p>
        </p:txBody>
      </p:sp>
      <p:sp>
        <p:nvSpPr>
          <p:cNvPr id="15" name="Text 13"/>
          <p:cNvSpPr/>
          <p:nvPr/>
        </p:nvSpPr>
        <p:spPr>
          <a:xfrm>
            <a:off x="611758" y="2914055"/>
            <a:ext cx="202696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Validez externa</a:t>
            </a:r>
            <a:endParaRPr lang="en-US" sz="850" dirty="0"/>
          </a:p>
        </p:txBody>
      </p:sp>
      <p:sp>
        <p:nvSpPr>
          <p:cNvPr id="16" name="Text 14"/>
          <p:cNvSpPr/>
          <p:nvPr/>
        </p:nvSpPr>
        <p:spPr>
          <a:xfrm>
            <a:off x="2402979" y="2914055"/>
            <a:ext cx="2678385"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¿Mis hallazgos son transferibles?</a:t>
            </a:r>
            <a:endParaRPr lang="en-US" sz="850" dirty="0"/>
          </a:p>
        </p:txBody>
      </p:sp>
      <p:sp>
        <p:nvSpPr>
          <p:cNvPr id="17" name="Text 15"/>
          <p:cNvSpPr/>
          <p:nvPr/>
        </p:nvSpPr>
        <p:spPr>
          <a:xfrm>
            <a:off x="4845621" y="2914055"/>
            <a:ext cx="4143970"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Descripción densa del contexto; casos múltiples para replicación</a:t>
            </a:r>
            <a:endParaRPr lang="en-US" sz="850" dirty="0"/>
          </a:p>
        </p:txBody>
      </p:sp>
      <p:sp>
        <p:nvSpPr>
          <p:cNvPr id="18" name="Text 16"/>
          <p:cNvSpPr/>
          <p:nvPr/>
        </p:nvSpPr>
        <p:spPr>
          <a:xfrm>
            <a:off x="611758" y="3189833"/>
            <a:ext cx="2026965" cy="157758"/>
          </a:xfrm>
          <a:prstGeom prst="rect">
            <a:avLst/>
          </a:prstGeom>
          <a:noFill/>
          <a:ln/>
        </p:spPr>
        <p:txBody>
          <a:bodyPr wrap="none" lIns="0" tIns="0" rIns="0" bIns="0" rtlCol="0" anchor="t"/>
          <a:lstStyle/>
          <a:p>
            <a:pPr algn="l" indent="0" marL="0">
              <a:lnSpc>
                <a:spcPct val="119000"/>
              </a:lnSpc>
              <a:buNone/>
            </a:pPr>
            <a:r>
              <a:rPr lang="en-US" sz="850" b="1" dirty="0">
                <a:solidFill>
                  <a:srgbClr val="272525"/>
                </a:solidFill>
                <a:latin typeface="Inter Bold" pitchFamily="34" charset="0"/>
                <a:ea typeface="Inter Bold" pitchFamily="34" charset="-122"/>
                <a:cs typeface="Inter Bold" pitchFamily="34" charset="-120"/>
              </a:rPr>
              <a:t>Confiabilidad</a:t>
            </a:r>
            <a:endParaRPr lang="en-US" sz="850" dirty="0"/>
          </a:p>
        </p:txBody>
      </p:sp>
      <p:sp>
        <p:nvSpPr>
          <p:cNvPr id="19" name="Text 17"/>
          <p:cNvSpPr/>
          <p:nvPr/>
        </p:nvSpPr>
        <p:spPr>
          <a:xfrm>
            <a:off x="2402979" y="3189833"/>
            <a:ext cx="2678385"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¿Otro investigador llegaría al mismo lugar?</a:t>
            </a:r>
            <a:endParaRPr lang="en-US" sz="850" dirty="0"/>
          </a:p>
        </p:txBody>
      </p:sp>
      <p:sp>
        <p:nvSpPr>
          <p:cNvPr id="20" name="Text 18"/>
          <p:cNvSpPr/>
          <p:nvPr/>
        </p:nvSpPr>
        <p:spPr>
          <a:xfrm>
            <a:off x="4845621" y="3189833"/>
            <a:ext cx="4143970"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Protocolo documentado; base de datos del caso; audit trail</a:t>
            </a:r>
            <a:endParaRPr lang="en-US" sz="850" dirty="0"/>
          </a:p>
        </p:txBody>
      </p:sp>
      <p:sp>
        <p:nvSpPr>
          <p:cNvPr id="21" name="Shape 19"/>
          <p:cNvSpPr/>
          <p:nvPr/>
        </p:nvSpPr>
        <p:spPr>
          <a:xfrm>
            <a:off x="496119" y="3603650"/>
            <a:ext cx="3940820" cy="842070"/>
          </a:xfrm>
          <a:prstGeom prst="roundRect">
            <a:avLst>
              <a:gd name="adj" fmla="val 5524"/>
            </a:avLst>
          </a:prstGeom>
          <a:solidFill>
            <a:srgbClr val="FFB3B4"/>
          </a:solidFill>
          <a:ln/>
        </p:spPr>
      </p:sp>
      <p:pic>
        <p:nvPicPr>
          <p:cNvPr id="22" name="Image 0" descr="preencoded.png">    </p:cNvPr>
          <p:cNvPicPr>
            <a:picLocks noChangeAspect="1"/>
          </p:cNvPicPr>
          <p:nvPr/>
        </p:nvPicPr>
        <p:blipFill>
          <a:blip r:embed="rId1"/>
          <a:stretch>
            <a:fillRect/>
          </a:stretch>
        </p:blipFill>
        <p:spPr>
          <a:xfrm>
            <a:off x="606847" y="3764235"/>
            <a:ext cx="138410" cy="110728"/>
          </a:xfrm>
          <a:prstGeom prst="rect">
            <a:avLst/>
          </a:prstGeom>
        </p:spPr>
      </p:pic>
      <p:sp>
        <p:nvSpPr>
          <p:cNvPr id="23" name="Text 20"/>
          <p:cNvSpPr/>
          <p:nvPr/>
        </p:nvSpPr>
        <p:spPr>
          <a:xfrm>
            <a:off x="855985" y="3709169"/>
            <a:ext cx="3470225" cy="631031"/>
          </a:xfrm>
          <a:prstGeom prst="rect">
            <a:avLst/>
          </a:prstGeom>
          <a:noFill/>
          <a:ln/>
        </p:spPr>
        <p:txBody>
          <a:bodyPr wrap="square" lIns="0" tIns="0" rIns="0" bIns="0" rtlCol="0" anchor="t">
            <a:normAutofit/>
          </a:bodyPr>
          <a:lstStyle/>
          <a:p>
            <a:pPr algn="l" indent="0" marL="0">
              <a:lnSpc>
                <a:spcPct val="119000"/>
              </a:lnSpc>
              <a:buNone/>
            </a:pPr>
            <a:r>
              <a:rPr lang="en-US" sz="850" b="1" dirty="0">
                <a:solidFill>
                  <a:srgbClr val="000000"/>
                </a:solidFill>
                <a:latin typeface="Inter Bold" pitchFamily="34" charset="0"/>
                <a:ea typeface="Inter Bold" pitchFamily="34" charset="-122"/>
                <a:cs typeface="Inter Bold" pitchFamily="34" charset="-120"/>
              </a:rPr>
              <a:t>Error más común (Rico, ICSE 2024):</a:t>
            </a:r>
            <a:pPr algn="l" indent="0" marL="0">
              <a:lnSpc>
                <a:spcPct val="119000"/>
              </a:lnSpc>
              <a:buNone/>
            </a:pPr>
            <a:r>
              <a:rPr lang="en-US" sz="850" dirty="0">
                <a:solidFill>
                  <a:srgbClr val="000000"/>
                </a:solidFill>
                <a:latin typeface="Inter" pitchFamily="34" charset="0"/>
                <a:ea typeface="Inter" pitchFamily="34" charset="-122"/>
                <a:cs typeface="Inter" pitchFamily="34" charset="-120"/>
              </a:rPr>
              <a:t> Los investigadores mencionan "validez" en el abstract pero no la discuten en el cuerpo del paper. Planificar las mitigaciones desde el diseño garantiza que sean parte del proceso, no un apéndice decorativo.</a:t>
            </a:r>
            <a:endParaRPr lang="en-US" sz="850" dirty="0"/>
          </a:p>
        </p:txBody>
      </p:sp>
      <p:sp>
        <p:nvSpPr>
          <p:cNvPr id="24" name="Text 21"/>
          <p:cNvSpPr/>
          <p:nvPr/>
        </p:nvSpPr>
        <p:spPr>
          <a:xfrm>
            <a:off x="4711824" y="3592785"/>
            <a:ext cx="1841599" cy="173013"/>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Estrategia práctica</a:t>
            </a:r>
            <a:endParaRPr lang="en-US" sz="1050" dirty="0"/>
          </a:p>
        </p:txBody>
      </p:sp>
      <p:sp>
        <p:nvSpPr>
          <p:cNvPr id="25" name="Text 22"/>
          <p:cNvSpPr/>
          <p:nvPr/>
        </p:nvSpPr>
        <p:spPr>
          <a:xfrm>
            <a:off x="4711824" y="3852267"/>
            <a:ext cx="3940820"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Incluir en el protocolo una tabla de amenazas anticipadas y la mitigación planificada para cada una. Si no puedes escribir la mitigación, es señal de que el diseño necesita ajuste.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9855"/>
            <a:ext cx="2506117" cy="256059"/>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Inter Bold" pitchFamily="34" charset="0"/>
                <a:ea typeface="Inter Bold" pitchFamily="34" charset="-122"/>
                <a:cs typeface="Inter Bold" pitchFamily="34" charset="-120"/>
              </a:rPr>
              <a:t>Cierre + INVB11</a:t>
            </a:r>
            <a:endParaRPr lang="en-US" sz="1600" dirty="0"/>
          </a:p>
        </p:txBody>
      </p:sp>
      <p:sp>
        <p:nvSpPr>
          <p:cNvPr id="3" name="Text 1"/>
          <p:cNvSpPr/>
          <p:nvPr/>
        </p:nvSpPr>
        <p:spPr>
          <a:xfrm>
            <a:off x="496119" y="664815"/>
            <a:ext cx="1481658" cy="128067"/>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Inter Bold" pitchFamily="34" charset="0"/>
                <a:ea typeface="Inter Bold" pitchFamily="34" charset="-122"/>
                <a:cs typeface="Inter Bold" pitchFamily="34" charset="-120"/>
              </a:rPr>
              <a:t>Resumen de la clase</a:t>
            </a:r>
            <a:endParaRPr lang="en-US" sz="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6852" y="867966"/>
            <a:ext cx="122932" cy="122932"/>
          </a:xfrm>
          <a:prstGeom prst="rect">
            <a:avLst/>
          </a:prstGeom>
        </p:spPr>
      </p:pic>
      <p:sp>
        <p:nvSpPr>
          <p:cNvPr id="5" name="Text 2"/>
          <p:cNvSpPr/>
          <p:nvPr/>
        </p:nvSpPr>
        <p:spPr>
          <a:xfrm>
            <a:off x="762446" y="863947"/>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El diseño conecta las preguntas con los datos y los datos con los hallazgos (Yin, 2014: 5 componentes)</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6852" y="1212652"/>
            <a:ext cx="122932" cy="122932"/>
          </a:xfrm>
          <a:prstGeom prst="rect">
            <a:avLst/>
          </a:prstGeom>
        </p:spPr>
      </p:pic>
      <p:sp>
        <p:nvSpPr>
          <p:cNvPr id="7" name="Text 3"/>
          <p:cNvSpPr/>
          <p:nvPr/>
        </p:nvSpPr>
        <p:spPr>
          <a:xfrm>
            <a:off x="762446" y="1208633"/>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Las proposiciones son el corazón orientador: no son hipótesis estadísticas sino expectativas teóricas argumentadas</a:t>
            </a:r>
            <a:endParaRPr lang="en-US" sz="6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6852" y="1557338"/>
            <a:ext cx="122932" cy="122932"/>
          </a:xfrm>
          <a:prstGeom prst="rect">
            <a:avLst/>
          </a:prstGeom>
        </p:spPr>
      </p:pic>
      <p:sp>
        <p:nvSpPr>
          <p:cNvPr id="9" name="Text 4"/>
          <p:cNvSpPr/>
          <p:nvPr/>
        </p:nvSpPr>
        <p:spPr>
          <a:xfrm>
            <a:off x="762446" y="1553319"/>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El muestreo es intencional: se elige el caso por su relevancia, no su representatividad</a:t>
            </a:r>
            <a:endParaRPr lang="en-US" sz="600"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852" y="1902023"/>
            <a:ext cx="122932" cy="122932"/>
          </a:xfrm>
          <a:prstGeom prst="rect">
            <a:avLst/>
          </a:prstGeom>
        </p:spPr>
      </p:pic>
      <p:sp>
        <p:nvSpPr>
          <p:cNvPr id="11" name="Text 5"/>
          <p:cNvSpPr/>
          <p:nvPr/>
        </p:nvSpPr>
        <p:spPr>
          <a:xfrm>
            <a:off x="762446" y="1898005"/>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El protocolo documenta todo antes de entrar al campo</a:t>
            </a:r>
            <a:endParaRPr lang="en-US" sz="6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6852" y="2246709"/>
            <a:ext cx="122932" cy="122932"/>
          </a:xfrm>
          <a:prstGeom prst="rect">
            <a:avLst/>
          </a:prstGeom>
        </p:spPr>
      </p:pic>
      <p:sp>
        <p:nvSpPr>
          <p:cNvPr id="13" name="Text 6"/>
          <p:cNvSpPr/>
          <p:nvPr/>
        </p:nvSpPr>
        <p:spPr>
          <a:xfrm>
            <a:off x="762446" y="2242691"/>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La ética no es burocracia — es la sostenibilidad del acceso y la credibilidad del estudio</a:t>
            </a:r>
            <a:endParaRPr lang="en-US" sz="600" dirty="0"/>
          </a:p>
        </p:txBody>
      </p:sp>
      <p:pic>
        <p:nvPicPr>
          <p:cNvPr id="1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6852" y="2591395"/>
            <a:ext cx="122932" cy="122932"/>
          </a:xfrm>
          <a:prstGeom prst="rect">
            <a:avLst/>
          </a:prstGeom>
        </p:spPr>
      </p:pic>
      <p:sp>
        <p:nvSpPr>
          <p:cNvPr id="15" name="Text 7"/>
          <p:cNvSpPr/>
          <p:nvPr/>
        </p:nvSpPr>
        <p:spPr>
          <a:xfrm>
            <a:off x="762446" y="2587377"/>
            <a:ext cx="7885435"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NASA OSDMP: el diseño abierto y pre-registrado como estándar de rigor científico</a:t>
            </a:r>
            <a:endParaRPr lang="en-US" sz="600" dirty="0"/>
          </a:p>
        </p:txBody>
      </p:sp>
      <p:sp>
        <p:nvSpPr>
          <p:cNvPr id="16" name="Shape 8"/>
          <p:cNvSpPr/>
          <p:nvPr/>
        </p:nvSpPr>
        <p:spPr>
          <a:xfrm>
            <a:off x="496119" y="2911078"/>
            <a:ext cx="8151763" cy="9525"/>
          </a:xfrm>
          <a:prstGeom prst="roundRect">
            <a:avLst>
              <a:gd name="adj" fmla="val 60000"/>
            </a:avLst>
          </a:prstGeom>
          <a:solidFill>
            <a:srgbClr val="272525">
              <a:alpha val="50000"/>
            </a:srgbClr>
          </a:solidFill>
          <a:ln/>
        </p:spPr>
      </p:sp>
      <p:sp>
        <p:nvSpPr>
          <p:cNvPr id="17" name="Text 9"/>
          <p:cNvSpPr/>
          <p:nvPr/>
        </p:nvSpPr>
        <p:spPr>
          <a:xfrm>
            <a:off x="496119" y="3012132"/>
            <a:ext cx="2389584" cy="128067"/>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Inter Bold" pitchFamily="34" charset="0"/>
                <a:ea typeface="Inter Bold" pitchFamily="34" charset="-122"/>
                <a:cs typeface="Inter Bold" pitchFamily="34" charset="-120"/>
              </a:rPr>
              <a:t>INVB11 — Investigación Bibliográfica 11</a:t>
            </a:r>
            <a:endParaRPr lang="en-US" sz="800" dirty="0"/>
          </a:p>
        </p:txBody>
      </p:sp>
      <p:sp>
        <p:nvSpPr>
          <p:cNvPr id="18" name="Text 10"/>
          <p:cNvSpPr/>
          <p:nvPr/>
        </p:nvSpPr>
        <p:spPr>
          <a:xfrm>
            <a:off x="496119" y="3211264"/>
            <a:ext cx="8608963" cy="103436"/>
          </a:xfrm>
          <a:prstGeom prst="rect">
            <a:avLst/>
          </a:prstGeom>
          <a:noFill/>
          <a:ln/>
        </p:spPr>
        <p:txBody>
          <a:bodyPr wrap="none" lIns="0" tIns="0" rIns="0" bIns="0" rtlCol="0" anchor="t"/>
          <a:lstStyle/>
          <a:p>
            <a:pPr algn="l" indent="0" marL="0">
              <a:lnSpc>
                <a:spcPct val="105000"/>
              </a:lnSpc>
              <a:buNone/>
            </a:pPr>
            <a:r>
              <a:rPr lang="en-US" sz="600" dirty="0">
                <a:solidFill>
                  <a:srgbClr val="272525"/>
                </a:solidFill>
                <a:latin typeface="Inter" pitchFamily="34" charset="0"/>
                <a:ea typeface="Inter" pitchFamily="34" charset="-122"/>
                <a:cs typeface="Inter" pitchFamily="34" charset="-120"/>
              </a:rPr>
              <a:t>Retoma la propuesta de INVB10 y redacta el </a:t>
            </a:r>
            <a:pPr algn="l" indent="0" marL="0">
              <a:lnSpc>
                <a:spcPct val="105000"/>
              </a:lnSpc>
              <a:buNone/>
            </a:pPr>
            <a:r>
              <a:rPr lang="en-US" sz="600" b="1" dirty="0">
                <a:solidFill>
                  <a:srgbClr val="272525"/>
                </a:solidFill>
                <a:latin typeface="Inter Bold" pitchFamily="34" charset="0"/>
                <a:ea typeface="Inter Bold" pitchFamily="34" charset="-122"/>
                <a:cs typeface="Inter Bold" pitchFamily="34" charset="-120"/>
              </a:rPr>
              <a:t>protocolo inicial</a:t>
            </a:r>
            <a:pPr algn="l" indent="0" marL="0">
              <a:lnSpc>
                <a:spcPct val="105000"/>
              </a:lnSpc>
              <a:buNone/>
            </a:pPr>
            <a:r>
              <a:rPr lang="en-US" sz="600" dirty="0">
                <a:solidFill>
                  <a:srgbClr val="272525"/>
                </a:solidFill>
                <a:latin typeface="Inter" pitchFamily="34" charset="0"/>
                <a:ea typeface="Inter" pitchFamily="34" charset="-122"/>
                <a:cs typeface="Inter" pitchFamily="34" charset="-120"/>
              </a:rPr>
              <a:t> de tu estudio de caso. El protocolo debe incluir:</a:t>
            </a:r>
            <a:endParaRPr lang="en-US" sz="600" dirty="0"/>
          </a:p>
        </p:txBody>
      </p:sp>
      <p:sp>
        <p:nvSpPr>
          <p:cNvPr id="19" name="Text 11"/>
          <p:cNvSpPr/>
          <p:nvPr/>
        </p:nvSpPr>
        <p:spPr>
          <a:xfrm>
            <a:off x="496119" y="3367980"/>
            <a:ext cx="8151763" cy="583257"/>
          </a:xfrm>
          <a:prstGeom prst="rect">
            <a:avLst/>
          </a:prstGeom>
          <a:noFill/>
          <a:ln/>
        </p:spPr>
        <p:txBody>
          <a:bodyPr wrap="square" lIns="0" tIns="0" rIns="0" bIns="0" rtlCol="0" anchor="t">
            <a:normAutofit/>
          </a:bodyPr>
          <a:lstStyle/>
          <a:p>
            <a:pPr algn="l" marL="121920" indent="-121920">
              <a:lnSpc>
                <a:spcPct val="105000"/>
              </a:lnSpc>
              <a:buSzPct val="100000"/>
              <a:buFont typeface="+mj-lt"/>
              <a:buAutoNum type="arabicPeriod" startAt="1"/>
            </a:pPr>
            <a:r>
              <a:rPr lang="en-US" sz="600" b="1" dirty="0">
                <a:solidFill>
                  <a:srgbClr val="272525"/>
                </a:solidFill>
                <a:latin typeface="Inter Bold" pitchFamily="34" charset="0"/>
                <a:ea typeface="Inter Bold" pitchFamily="34" charset="-122"/>
                <a:cs typeface="Inter Bold" pitchFamily="34" charset="-120"/>
              </a:rPr>
              <a:t>Preguntas de investigación</a:t>
            </a:r>
            <a:pPr algn="l" marL="121920" indent="-121920">
              <a:lnSpc>
                <a:spcPct val="105000"/>
              </a:lnSpc>
              <a:buSzPct val="100000"/>
              <a:buFont typeface="+mj-lt"/>
              <a:buAutoNum type="arabicPeriod" startAt="1"/>
            </a:pPr>
            <a:r>
              <a:rPr lang="en-US" sz="600" dirty="0">
                <a:solidFill>
                  <a:srgbClr val="272525"/>
                </a:solidFill>
                <a:latin typeface="Inter" pitchFamily="34" charset="0"/>
                <a:ea typeface="Inter" pitchFamily="34" charset="-122"/>
                <a:cs typeface="Inter" pitchFamily="34" charset="-120"/>
              </a:rPr>
              <a:t> (mínimo 2, que empiecen con "¿Cómo...?" o "¿Por qué...?")</a:t>
            </a:r>
            <a:endParaRPr lang="en-US" sz="600" dirty="0"/>
          </a:p>
          <a:p>
            <a:pPr algn="l" marL="121920" indent="-121920">
              <a:lnSpc>
                <a:spcPct val="105000"/>
              </a:lnSpc>
              <a:buSzPct val="100000"/>
              <a:buFont typeface="+mj-lt"/>
              <a:buAutoNum type="arabicPeriod" startAt="2"/>
            </a:pPr>
            <a:r>
              <a:rPr lang="en-US" sz="600" b="1" dirty="0">
                <a:solidFill>
                  <a:srgbClr val="272525"/>
                </a:solidFill>
                <a:latin typeface="Inter Bold" pitchFamily="34" charset="0"/>
                <a:ea typeface="Inter Bold" pitchFamily="34" charset="-122"/>
                <a:cs typeface="Inter Bold" pitchFamily="34" charset="-120"/>
              </a:rPr>
              <a:t>Proposición(es):</a:t>
            </a:r>
            <a:pPr algn="l" marL="121920" indent="-121920">
              <a:lnSpc>
                <a:spcPct val="105000"/>
              </a:lnSpc>
              <a:buSzPct val="100000"/>
              <a:buFont typeface="+mj-lt"/>
              <a:buAutoNum type="arabicPeriod" startAt="2"/>
            </a:pPr>
            <a:r>
              <a:rPr lang="en-US" sz="600" dirty="0">
                <a:solidFill>
                  <a:srgbClr val="272525"/>
                </a:solidFill>
                <a:latin typeface="Inter" pitchFamily="34" charset="0"/>
                <a:ea typeface="Inter" pitchFamily="34" charset="-122"/>
                <a:cs typeface="Inter" pitchFamily="34" charset="-120"/>
              </a:rPr>
              <a:t> al menos una afirmación orientadora derivada de literatura o práctica</a:t>
            </a:r>
            <a:endParaRPr lang="en-US" sz="600" dirty="0"/>
          </a:p>
          <a:p>
            <a:pPr algn="l" marL="121920" indent="-121920">
              <a:lnSpc>
                <a:spcPct val="105000"/>
              </a:lnSpc>
              <a:buSzPct val="100000"/>
              <a:buFont typeface="+mj-lt"/>
              <a:buAutoNum type="arabicPeriod" startAt="3"/>
            </a:pPr>
            <a:r>
              <a:rPr lang="en-US" sz="600" b="1" dirty="0">
                <a:solidFill>
                  <a:srgbClr val="272525"/>
                </a:solidFill>
                <a:latin typeface="Inter Bold" pitchFamily="34" charset="0"/>
                <a:ea typeface="Inter Bold" pitchFamily="34" charset="-122"/>
                <a:cs typeface="Inter Bold" pitchFamily="34" charset="-120"/>
              </a:rPr>
              <a:t>Unidad de análisis:</a:t>
            </a:r>
            <a:pPr algn="l" marL="121920" indent="-121920">
              <a:lnSpc>
                <a:spcPct val="105000"/>
              </a:lnSpc>
              <a:buSzPct val="100000"/>
              <a:buFont typeface="+mj-lt"/>
              <a:buAutoNum type="arabicPeriod" startAt="3"/>
            </a:pPr>
            <a:r>
              <a:rPr lang="en-US" sz="600" dirty="0">
                <a:solidFill>
                  <a:srgbClr val="272525"/>
                </a:solidFill>
                <a:latin typeface="Inter" pitchFamily="34" charset="0"/>
                <a:ea typeface="Inter" pitchFamily="34" charset="-122"/>
                <a:cs typeface="Inter" pitchFamily="34" charset="-120"/>
              </a:rPr>
              <a:t> descripción precisa del caso (empresa/equipo/proyecto) y justificación de su selección (criterio de Yin: típico / extremo / crítico / revelador)</a:t>
            </a:r>
            <a:endParaRPr lang="en-US" sz="600" dirty="0"/>
          </a:p>
          <a:p>
            <a:pPr algn="l" marL="121920" indent="-121920">
              <a:lnSpc>
                <a:spcPct val="105000"/>
              </a:lnSpc>
              <a:buSzPct val="100000"/>
              <a:buFont typeface="+mj-lt"/>
              <a:buAutoNum type="arabicPeriod" startAt="4"/>
            </a:pPr>
            <a:r>
              <a:rPr lang="en-US" sz="600" b="1" dirty="0">
                <a:solidFill>
                  <a:srgbClr val="272525"/>
                </a:solidFill>
                <a:latin typeface="Inter Bold" pitchFamily="34" charset="0"/>
                <a:ea typeface="Inter Bold" pitchFamily="34" charset="-122"/>
                <a:cs typeface="Inter Bold" pitchFamily="34" charset="-120"/>
              </a:rPr>
              <a:t>Fuentes de evidencia planificadas:</a:t>
            </a:r>
            <a:pPr algn="l" marL="121920" indent="-121920">
              <a:lnSpc>
                <a:spcPct val="105000"/>
              </a:lnSpc>
              <a:buSzPct val="100000"/>
              <a:buFont typeface="+mj-lt"/>
              <a:buAutoNum type="arabicPeriod" startAt="4"/>
            </a:pPr>
            <a:r>
              <a:rPr lang="en-US" sz="600" dirty="0">
                <a:solidFill>
                  <a:srgbClr val="272525"/>
                </a:solidFill>
                <a:latin typeface="Inter" pitchFamily="34" charset="0"/>
                <a:ea typeface="Inter" pitchFamily="34" charset="-122"/>
                <a:cs typeface="Inter" pitchFamily="34" charset="-120"/>
              </a:rPr>
              <a:t> ¿qué datos recolectarás? ¿con qué instrumentos?</a:t>
            </a:r>
            <a:endParaRPr lang="en-US" sz="600" dirty="0"/>
          </a:p>
          <a:p>
            <a:pPr algn="l" marL="121920" indent="-121920">
              <a:lnSpc>
                <a:spcPct val="105000"/>
              </a:lnSpc>
              <a:buSzPct val="100000"/>
              <a:buFont typeface="+mj-lt"/>
              <a:buAutoNum type="arabicPeriod" startAt="5"/>
            </a:pPr>
            <a:r>
              <a:rPr lang="en-US" sz="600" b="1" dirty="0">
                <a:solidFill>
                  <a:srgbClr val="272525"/>
                </a:solidFill>
                <a:latin typeface="Inter Bold" pitchFamily="34" charset="0"/>
                <a:ea typeface="Inter Bold" pitchFamily="34" charset="-122"/>
                <a:cs typeface="Inter Bold" pitchFamily="34" charset="-120"/>
              </a:rPr>
              <a:t>Consideración ética:</a:t>
            </a:r>
            <a:pPr algn="l" marL="121920" indent="-121920">
              <a:lnSpc>
                <a:spcPct val="105000"/>
              </a:lnSpc>
              <a:buSzPct val="100000"/>
              <a:buFont typeface="+mj-lt"/>
              <a:buAutoNum type="arabicPeriod" startAt="5"/>
            </a:pPr>
            <a:r>
              <a:rPr lang="en-US" sz="600" dirty="0">
                <a:solidFill>
                  <a:srgbClr val="272525"/>
                </a:solidFill>
                <a:latin typeface="Inter" pitchFamily="34" charset="0"/>
                <a:ea typeface="Inter" pitchFamily="34" charset="-122"/>
                <a:cs typeface="Inter" pitchFamily="34" charset="-120"/>
              </a:rPr>
              <a:t> ¿qué documento ético necesitarías antes de iniciar?</a:t>
            </a:r>
            <a:endParaRPr lang="en-US" sz="600" dirty="0"/>
          </a:p>
        </p:txBody>
      </p:sp>
      <p:sp>
        <p:nvSpPr>
          <p:cNvPr id="20" name="Text 12"/>
          <p:cNvSpPr/>
          <p:nvPr/>
        </p:nvSpPr>
        <p:spPr>
          <a:xfrm>
            <a:off x="496119" y="4004518"/>
            <a:ext cx="8608963" cy="103436"/>
          </a:xfrm>
          <a:prstGeom prst="rect">
            <a:avLst/>
          </a:prstGeom>
          <a:noFill/>
          <a:ln/>
        </p:spPr>
        <p:txBody>
          <a:bodyPr wrap="none" lIns="0" tIns="0" rIns="0" bIns="0" rtlCol="0" anchor="t"/>
          <a:lstStyle/>
          <a:p>
            <a:pPr algn="l" indent="0" marL="0">
              <a:lnSpc>
                <a:spcPct val="105000"/>
              </a:lnSpc>
              <a:buNone/>
            </a:pPr>
            <a:r>
              <a:rPr lang="en-US" sz="600" b="1" dirty="0">
                <a:solidFill>
                  <a:srgbClr val="272525"/>
                </a:solidFill>
                <a:latin typeface="Inter Bold" pitchFamily="34" charset="0"/>
                <a:ea typeface="Inter Bold" pitchFamily="34" charset="-122"/>
                <a:cs typeface="Inter Bold" pitchFamily="34" charset="-120"/>
              </a:rPr>
              <a:t>Formato:</a:t>
            </a:r>
            <a:pPr algn="l" indent="0" marL="0">
              <a:lnSpc>
                <a:spcPct val="105000"/>
              </a:lnSpc>
              <a:buNone/>
            </a:pPr>
            <a:r>
              <a:rPr lang="en-US" sz="600" dirty="0">
                <a:solidFill>
                  <a:srgbClr val="272525"/>
                </a:solidFill>
                <a:latin typeface="Inter" pitchFamily="34" charset="0"/>
                <a:ea typeface="Inter" pitchFamily="34" charset="-122"/>
                <a:cs typeface="Inter" pitchFamily="34" charset="-120"/>
              </a:rPr>
              <a:t> 1–2 páginas, APA 7ª edición · Entrega: próxima clase</a:t>
            </a:r>
            <a:endParaRPr lang="en-US" sz="600" dirty="0"/>
          </a:p>
        </p:txBody>
      </p:sp>
      <p:sp>
        <p:nvSpPr>
          <p:cNvPr id="21" name="Shape 13"/>
          <p:cNvSpPr/>
          <p:nvPr/>
        </p:nvSpPr>
        <p:spPr>
          <a:xfrm>
            <a:off x="496119" y="4161234"/>
            <a:ext cx="8151763" cy="539948"/>
          </a:xfrm>
          <a:prstGeom prst="roundRect">
            <a:avLst>
              <a:gd name="adj" fmla="val 6375"/>
            </a:avLst>
          </a:prstGeom>
          <a:solidFill>
            <a:srgbClr val="DADBF1"/>
          </a:solidFill>
          <a:ln/>
        </p:spPr>
      </p:sp>
      <p:pic>
        <p:nvPicPr>
          <p:cNvPr id="22" name="Image 6" descr="preencoded.png">    </p:cNvPr>
          <p:cNvPicPr>
            <a:picLocks noChangeAspect="1"/>
          </p:cNvPicPr>
          <p:nvPr/>
        </p:nvPicPr>
        <p:blipFill>
          <a:blip r:embed="rId13"/>
          <a:stretch>
            <a:fillRect/>
          </a:stretch>
        </p:blipFill>
        <p:spPr>
          <a:xfrm>
            <a:off x="578048" y="4263628"/>
            <a:ext cx="102394" cy="81930"/>
          </a:xfrm>
          <a:prstGeom prst="rect">
            <a:avLst/>
          </a:prstGeom>
        </p:spPr>
      </p:pic>
      <p:sp>
        <p:nvSpPr>
          <p:cNvPr id="23" name="Text 14"/>
          <p:cNvSpPr/>
          <p:nvPr/>
        </p:nvSpPr>
        <p:spPr>
          <a:xfrm>
            <a:off x="762372" y="4224338"/>
            <a:ext cx="7803579" cy="413742"/>
          </a:xfrm>
          <a:prstGeom prst="rect">
            <a:avLst/>
          </a:prstGeom>
          <a:noFill/>
          <a:ln/>
        </p:spPr>
        <p:txBody>
          <a:bodyPr wrap="square" lIns="0" tIns="0" rIns="0" bIns="0" rtlCol="0" anchor="t">
            <a:normAutofit/>
          </a:bodyPr>
          <a:lstStyle/>
          <a:p>
            <a:pPr algn="l" indent="0" marL="0">
              <a:lnSpc>
                <a:spcPct val="105000"/>
              </a:lnSpc>
              <a:buNone/>
            </a:pPr>
            <a:r>
              <a:rPr lang="en-US" sz="600" b="1" dirty="0">
                <a:solidFill>
                  <a:srgbClr val="000000"/>
                </a:solidFill>
                <a:latin typeface="Inter Bold" pitchFamily="34" charset="0"/>
                <a:ea typeface="Inter Bold" pitchFamily="34" charset="-122"/>
                <a:cs typeface="Inter Bold" pitchFamily="34" charset="-120"/>
              </a:rPr>
              <a:t>Referencias clave:</a:t>
            </a:r>
            <a:endParaRPr lang="en-US" sz="600" dirty="0"/>
          </a:p>
          <a:p>
            <a:pPr algn="l" indent="0" marL="0">
              <a:lnSpc>
                <a:spcPct val="105000"/>
              </a:lnSpc>
              <a:buNone/>
            </a:pPr>
            <a:r>
              <a:rPr lang="en-US" sz="600" dirty="0">
                <a:solidFill>
                  <a:srgbClr val="000000"/>
                </a:solidFill>
                <a:latin typeface="Inter" pitchFamily="34" charset="0"/>
                <a:ea typeface="Inter" pitchFamily="34" charset="-122"/>
                <a:cs typeface="Inter" pitchFamily="34" charset="-120"/>
              </a:rPr>
              <a:t>Yin, R.K. (2014). </a:t>
            </a:r>
            <a:pPr algn="l" indent="0" marL="0">
              <a:lnSpc>
                <a:spcPct val="105000"/>
              </a:lnSpc>
              <a:buNone/>
            </a:pPr>
            <a:r>
              <a:rPr lang="en-US" sz="600" i="1" dirty="0">
                <a:solidFill>
                  <a:srgbClr val="000000"/>
                </a:solidFill>
                <a:latin typeface="Inter" pitchFamily="34" charset="0"/>
                <a:ea typeface="Inter" pitchFamily="34" charset="-122"/>
                <a:cs typeface="Inter" pitchFamily="34" charset="-120"/>
              </a:rPr>
              <a:t>Case Study Research: Design and Methods</a:t>
            </a:r>
            <a:pPr algn="l" indent="0" marL="0">
              <a:lnSpc>
                <a:spcPct val="105000"/>
              </a:lnSpc>
              <a:buNone/>
            </a:pPr>
            <a:r>
              <a:rPr lang="en-US" sz="600" dirty="0">
                <a:solidFill>
                  <a:srgbClr val="000000"/>
                </a:solidFill>
                <a:latin typeface="Inter" pitchFamily="34" charset="0"/>
                <a:ea typeface="Inter" pitchFamily="34" charset="-122"/>
                <a:cs typeface="Inter" pitchFamily="34" charset="-120"/>
              </a:rPr>
              <a:t> (5th ed.). Sage.</a:t>
            </a:r>
            <a:endParaRPr lang="en-US" sz="600" dirty="0"/>
          </a:p>
          <a:p>
            <a:pPr algn="l" indent="0" marL="0">
              <a:lnSpc>
                <a:spcPct val="105000"/>
              </a:lnSpc>
              <a:buNone/>
            </a:pPr>
            <a:r>
              <a:rPr lang="en-US" sz="600" dirty="0">
                <a:solidFill>
                  <a:srgbClr val="000000"/>
                </a:solidFill>
                <a:latin typeface="Inter" pitchFamily="34" charset="0"/>
                <a:ea typeface="Inter" pitchFamily="34" charset="-122"/>
                <a:cs typeface="Inter" pitchFamily="34" charset="-120"/>
              </a:rPr>
              <a:t>Runeson, P. &amp; Höst, M. (2009). </a:t>
            </a:r>
            <a:pPr algn="l" indent="0" marL="0">
              <a:lnSpc>
                <a:spcPct val="105000"/>
              </a:lnSpc>
              <a:buNone/>
            </a:pPr>
            <a:r>
              <a:rPr lang="en-US" sz="600" i="1" dirty="0">
                <a:solidFill>
                  <a:srgbClr val="000000"/>
                </a:solidFill>
                <a:latin typeface="Inter" pitchFamily="34" charset="0"/>
                <a:ea typeface="Inter" pitchFamily="34" charset="-122"/>
                <a:cs typeface="Inter" pitchFamily="34" charset="-120"/>
              </a:rPr>
              <a:t>Empirical Software Engineering, 14</a:t>
            </a:r>
            <a:pPr algn="l" indent="0" marL="0">
              <a:lnSpc>
                <a:spcPct val="105000"/>
              </a:lnSpc>
              <a:buNone/>
            </a:pPr>
            <a:r>
              <a:rPr lang="en-US" sz="600" dirty="0">
                <a:solidFill>
                  <a:srgbClr val="000000"/>
                </a:solidFill>
                <a:latin typeface="Inter" pitchFamily="34" charset="0"/>
                <a:ea typeface="Inter" pitchFamily="34" charset="-122"/>
                <a:cs typeface="Inter" pitchFamily="34" charset="-120"/>
              </a:rPr>
              <a:t>(2), 131-164.</a:t>
            </a:r>
            <a:endParaRPr lang="en-US" sz="600" dirty="0"/>
          </a:p>
          <a:p>
            <a:pPr algn="l" indent="0" marL="0">
              <a:lnSpc>
                <a:spcPct val="105000"/>
              </a:lnSpc>
              <a:buNone/>
            </a:pPr>
            <a:r>
              <a:rPr lang="en-US" sz="600" dirty="0">
                <a:solidFill>
                  <a:srgbClr val="000000"/>
                </a:solidFill>
                <a:latin typeface="Inter" pitchFamily="34" charset="0"/>
                <a:ea typeface="Inter" pitchFamily="34" charset="-122"/>
                <a:cs typeface="Inter" pitchFamily="34" charset="-120"/>
              </a:rPr>
              <a:t>Runeson, P., Höst, M., Rainer, A. &amp; Regnell, B. (2012). </a:t>
            </a:r>
            <a:pPr algn="l" indent="0" marL="0">
              <a:lnSpc>
                <a:spcPct val="105000"/>
              </a:lnSpc>
              <a:buNone/>
            </a:pPr>
            <a:r>
              <a:rPr lang="en-US" sz="600" i="1" dirty="0">
                <a:solidFill>
                  <a:srgbClr val="000000"/>
                </a:solidFill>
                <a:latin typeface="Inter" pitchFamily="34" charset="0"/>
                <a:ea typeface="Inter" pitchFamily="34" charset="-122"/>
                <a:cs typeface="Inter" pitchFamily="34" charset="-120"/>
              </a:rPr>
              <a:t>Case Study Research in Software Engineering.</a:t>
            </a:r>
            <a:pPr algn="l" indent="0" marL="0">
              <a:lnSpc>
                <a:spcPct val="105000"/>
              </a:lnSpc>
              <a:buNone/>
            </a:pPr>
            <a:r>
              <a:rPr lang="en-US" sz="600" dirty="0">
                <a:solidFill>
                  <a:srgbClr val="000000"/>
                </a:solidFill>
                <a:latin typeface="Inter" pitchFamily="34" charset="0"/>
                <a:ea typeface="Inter" pitchFamily="34" charset="-122"/>
                <a:cs typeface="Inter" pitchFamily="34" charset="-120"/>
              </a:rPr>
              <a:t> Wiley.</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2026-06-25T15:51:29Z</dcterms:created>
  <dcterms:modified xsi:type="dcterms:W3CDTF">2026-06-25T15:51:29Z</dcterms:modified>
</cp:coreProperties>
</file>