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7.png"/><Relationship Id="rId10" Type="http://schemas.openxmlformats.org/officeDocument/2006/relationships/image" Target="../media/image-7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y Planificación del Experimento en 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1082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14 | Unidad 3 — Experimentación en IS (3.2.1)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 en Ingeniería de Software — ESPE | Ing. Ángel Rea, Ph.D.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323"/>
            <a:ext cx="495158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diseño es el experimento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96119" y="1099170"/>
            <a:ext cx="19050" cy="711994"/>
          </a:xfrm>
          <a:prstGeom prst="roundRect">
            <a:avLst>
              <a:gd name="adj" fmla="val 60000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698748" y="1244054"/>
            <a:ext cx="794913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"Un experimento mal diseñado no puede salvarse con buen análisis estadístico."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Wohlin et al., Experimentation in Software Engineering (2012)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6119" y="1956048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2013, Hannay et al. revisaron 113 experimentos IS publicados en ICSE y FSE: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6119" y="2379538"/>
            <a:ext cx="2609924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38%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956593" y="298951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Hipótesis ambiguas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6119" y="3277865"/>
            <a:ext cx="260992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Tenía hipótesis ambiguas o ausentes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67001" y="2379538"/>
            <a:ext cx="2609924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27%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3727475" y="298951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 aleatorización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7001" y="3277865"/>
            <a:ext cx="260992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documentaba el procedimiento de aleatorización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37883" y="2379538"/>
            <a:ext cx="2609999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19%</a:t>
            </a:r>
            <a:endParaRPr lang="en-US" sz="3500" dirty="0"/>
          </a:p>
        </p:txBody>
      </p:sp>
      <p:sp>
        <p:nvSpPr>
          <p:cNvPr id="13" name="Text 11"/>
          <p:cNvSpPr/>
          <p:nvPr/>
        </p:nvSpPr>
        <p:spPr>
          <a:xfrm>
            <a:off x="6498357" y="298951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Solo p-valor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7883" y="3277865"/>
            <a:ext cx="260999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reportaba el tamaño del efecto — solo el p-valor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6119" y="3844975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Resultado: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muchos estudios tenían datos válidos pero conclusiones no confiables — porque el diseño no lo soportaba.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6119" y="4200971"/>
            <a:ext cx="8151763" cy="523131"/>
          </a:xfrm>
          <a:prstGeom prst="roundRect">
            <a:avLst>
              <a:gd name="adj" fmla="val 10848"/>
            </a:avLst>
          </a:prstGeom>
          <a:solidFill>
            <a:srgbClr val="DADBF1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180" y="4389611"/>
            <a:ext cx="168846" cy="13506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35087" y="4363417"/>
            <a:ext cx="803493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diseño no es burocracia. Es la arquitectura que determina qué preguntas puede responder el experimento.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5931"/>
            <a:ext cx="806313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 5 componentes del diseño experimental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9243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Wohlin et al. (2012) — Estos 5 componentes deben quedar definidos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antes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ejecutar el experimento. Un componente no definido es una puerta abierta al sesgo.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05533"/>
            <a:ext cx="815176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714" y="2100114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85356" y="2100114"/>
            <a:ext cx="5873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 que responde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714" y="2511326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Objetivo (GQM)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85356" y="2511326"/>
            <a:ext cx="5873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quiero aprender y para quién es útil?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2714" y="2922538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Hipótesis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85356" y="2922538"/>
            <a:ext cx="5873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afirmo que ocurrirá? ¿Cómo lo refuto?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714" y="3333750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Variables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85356" y="3333750"/>
            <a:ext cx="5873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manipulo? ¿Qué mido? ¿Qué controlo?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3744962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Diseño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85356" y="3744962"/>
            <a:ext cx="5873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asigno sujetos y tratamientos?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4156174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Instrumentos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85356" y="4156174"/>
            <a:ext cx="5873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recolecto los datos y con qué herramientas?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26926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objetivo con GQM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18571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GQM?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1488058"/>
            <a:ext cx="221009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GQM (Goal-Question-Metric)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Basili et al. (1994): El framework estándar para definir objetivos de medición en IS.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925119" y="2340694"/>
            <a:ext cx="25844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Estructura del objetivo GQM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25119" y="2643039"/>
            <a:ext cx="2210098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Analizar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[objeto de estudio]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el propósito de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[intención]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respecto a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[aspecto de calidad]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el punto de vista de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[perspectiva]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contexto de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[entorno]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42546" y="118571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 aplicado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2546" y="1501601"/>
            <a:ext cx="14288" cy="2055614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6628581" y="1599233"/>
            <a:ext cx="2024063" cy="186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Analizar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uso de revisión de código asistida por IA (GitHub Copilot)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 el propósito de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evaluar su efecto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 respecto a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densidad de defectos y el tiempo de revisión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desde el punto de vista de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 desarrolladores junior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el contexto de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proyectos académicos de desarrollo web en Java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42546" y="3679254"/>
            <a:ext cx="2210098" cy="815280"/>
          </a:xfrm>
          <a:prstGeom prst="roundRect">
            <a:avLst>
              <a:gd name="adj" fmla="val 6390"/>
            </a:avLst>
          </a:prstGeom>
          <a:solidFill>
            <a:srgbClr val="DADB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20" y="3863801"/>
            <a:ext cx="155004" cy="1239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45498" y="3807842"/>
            <a:ext cx="1683172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GQM convierte una intuición en un objetivo operacionalizable y medible.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3376"/>
            <a:ext cx="5398666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Formulación de hipótesis en 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190104"/>
            <a:ext cx="265926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Hipótesis nula y alternativa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522363"/>
            <a:ext cx="3913808" cy="52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Hipótesis nula (H0):</a:t>
            </a:r>
            <a:pPr algn="l" indent="0" marL="0">
              <a:lnSpc>
                <a:spcPct val="129000"/>
              </a:lnSpc>
              <a:spcAft>
                <a:spcPts val="85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afirma que no hay diferencia ni efecto.</a:t>
            </a:r>
            <a:endParaRPr lang="en-US" sz="10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Hipótesis alternativa (H1):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afirma que hay diferencia o efecto.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2170956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6119" y="2503215"/>
            <a:ext cx="3913808" cy="1141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H0:</a:t>
            </a:r>
            <a:pPr algn="l" indent="0" marL="0">
              <a:lnSpc>
                <a:spcPct val="129000"/>
              </a:lnSpc>
              <a:spcAft>
                <a:spcPts val="85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"No existe diferencia significativa en la densidad de defectos entre los grupos que usan revisión con IA y los que usan revisión manual."</a:t>
            </a:r>
            <a:endParaRPr lang="en-US" sz="10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H1: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"El grupo que usa revisión con IA presenta menor densidad de defectos que el grupo de revisión manual."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8836" y="1190104"/>
            <a:ext cx="284946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de hipótesis alternativa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38836" y="1447577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Reglas clave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38836" y="1779836"/>
            <a:ext cx="3913808" cy="1141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hipótesis debe ser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falsificable</a:t>
            </a:r>
            <a:pPr algn="l" indent="0" marL="0">
              <a:lnSpc>
                <a:spcPct val="129000"/>
              </a:lnSpc>
              <a:spcAft>
                <a:spcPts val="85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(Popper). Si no puede refutarse con datos, no es una hipótesis científica — es una creencia.</a:t>
            </a:r>
            <a:endParaRPr lang="en-US" sz="10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 frecuente: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formular la hipótesis después de ver los datos → HARKing (visto en Unidad 1).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6119" y="3897362"/>
            <a:ext cx="4013597" cy="782762"/>
          </a:xfrm>
          <a:prstGeom prst="roundRect">
            <a:avLst>
              <a:gd name="adj" fmla="val 713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310" y="4044553"/>
            <a:ext cx="176279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Direccional (una cola)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3310" y="4326954"/>
            <a:ext cx="3719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afirma que A &gt; B o A &lt; 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4285" y="3897362"/>
            <a:ext cx="4013597" cy="782762"/>
          </a:xfrm>
          <a:prstGeom prst="roundRect">
            <a:avLst>
              <a:gd name="adj" fmla="val 713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1476" y="4044553"/>
            <a:ext cx="199094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Bidireccional (dos colas)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81476" y="4326954"/>
            <a:ext cx="3719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afirma solo que A ≠ 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8791"/>
            <a:ext cx="5472261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Variables del experimento en IS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96119" y="1098128"/>
            <a:ext cx="8151763" cy="2564309"/>
          </a:xfrm>
          <a:prstGeom prst="roundRect">
            <a:avLst>
              <a:gd name="adj" fmla="val 214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1701" y="1179909"/>
            <a:ext cx="198707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 de variable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2922" y="1179909"/>
            <a:ext cx="328984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516910" y="1179909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 en 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1701" y="1539553"/>
            <a:ext cx="198707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Independiente (VI)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2922" y="1539553"/>
            <a:ext cx="283264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que el investigador manipula (el tratamiento)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16910" y="1539553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TDD vs desarrollo tradicional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1701" y="2100039"/>
            <a:ext cx="198707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Dependiente (VD)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2922" y="2100039"/>
            <a:ext cx="283264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que se mide como respuesta al tratamiento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16910" y="2100039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Densidad de defectos (defectos/KLOC)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1701" y="2660526"/>
            <a:ext cx="198707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 confusión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2922" y="2660526"/>
            <a:ext cx="328984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Afecta la VD pero no se controla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16910" y="2660526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Experiencia previa del desarrollador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1701" y="3020169"/>
            <a:ext cx="198707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Controlada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2922" y="3020169"/>
            <a:ext cx="328984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mantiene constante para todos los grupos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16910" y="3020169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Lenguaje de programación, IDE, tiempo de tarea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1701" y="3379812"/>
            <a:ext cx="198707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Moderadora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22922" y="3379812"/>
            <a:ext cx="328984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Modifica la relación VI→VD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16910" y="3379812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Tamaño del equipo, complejidad del sistema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6119" y="3797945"/>
            <a:ext cx="8151763" cy="896764"/>
          </a:xfrm>
          <a:prstGeom prst="roundRect">
            <a:avLst>
              <a:gd name="adj" fmla="val 6121"/>
            </a:avLst>
          </a:prstGeom>
          <a:solidFill>
            <a:srgbClr val="DADBF1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790" y="3985022"/>
            <a:ext cx="163339" cy="13067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20800" y="3951089"/>
            <a:ext cx="7596411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Operacionalización: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cada variable debe tener una definición exacta de cómo se mide. Ejemplo: "densidad de defectos = número de defectos encontrados por 1000 líneas de código fuente entregado, medido con SonarQube versión X.Y después de 48h de uso en producción simulada."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0102"/>
            <a:ext cx="5076602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Diseños experimentales en IS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94408"/>
            <a:ext cx="2639616" cy="15403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5995" y="1237134"/>
            <a:ext cx="2297013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completamente aleatorizado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5995" y="1708324"/>
            <a:ext cx="229701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Sujetos asignados al azar a un solo grupo. Simple, pero sensible a diferencias entre sujetos.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2118" y="1094408"/>
            <a:ext cx="2639690" cy="15403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1994" y="1237134"/>
            <a:ext cx="2297088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de bloques aleatorizados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451994" y="1708324"/>
            <a:ext cx="229708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agrupan sujetos similares (por experiencia, lenguaje) y se aleatoriza dentro del bloque. Reduce el efecto de la variabilidad entre sujetos.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8191" y="1094408"/>
            <a:ext cx="2639690" cy="15403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08068" y="1237134"/>
            <a:ext cx="170259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factorial (2×2)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208068" y="1507629"/>
            <a:ext cx="2297088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estudian dos factores simultáneamente. Ejemplo: factor A = TDD vs tradicional; factor B = pair vs solo programming. Permite detectar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interacciones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factores.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751162"/>
            <a:ext cx="2639616" cy="19322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5995" y="2893888"/>
            <a:ext cx="2297013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within-subject (medidas repetidas)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695995" y="3365078"/>
            <a:ext cx="2297013" cy="117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mismo sujeto realiza ambos tratamientos (en orden aleatorio). Ventaja: elimina la variabilidad entre sujetos. Riesgo: efecto de aprendizaje o fatiga (controlar con contrabalanceo).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2118" y="2751162"/>
            <a:ext cx="2639690" cy="19322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51994" y="2893888"/>
            <a:ext cx="192486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between-subject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3451994" y="3164384"/>
            <a:ext cx="229708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sujeto solo recibe un tratamiento. Ventaja: sin efecto de aprendizaje. Desventaja: necesita más sujetos.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5128"/>
            <a:ext cx="4819204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Selección de sujetos en 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907479"/>
            <a:ext cx="381840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dilema: ¿estudiantes o profesionales?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321519"/>
            <a:ext cx="8151763" cy="1781696"/>
          </a:xfrm>
          <a:prstGeom prst="roundRect">
            <a:avLst>
              <a:gd name="adj" fmla="val 323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8324" y="1410816"/>
            <a:ext cx="22181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Sujetos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73846" y="1410816"/>
            <a:ext cx="319519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Ventajas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86425" y="1410816"/>
            <a:ext cx="3276600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Limitaciones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8324" y="1800969"/>
            <a:ext cx="22181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Estudiantes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73846" y="1800969"/>
            <a:ext cx="319519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Disponibles, homogéneos, controlables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86425" y="1800969"/>
            <a:ext cx="3276600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Poca experiencia, menor validez externa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8324" y="2191122"/>
            <a:ext cx="22181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Profesionales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73846" y="2191122"/>
            <a:ext cx="319519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validez externa, contexto real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86425" y="2191122"/>
            <a:ext cx="281940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Difícil acceso, heterogéneos, tiempo limitado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8324" y="2797597"/>
            <a:ext cx="22181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Sistemas (objetos)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73846" y="2797597"/>
            <a:ext cx="319519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tienen fatiga ni sesgos cognitivos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86425" y="2797597"/>
            <a:ext cx="3276600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representan el factor humano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6119" y="3385840"/>
            <a:ext cx="250150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Estrategia recomendada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733354"/>
            <a:ext cx="390837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Carver et al. (2010):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Comenzar con estudiantes para validar el diseño (replicación interna), luego replicar con profesionales para validar la generalización (replicación externa).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44269" y="3385840"/>
            <a:ext cx="238869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 OSDMP aplicado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44269" y="3733354"/>
            <a:ext cx="3908375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Pre-registrar el protocolo en OSF antes de reclutar sujetos. El pre-registro evita el ajuste post-hoc del diseño una vez que se conocen los datos.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086"/>
            <a:ext cx="6129189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plan de análisis como parte del diseño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71178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plan de análisis estadístico debe definirse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antes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recolectar datos.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243385"/>
            <a:ext cx="4029075" cy="1248817"/>
          </a:xfrm>
          <a:prstGeom prst="roundRect">
            <a:avLst>
              <a:gd name="adj" fmla="val 387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6000" y="1363266"/>
            <a:ext cx="345504" cy="345504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026" y="1458218"/>
            <a:ext cx="155451" cy="1554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6000" y="1802309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Prueba estadística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6000" y="2038350"/>
            <a:ext cx="378931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¿Paramétrica o no paramétrica? Depende de la distribución esperada.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18732" y="1243385"/>
            <a:ext cx="4029149" cy="1248817"/>
          </a:xfrm>
          <a:prstGeom prst="roundRect">
            <a:avLst>
              <a:gd name="adj" fmla="val 387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8613" y="1363266"/>
            <a:ext cx="345504" cy="345504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3640" y="1458218"/>
            <a:ext cx="155451" cy="1554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8613" y="1802309"/>
            <a:ext cx="150487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Nivel de significancia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38613" y="2038350"/>
            <a:ext cx="3789387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α = 0.05 es el estándar en IS, pero debe justificarse.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96119" y="2585740"/>
            <a:ext cx="4029075" cy="1081832"/>
          </a:xfrm>
          <a:prstGeom prst="roundRect">
            <a:avLst>
              <a:gd name="adj" fmla="val 44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6000" y="2705621"/>
            <a:ext cx="345504" cy="345504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026" y="2800573"/>
            <a:ext cx="155451" cy="1554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6000" y="314466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Tamaño del efecto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6000" y="3380705"/>
            <a:ext cx="378931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Cohen's d, r de Pearson — no solo p-valor.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618732" y="2585740"/>
            <a:ext cx="4029149" cy="1081832"/>
          </a:xfrm>
          <a:prstGeom prst="roundRect">
            <a:avLst>
              <a:gd name="adj" fmla="val 44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38613" y="2705621"/>
            <a:ext cx="345504" cy="345504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3640" y="2800573"/>
            <a:ext cx="155451" cy="1554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38613" y="314466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Potencia estadística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738613" y="3380705"/>
            <a:ext cx="3789387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β = 0.80 → cuántos sujetos se necesitan para detectar el efecto.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96119" y="3772793"/>
            <a:ext cx="8151763" cy="43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Cálculo de tamaño de muestra:</a:t>
            </a:r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el experimento no tiene potencia suficiente, no detectará el efecto aunque exista (error tipo II).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Herramientas: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G*Power (cálculo de potencia), JASP (análisis), R (scripting reproducible).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96119" y="4317206"/>
            <a:ext cx="8151763" cy="402134"/>
          </a:xfrm>
          <a:prstGeom prst="roundRect">
            <a:avLst>
              <a:gd name="adj" fmla="val 12030"/>
            </a:avLst>
          </a:prstGeom>
          <a:solidFill>
            <a:srgbClr val="FCF2B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237" y="4474592"/>
            <a:ext cx="143917" cy="1151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70272" y="4439469"/>
            <a:ext cx="811969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el análisis antes evita el p-hacking — buscar hasta encontrar un análisis que dé p &lt; 0.05.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7080"/>
            <a:ext cx="4540746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INVB11: Diseña tu experimento 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11870"/>
            <a:ext cx="8608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Actividad: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Diseña el protocolo de un experimento IS para responder esta pregunta: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1134294"/>
            <a:ext cx="14288" cy="304800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48891" y="1216670"/>
            <a:ext cx="8456191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"¿El uso de GitHub Copilot reduce el tiempo de implementación en desarrolladores junior comparado con el desarrollo sin asistencia de IA?"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6119" y="1521470"/>
            <a:ext cx="8608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protocolo debe incluir: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6119" y="1743894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6119" y="1902693"/>
            <a:ext cx="2668414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496119" y="1982167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 GQM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6119" y="2185318"/>
            <a:ext cx="2668414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Usando la plantilla: Analizar… con el propósito de… con respecto a… desde el punto de vista de… en el contexto de…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37756" y="1743894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37756" y="1902693"/>
            <a:ext cx="2668414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3237756" y="1982167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H0 y H1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37756" y="2185318"/>
            <a:ext cx="266841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 nula y alternativa, direccional.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79393" y="1743894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79393" y="1902693"/>
            <a:ext cx="266848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5979393" y="1982167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79393" y="2185318"/>
            <a:ext cx="266848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VI, VD, variables de confusión identificadas.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6119" y="2755032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6119" y="2913831"/>
            <a:ext cx="2668414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496119" y="2993306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6119" y="3196456"/>
            <a:ext cx="2668414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Between-subject o within-subject — justifica tu elección.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37756" y="2755032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37756" y="2913831"/>
            <a:ext cx="2668414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5" name="Text 23"/>
          <p:cNvSpPr/>
          <p:nvPr/>
        </p:nvSpPr>
        <p:spPr>
          <a:xfrm>
            <a:off x="3237756" y="2993306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Sujetos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37756" y="3196456"/>
            <a:ext cx="266841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Quiénes, criterios de inclusión/exclusión.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79393" y="2755032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79393" y="2913831"/>
            <a:ext cx="266848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9" name="Text 27"/>
          <p:cNvSpPr/>
          <p:nvPr/>
        </p:nvSpPr>
        <p:spPr>
          <a:xfrm>
            <a:off x="5979393" y="2993306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Instrumentos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79393" y="3196456"/>
            <a:ext cx="266848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medirás el tiempo y la calidad del código.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6119" y="3626123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96119" y="3784922"/>
            <a:ext cx="8151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3" name="Text 31"/>
          <p:cNvSpPr/>
          <p:nvPr/>
        </p:nvSpPr>
        <p:spPr>
          <a:xfrm>
            <a:off x="496119" y="3864397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 de análisis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6119" y="4067547"/>
            <a:ext cx="8151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 estadística y herramienta.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6119" y="4366320"/>
            <a:ext cx="8151763" cy="330026"/>
          </a:xfrm>
          <a:prstGeom prst="roundRect">
            <a:avLst>
              <a:gd name="adj" fmla="val 12967"/>
            </a:avLst>
          </a:prstGeom>
          <a:solidFill>
            <a:srgbClr val="B6D6FC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991" y="4499744"/>
            <a:ext cx="127322" cy="101873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27187" y="4464993"/>
            <a:ext cx="8176022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Entrega: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documento de protocolo experimental (máx. 1 página).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2026-07-02T15:04:41Z</dcterms:created>
  <dcterms:modified xsi:type="dcterms:W3CDTF">2026-07-02T15:04:41Z</dcterms:modified>
</cp:coreProperties>
</file>