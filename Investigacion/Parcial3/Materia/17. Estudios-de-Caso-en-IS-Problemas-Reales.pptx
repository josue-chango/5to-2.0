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2273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Estudios de Caso en IS: Problemas Reales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21310"/>
            <a:ext cx="4722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17 · Unidad 3: Estudios de Caso en IS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 en Ingeniería de Software · ESPE Sangolquí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Ing. Ángel Marcelo Rea Guamán, Ph.D.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969"/>
            <a:ext cx="8206978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teoría sin práctica es un mapa sin territorio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291456"/>
            <a:ext cx="237113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Hasta aquí aprendiste: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646858"/>
            <a:ext cx="3905696" cy="103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13: qué es un estudio de caso y cuándo usarlo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14: cómo diseñarlo y planificarlo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15: cómo recolectar datos con rigor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16: cómo analizar y reportar los hallazgos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6119" y="2800499"/>
            <a:ext cx="390569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Hoy: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casos reales, publicados, que aplicaron exactamente este marco — y los leeremos con los ojos del investigador, no del lector casual.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6947" y="1291456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Casos de la clase: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6947" y="1646858"/>
            <a:ext cx="3905696" cy="191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Font typeface="+mj-lt"/>
              <a:buAutoNum type="arabicPeriod" startAt="1"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Ericsson</a:t>
            </a:r>
            <a:pPr algn="l" marL="213360" indent="-213360">
              <a:lnSpc>
                <a:spcPct val="13200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Adopción automatizada de asignación de bugs (caso longitudinal registrado, ICSE 2022)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Font typeface="+mj-lt"/>
              <a:buAutoNum type="arabicPeriod" startAt="2"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 Copilot en equipos ágiles</a:t>
            </a:r>
            <a:pPr algn="l" marL="213360" indent="-213360">
              <a:lnSpc>
                <a:spcPct val="132000"/>
              </a:lnSpc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Productividad vs. deuda técnica (caso exploratorio, 2024-2025)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Font typeface="+mj-lt"/>
              <a:buAutoNum type="arabicPeriod" startAt="3"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NASA GeneLab</a:t>
            </a:r>
            <a:pPr algn="l" marL="213360" indent="-213360">
              <a:lnSpc>
                <a:spcPct val="132000"/>
              </a:lnSpc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Ciencia abierta como caso colectivo (800 investigadores, 92 publicaciones)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Font typeface="+mj-lt"/>
              <a:buAutoNum type="arabicPeriod" startAt="4"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IS regional</a:t>
            </a:r>
            <a:pPr algn="l" marL="213360" indent="-213360">
              <a:lnSpc>
                <a:spcPct val="132000"/>
              </a:lnSpc>
              <a:buSzPct val="100000"/>
              <a:buFont typeface="+mj-lt"/>
              <a:buAutoNum type="arabicPeriod" startAt="4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Adopción de IA en empresas latinoamericanas de software (Springer 2024)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46947" y="3717206"/>
            <a:ext cx="3905696" cy="759768"/>
          </a:xfrm>
          <a:prstGeom prst="roundRect">
            <a:avLst>
              <a:gd name="adj" fmla="val 7714"/>
            </a:avLst>
          </a:prstGeom>
          <a:solidFill>
            <a:srgbClr val="DADBF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6474" y="3926607"/>
            <a:ext cx="174427" cy="13952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00427" y="3875633"/>
            <a:ext cx="331269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aplicar el checklist de Rico (ICSE 2024) a cada caso → ¿qué hicieron bien? ¿qué falló?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850"/>
            <a:ext cx="6852121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1: Ericsson — Bug Assignment Automatizado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875035"/>
            <a:ext cx="86089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Referencia: Jonsson et al. (2022). Adopting automated bug assignment in practice: a longitudinal case study at Ericsson. ICSE-SEIP. arXiv:2209.08955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1181844"/>
            <a:ext cx="17585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1420937"/>
            <a:ext cx="3948931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Ericsson, empresa global de telecomunicaciones con miles de ingenieros. Problema: asignar bugs al desarrollador correcto toma tiempo y genera cuellos de botella. ¿Puede un modelo de ML automatizar este proceso?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6119" y="1930673"/>
            <a:ext cx="17585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 del estudio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6119" y="2169765"/>
            <a:ext cx="3948931" cy="775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Tipo: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Longitudinal, explicativo — "¿cómo se adopta en práctica?"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único embebido: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Ericsson como organización; subunidades = equipos de desarrollo específicos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Duración: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Múltiples años de seguimiento (antes/durante/después del despliegue)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6119" y="3021806"/>
            <a:ext cx="1802606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Fuentes de evidencia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119" y="3260899"/>
            <a:ext cx="3948931" cy="802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Entrevistas a desarrolladores y gerentes de equipo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de tickets de bugs: tiempos de asignación, tasa de aceptación del modelo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Observación de sesiones de triage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 internos de política de calidad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03713" y="1181844"/>
            <a:ext cx="182135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Hallazgos principales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3713" y="1420937"/>
            <a:ext cx="3948931" cy="604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precisión técnica del modelo (&gt;80%) no fue suficiente para la adopción → factores organizacionales y de confianza fueron determinantes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ingenieros rechazaban sugerencias correctas si no entendían el razonamiento del modelo (explicabilidad)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03713" y="2101825"/>
            <a:ext cx="280377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Evaluación con checklist Rico (2024)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6119" y="4175894"/>
            <a:ext cx="1980605" cy="570681"/>
          </a:xfrm>
          <a:prstGeom prst="roundRect">
            <a:avLst>
              <a:gd name="adj" fmla="val 766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4986" y="4284762"/>
            <a:ext cx="139638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Contexto detallado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53146" y="4175894"/>
            <a:ext cx="1980605" cy="570681"/>
          </a:xfrm>
          <a:prstGeom prst="roundRect">
            <a:avLst>
              <a:gd name="adj" fmla="val 766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2014" y="4284762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Tipo declarado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0174" y="4175894"/>
            <a:ext cx="1980605" cy="570681"/>
          </a:xfrm>
          <a:prstGeom prst="roundRect">
            <a:avLst>
              <a:gd name="adj" fmla="val 766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9042" y="4284762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Validez discutida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67202" y="4175894"/>
            <a:ext cx="1980679" cy="570681"/>
          </a:xfrm>
          <a:prstGeom prst="roundRect">
            <a:avLst>
              <a:gd name="adj" fmla="val 766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76070" y="4284762"/>
            <a:ext cx="168272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Generalización limitada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76070" y="4493270"/>
            <a:ext cx="1762944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Ericsson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277"/>
            <a:ext cx="5545038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2: GitHub Copilot en Equipos Ágiles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874068"/>
            <a:ext cx="815176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Referencia: Múltiples estudios 2024-2025: "The Role of Generative AI in Software Development Productivity" (arXiv:2406.00560) + GitLab DevSecOps Report 2024 + DORA Report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1263997"/>
            <a:ext cx="190805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Contexto del fenómeno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1533079"/>
            <a:ext cx="8151763" cy="471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84% de desarrolladores usan o planean usar IA en 2025 (Stack Overflow Survey)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Copilot, Cursor, ChatGPT integrado en pipelines de desarrollo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 emergente: ¿más productividad implica menos calidad?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6119" y="2114252"/>
            <a:ext cx="212608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Diseños de estudio usados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6119" y="2383334"/>
            <a:ext cx="8151763" cy="1113383"/>
          </a:xfrm>
          <a:prstGeom prst="roundRect">
            <a:avLst>
              <a:gd name="adj" fmla="val 384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2903" y="2436763"/>
            <a:ext cx="228897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Estudio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38425" y="2436763"/>
            <a:ext cx="228897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73947" y="2436763"/>
            <a:ext cx="228897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09470" y="2436763"/>
            <a:ext cx="228897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Hallazgo clave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2903" y="2678906"/>
            <a:ext cx="228897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GitClear 2024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38425" y="2678906"/>
            <a:ext cx="228897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observacional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73947" y="2678906"/>
            <a:ext cx="228897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 de repos GitHub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09470" y="2678906"/>
            <a:ext cx="1831777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+31.8% reducción en cycle time de PRs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2903" y="3061097"/>
            <a:ext cx="228897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arXiv:2406.00560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38425" y="3061097"/>
            <a:ext cx="228897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exploratorio piloto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73947" y="3061097"/>
            <a:ext cx="228897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 de 8 devs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09470" y="3061097"/>
            <a:ext cx="228897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+26% en bug fixing, +12% en docs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2903" y="3303240"/>
            <a:ext cx="228897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DORA 2025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38425" y="3303240"/>
            <a:ext cx="228897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+ entrevistas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73947" y="3303240"/>
            <a:ext cx="228897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2000+ organizaciones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09470" y="3303240"/>
            <a:ext cx="228897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introduce "deuda técnica inducida"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6119" y="3579093"/>
            <a:ext cx="14288" cy="304800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25" name="Text 23"/>
          <p:cNvSpPr/>
          <p:nvPr/>
        </p:nvSpPr>
        <p:spPr>
          <a:xfrm>
            <a:off x="648891" y="3661470"/>
            <a:ext cx="8456191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"Los asistentes de IA añaden código rápidamente pero pueden generar AI-induced tech debt que compromete la mantenibilidad a largo plazo." — DevOps.com, 2025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6119" y="3993728"/>
            <a:ext cx="352573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¿Por qué es un estudio de caso relevante para IS?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6119" y="4262810"/>
            <a:ext cx="8151763" cy="471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Fenómeno contemporáneo, en contexto real, con límites difusos → definición exacta de Yin (2014)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Imposible de estudiar con experimento controlado en su complejidad real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Requiere múltiples fuentes: métricas de repo + entrevistas + encuestas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8186"/>
            <a:ext cx="8518401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3: NASA GeneLab — Ciencia Abierta como Caso Colectivo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1086371"/>
            <a:ext cx="86089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estudio de caso más grande de ciencia colaborativa en IS espacial.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1393180"/>
            <a:ext cx="17585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1632272"/>
            <a:ext cx="3948931" cy="775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Tipo: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Caso múltiple colectivo (Stake, 1995) — instrumental: entender cómo funciona la ciencia abierta reproducible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Unidades de análisis: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cada grupo de trabajo de investigadores (más de 800 voluntarios en grupos temáticos)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Período: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Longitudinal, desde 2014 hasta el presente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6119" y="2484313"/>
            <a:ext cx="1802606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Fuentes de evidencia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6119" y="2723406"/>
            <a:ext cx="3948931" cy="802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biológicos de experimentos en ISS (artefactos primarios)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Publicaciones generadas por la comunidad (92 al 2024, Nucleic Acids Research 2025)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Protocolos de grupos de trabajo (documentos)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de uso del repositorio OSDR (cuantitativas)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03713" y="1393180"/>
            <a:ext cx="1957462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Hallazgos como caso 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3713" y="1586359"/>
            <a:ext cx="2741191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Aplicación del checklist Rico (2024)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3713" y="1825451"/>
            <a:ext cx="3948931" cy="1110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Contexto muy detallado (misiones específicas, condiciones de microgravedad)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Tipo declarado implícitamente (observacional colectivo)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Generalización discutida (ciencia espacial ≠ software IS, pero principios FAIR sí son transferibles)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Amenazas: sesgo de selección de investigadores voluntarios (mencionado)</a:t>
            </a:r>
            <a:endParaRPr lang="en-US" sz="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3638401"/>
            <a:ext cx="2666256" cy="89683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1661" y="3756794"/>
            <a:ext cx="1559868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Apertura de datos (FAIR)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1661" y="3965302"/>
            <a:ext cx="2372320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Multiplica el valor de cada experimento: un experimento → 92 estudios independientes</a:t>
            </a:r>
            <a:endParaRPr lang="en-US" sz="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8798" y="3638401"/>
            <a:ext cx="2666330" cy="8968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14340" y="3756794"/>
            <a:ext cx="137933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Calidad de metadatos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14340" y="3965302"/>
            <a:ext cx="2372395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el factor crítico de reutilización</a:t>
            </a:r>
            <a:endParaRPr lang="en-US" sz="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1551" y="3638401"/>
            <a:ext cx="2666256" cy="8968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57094" y="3756794"/>
            <a:ext cx="2372320" cy="325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Grupos voluntarios auto-organizados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57094" y="4127971"/>
            <a:ext cx="2372320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más productivos que los equipos asignados formalmente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5959"/>
            <a:ext cx="8538939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4: Adopción de IA en Empresas Latinoamericanas IS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073051"/>
            <a:ext cx="8608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Referencia: Springer 2024 — "Challenges in Adoption and Scaling of AI: A Case Study at a High-Tech Firm and Research Roadmap"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438796"/>
            <a:ext cx="366876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qué este caso importa para Ecuador/ESPE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1712268"/>
            <a:ext cx="3935388" cy="700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latinoamericano: recursos limitados, talento local, presión competitiva global</a:t>
            </a:r>
            <a:endParaRPr lang="en-US" sz="900" dirty="0"/>
          </a:p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 IS relevantes regionales: ¿cómo adoptan IA equipos de software con menos infraestructura?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6119" y="2506489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2779961"/>
            <a:ext cx="3935388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Tipo:</a:t>
            </a:r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Explicativo — "¿por qué la adopción de IA a escala es difícil?"</a:t>
            </a:r>
            <a:endParaRPr lang="en-US" sz="900" dirty="0"/>
          </a:p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único:</a:t>
            </a:r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empresa de alta tecnología (anonimizada por NDA)</a:t>
            </a:r>
            <a:endParaRPr lang="en-US" sz="900" dirty="0"/>
          </a:p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Fuentes:</a:t>
            </a:r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entrevistas a 23 ingenieros y gerentes + análisis de proyectos IA internos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6119" y="3618607"/>
            <a:ext cx="3935388" cy="893713"/>
          </a:xfrm>
          <a:prstGeom prst="roundRect">
            <a:avLst>
              <a:gd name="adj" fmla="val 5413"/>
            </a:avLst>
          </a:prstGeom>
          <a:solidFill>
            <a:srgbClr val="FCF2B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237" y="3785518"/>
            <a:ext cx="143917" cy="11511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0272" y="3731493"/>
            <a:ext cx="3446115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Lección metodológica: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NDA permitió acceso profundo pero limitó la especificidad del reporte. Ejemplo directo de la tensión entre acceso ético y transparencia académica (Clase 14: ética en estudios de caso).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717256" y="1438796"/>
            <a:ext cx="1966540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Hallazgos principales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17256" y="1723951"/>
            <a:ext cx="3935388" cy="2307134"/>
          </a:xfrm>
          <a:prstGeom prst="roundRect">
            <a:avLst>
              <a:gd name="adj" fmla="val 209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37212" y="1789584"/>
            <a:ext cx="179724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Barrera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7497" y="1789584"/>
            <a:ext cx="94751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Frecuencia en entrevistas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585249" y="1789584"/>
            <a:ext cx="94751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Fuente complementaria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37212" y="2250058"/>
            <a:ext cx="13400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de datos de calidad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7497" y="2250058"/>
            <a:ext cx="140471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585249" y="2250058"/>
            <a:ext cx="94751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Artefactos de proyecto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37212" y="2710532"/>
            <a:ext cx="13400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Resistencia organizacional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07497" y="2710532"/>
            <a:ext cx="140471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585249" y="2710532"/>
            <a:ext cx="94751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Observación de reuniones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37212" y="3171006"/>
            <a:ext cx="13400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Brecha de competencias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7497" y="3171006"/>
            <a:ext cx="140471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585249" y="3171006"/>
            <a:ext cx="94751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 de capacitación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37212" y="3631481"/>
            <a:ext cx="134004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Expectativas irreales de velocidad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7497" y="3631481"/>
            <a:ext cx="140471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585249" y="3631481"/>
            <a:ext cx="94751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Entrevistas a gerentes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6537"/>
            <a:ext cx="6995517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Aplicando el Checklist de Calidad: Rico (ICSE 2024)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984721"/>
            <a:ext cx="86089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Evalúa cualquier estudio de caso IS con estas 5 preguntas: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1215107"/>
            <a:ext cx="8151763" cy="2373809"/>
          </a:xfrm>
          <a:prstGeom prst="roundRect">
            <a:avLst>
              <a:gd name="adj" fmla="val 184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5210" y="1270471"/>
            <a:ext cx="1875011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Criterio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35994" y="1270471"/>
            <a:ext cx="227974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 de verificación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271516" y="1270471"/>
            <a:ext cx="138410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Ericsson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11391" y="1270471"/>
            <a:ext cx="138410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Copilot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51265" y="1270471"/>
            <a:ext cx="138410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GeneLab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91140" y="1270471"/>
            <a:ext cx="847874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 Latinoamérica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5210" y="1665312"/>
            <a:ext cx="1875011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35994" y="1665312"/>
            <a:ext cx="182254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¿Describe empresa/equipo/proyecto con suficiente detalle?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71516" y="1665312"/>
            <a:ext cx="138410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11391" y="1665312"/>
            <a:ext cx="138410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parcial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51265" y="1665312"/>
            <a:ext cx="138410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691140" y="1665312"/>
            <a:ext cx="1305074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NDA limita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5210" y="2060153"/>
            <a:ext cx="1875011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Clasificación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35994" y="2060153"/>
            <a:ext cx="182254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¿Declara el tipo de estudio (expl/desc/expl)?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71516" y="2060153"/>
            <a:ext cx="138410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11391" y="2060153"/>
            <a:ext cx="138410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mayormente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51265" y="2060153"/>
            <a:ext cx="138410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implícito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691140" y="2060153"/>
            <a:ext cx="1305074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5210" y="2454994"/>
            <a:ext cx="1875011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Generalización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235994" y="2454994"/>
            <a:ext cx="182254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¿Discute a qué otros contextos aplican los hallazgos?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71516" y="2454994"/>
            <a:ext cx="138410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11391" y="2454994"/>
            <a:ext cx="138410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51265" y="2454994"/>
            <a:ext cx="138410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691140" y="2454994"/>
            <a:ext cx="1305074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5210" y="2849835"/>
            <a:ext cx="1875011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Amenazas a validez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35994" y="2849835"/>
            <a:ext cx="182254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¿Tiene sección explícita de amenazas y mitigaciones?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71516" y="2849835"/>
            <a:ext cx="138410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11391" y="2849835"/>
            <a:ext cx="138410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51265" y="2849835"/>
            <a:ext cx="138410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91140" y="2849835"/>
            <a:ext cx="1305074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5210" y="3244676"/>
            <a:ext cx="1875011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Evidencia visible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35994" y="3244676"/>
            <a:ext cx="182254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¿Incluye citas de datos o evidencia directa?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71516" y="3244676"/>
            <a:ext cx="138410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11391" y="3244676"/>
            <a:ext cx="138410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551265" y="3244676"/>
            <a:ext cx="138410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691140" y="3244676"/>
            <a:ext cx="1305074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6119" y="3751287"/>
            <a:ext cx="17585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Patrón que emerge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6119" y="3990380"/>
            <a:ext cx="3948931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estudios industriales (Copilot, IA Latinoamérica) son más débiles en clasificación y amenazas a la validez. Los estudios académicos formales (Ericsson ICSE, GeneLab) cumplen mejor — porque pasaron por revisión por pares rigurosa.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03713" y="3760812"/>
            <a:ext cx="3948931" cy="478334"/>
          </a:xfrm>
          <a:prstGeom prst="roundRect">
            <a:avLst>
              <a:gd name="adj" fmla="val 9141"/>
            </a:avLst>
          </a:prstGeom>
          <a:solidFill>
            <a:srgbClr val="DADBF1"/>
          </a:solidFill>
          <a:ln/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7818" y="3909268"/>
            <a:ext cx="130076" cy="104105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5041999" y="3855541"/>
            <a:ext cx="350653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Lección para tu proyecto: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escribir para revisión por pares desde el principio, aunque el destino sea un informe de clase.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104"/>
            <a:ext cx="6370141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Cómo Elegir Tu Propio Caso: Guía Práctica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75196"/>
            <a:ext cx="8608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Criterios para estudiantes de IS en Ecuador: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340941"/>
            <a:ext cx="247151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Fuentes de casos accesibles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1614413"/>
            <a:ext cx="3935388" cy="126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Empresas de software locales: startups, empresas de desarrollo web, consultoras tecnológicas</a:t>
            </a:r>
            <a:endParaRPr lang="en-US" sz="900" dirty="0"/>
          </a:p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Departamentos de TI de instituciones públicas o privadas</a:t>
            </a:r>
            <a:endParaRPr lang="en-US" sz="900" dirty="0"/>
          </a:p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Proyectos de software libre con comunidades activas (GitHub, GitLab)</a:t>
            </a:r>
            <a:endParaRPr lang="en-US" sz="900" dirty="0"/>
          </a:p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propia ESPE: proyectos de vinculación, grupos de investigación, laboratorios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6119" y="2975074"/>
            <a:ext cx="406732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Preguntas IS actualmente sin respuesta en Ecuador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248546"/>
            <a:ext cx="3935388" cy="1434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adoptan las empresas ecuatorianas de software las metodologías ágiles?</a:t>
            </a:r>
            <a:endParaRPr lang="en-US" sz="900" dirty="0"/>
          </a:p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barreras enfrentan los equipos locales al implementar DevSecOps?</a:t>
            </a:r>
            <a:endParaRPr lang="en-US" sz="900" dirty="0"/>
          </a:p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integran IA generativa equipos de desarrollo con recursos limitados?</a:t>
            </a:r>
            <a:endParaRPr lang="en-US" sz="900" dirty="0"/>
          </a:p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estrategias de gestión de deuda técnica usan las startups ecuatorianas?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17256" y="1340941"/>
            <a:ext cx="2244030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Tabla de viabilidad rápida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17256" y="1626096"/>
            <a:ext cx="3935388" cy="1973163"/>
          </a:xfrm>
          <a:prstGeom prst="roundRect">
            <a:avLst>
              <a:gd name="adj" fmla="val 245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7212" y="1691729"/>
            <a:ext cx="120841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Factor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18659" y="1691729"/>
            <a:ext cx="317130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Preguntas a responder antes de comprometerse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37212" y="1985218"/>
            <a:ext cx="120841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18659" y="1985218"/>
            <a:ext cx="271410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¿Tienes un contacto en la empresa? ¿Están dispuestos a participar?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37212" y="2445693"/>
            <a:ext cx="120841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Tiempo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18659" y="2445693"/>
            <a:ext cx="271410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¿Puedes completar recolección y análisis en el semestre?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37212" y="2906167"/>
            <a:ext cx="120841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Ética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18659" y="2906167"/>
            <a:ext cx="271410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¿Puedes proteger la confidencialidad sin perder la riqueza del caso?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37212" y="3366641"/>
            <a:ext cx="120841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Relevancia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18659" y="3366641"/>
            <a:ext cx="317130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¿El fenómeno conecta con literatura IS existente?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604"/>
            <a:ext cx="5825579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Síntesis: El Estudio de Caso como Ciencia Rigurosa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690488"/>
            <a:ext cx="2208609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Mitos que esta unidad desmontó: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904354"/>
            <a:ext cx="8151763" cy="1136154"/>
          </a:xfrm>
          <a:prstGeom prst="roundRect">
            <a:avLst>
              <a:gd name="adj" fmla="val 319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7276" y="945431"/>
            <a:ext cx="354144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Mito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4156" y="945431"/>
            <a:ext cx="516984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Realidad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87276" y="1133996"/>
            <a:ext cx="354144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"El estudio de caso es solo contar una historia"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844156" y="1133996"/>
            <a:ext cx="516984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investigación empírica sistemática con protocolo, triangulación y validez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87276" y="1322561"/>
            <a:ext cx="354144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"No se puede generalizar de un caso"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844156" y="1322561"/>
            <a:ext cx="516984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generaliza teóricamente, no estadísticamente (Yin, 2014)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87276" y="1511126"/>
            <a:ext cx="354144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"Con pocas entrevistas no hay evidencia suficiente"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844156" y="1511126"/>
            <a:ext cx="516984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calidad y triangulación importan más que la cantidad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87276" y="1699692"/>
            <a:ext cx="354144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"El estudio de caso es fácil — no requiere estadística"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844156" y="1699692"/>
            <a:ext cx="516984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Requiere igual rigor que el experimento, solo diferente tipo de rigor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87276" y="1888257"/>
            <a:ext cx="354144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"Los hallazgos son subjetivos"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844156" y="1888257"/>
            <a:ext cx="516984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codificación sistemática, el member checking y el audit trail los hacen defendibles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6119" y="2119461"/>
            <a:ext cx="3440757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espectro del rigor en estudios de caso IS (2013–2025):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67238" y="2333327"/>
            <a:ext cx="9525" cy="2410495"/>
          </a:xfrm>
          <a:prstGeom prst="roundRect">
            <a:avLst>
              <a:gd name="adj" fmla="val 380930"/>
            </a:avLst>
          </a:prstGeom>
          <a:solidFill>
            <a:srgbClr val="C0C1D7"/>
          </a:solidFill>
          <a:ln/>
        </p:spPr>
      </p:sp>
      <p:sp>
        <p:nvSpPr>
          <p:cNvPr id="19" name="Shape 17"/>
          <p:cNvSpPr/>
          <p:nvPr/>
        </p:nvSpPr>
        <p:spPr>
          <a:xfrm>
            <a:off x="4408810" y="2425750"/>
            <a:ext cx="172715" cy="9525"/>
          </a:xfrm>
          <a:prstGeom prst="roundRect">
            <a:avLst>
              <a:gd name="adj" fmla="val 380930"/>
            </a:avLst>
          </a:prstGeom>
          <a:solidFill>
            <a:srgbClr val="C0C1D7"/>
          </a:solidFill>
          <a:ln/>
        </p:spPr>
      </p:sp>
      <p:sp>
        <p:nvSpPr>
          <p:cNvPr id="20" name="Shape 18"/>
          <p:cNvSpPr/>
          <p:nvPr/>
        </p:nvSpPr>
        <p:spPr>
          <a:xfrm>
            <a:off x="4539630" y="2398142"/>
            <a:ext cx="64740" cy="64740"/>
          </a:xfrm>
          <a:prstGeom prst="roundRect">
            <a:avLst>
              <a:gd name="adj" fmla="val 441381"/>
            </a:avLst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3146673" y="2363019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2009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6119" y="2529483"/>
            <a:ext cx="373037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Runeson &amp; Höst → el estándar metodológico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562475" y="2876476"/>
            <a:ext cx="172715" cy="9525"/>
          </a:xfrm>
          <a:prstGeom prst="roundRect">
            <a:avLst>
              <a:gd name="adj" fmla="val 380930"/>
            </a:avLst>
          </a:prstGeom>
          <a:solidFill>
            <a:srgbClr val="C0C1D7"/>
          </a:solidFill>
          <a:ln/>
        </p:spPr>
      </p:sp>
      <p:sp>
        <p:nvSpPr>
          <p:cNvPr id="24" name="Shape 22"/>
          <p:cNvSpPr/>
          <p:nvPr/>
        </p:nvSpPr>
        <p:spPr>
          <a:xfrm>
            <a:off x="4539630" y="2848868"/>
            <a:ext cx="64740" cy="64740"/>
          </a:xfrm>
          <a:prstGeom prst="roundRect">
            <a:avLst>
              <a:gd name="adj" fmla="val 441381"/>
            </a:avLst>
          </a:prstGeom>
          <a:solidFill>
            <a:srgbClr val="4950BC"/>
          </a:solidFill>
          <a:ln/>
        </p:spPr>
      </p:sp>
      <p:sp>
        <p:nvSpPr>
          <p:cNvPr id="25" name="Text 23"/>
          <p:cNvSpPr/>
          <p:nvPr/>
        </p:nvSpPr>
        <p:spPr>
          <a:xfrm>
            <a:off x="4917504" y="2813745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17504" y="2980209"/>
            <a:ext cx="373037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Runeson et al. libro → guías prácticas con ejemplos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408810" y="3289474"/>
            <a:ext cx="172715" cy="9525"/>
          </a:xfrm>
          <a:prstGeom prst="roundRect">
            <a:avLst>
              <a:gd name="adj" fmla="val 380930"/>
            </a:avLst>
          </a:prstGeom>
          <a:solidFill>
            <a:srgbClr val="C0C1D7"/>
          </a:solidFill>
          <a:ln/>
        </p:spPr>
      </p:sp>
      <p:sp>
        <p:nvSpPr>
          <p:cNvPr id="28" name="Shape 26"/>
          <p:cNvSpPr/>
          <p:nvPr/>
        </p:nvSpPr>
        <p:spPr>
          <a:xfrm>
            <a:off x="4539630" y="3261866"/>
            <a:ext cx="64740" cy="64740"/>
          </a:xfrm>
          <a:prstGeom prst="roundRect">
            <a:avLst>
              <a:gd name="adj" fmla="val 441381"/>
            </a:avLst>
          </a:prstGeom>
          <a:solidFill>
            <a:srgbClr val="4950BC"/>
          </a:solidFill>
          <a:ln/>
        </p:spPr>
      </p:sp>
      <p:sp>
        <p:nvSpPr>
          <p:cNvPr id="29" name="Text 27"/>
          <p:cNvSpPr/>
          <p:nvPr/>
        </p:nvSpPr>
        <p:spPr>
          <a:xfrm>
            <a:off x="3146673" y="3226743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6119" y="3393207"/>
            <a:ext cx="373037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 Ericsson con registro previo → pre-registro de casos industriales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562475" y="3702472"/>
            <a:ext cx="172715" cy="9525"/>
          </a:xfrm>
          <a:prstGeom prst="roundRect">
            <a:avLst>
              <a:gd name="adj" fmla="val 380930"/>
            </a:avLst>
          </a:prstGeom>
          <a:solidFill>
            <a:srgbClr val="C0C1D7"/>
          </a:solidFill>
          <a:ln/>
        </p:spPr>
      </p:sp>
      <p:sp>
        <p:nvSpPr>
          <p:cNvPr id="32" name="Shape 30"/>
          <p:cNvSpPr/>
          <p:nvPr/>
        </p:nvSpPr>
        <p:spPr>
          <a:xfrm>
            <a:off x="4539630" y="3674864"/>
            <a:ext cx="64740" cy="64740"/>
          </a:xfrm>
          <a:prstGeom prst="roundRect">
            <a:avLst>
              <a:gd name="adj" fmla="val 441381"/>
            </a:avLst>
          </a:prstGeom>
          <a:solidFill>
            <a:srgbClr val="4950BC"/>
          </a:solidFill>
          <a:ln/>
        </p:spPr>
      </p:sp>
      <p:sp>
        <p:nvSpPr>
          <p:cNvPr id="33" name="Text 31"/>
          <p:cNvSpPr/>
          <p:nvPr/>
        </p:nvSpPr>
        <p:spPr>
          <a:xfrm>
            <a:off x="4917504" y="3639741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17504" y="3806205"/>
            <a:ext cx="373037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Rico (ICSE) → diagnóstico de fallas en reportes actuales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408810" y="4115470"/>
            <a:ext cx="172715" cy="9525"/>
          </a:xfrm>
          <a:prstGeom prst="roundRect">
            <a:avLst>
              <a:gd name="adj" fmla="val 380930"/>
            </a:avLst>
          </a:prstGeom>
          <a:solidFill>
            <a:srgbClr val="C0C1D7"/>
          </a:solidFill>
          <a:ln/>
        </p:spPr>
      </p:sp>
      <p:sp>
        <p:nvSpPr>
          <p:cNvPr id="36" name="Shape 34"/>
          <p:cNvSpPr/>
          <p:nvPr/>
        </p:nvSpPr>
        <p:spPr>
          <a:xfrm>
            <a:off x="4539630" y="4087862"/>
            <a:ext cx="64740" cy="64740"/>
          </a:xfrm>
          <a:prstGeom prst="roundRect">
            <a:avLst>
              <a:gd name="adj" fmla="val 441381"/>
            </a:avLst>
          </a:prstGeom>
          <a:solidFill>
            <a:srgbClr val="4950BC"/>
          </a:solidFill>
          <a:ln/>
        </p:spPr>
      </p:sp>
      <p:sp>
        <p:nvSpPr>
          <p:cNvPr id="37" name="Text 35"/>
          <p:cNvSpPr/>
          <p:nvPr/>
        </p:nvSpPr>
        <p:spPr>
          <a:xfrm>
            <a:off x="3146673" y="4052739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6119" y="4219203"/>
            <a:ext cx="3730377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en codificación cualitativa → nueva frontera metodológica (con nuevas responsabilidades éticas)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4698"/>
            <a:ext cx="3681636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Cierre de Unidad 3 + Proyecto Final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96119" y="695995"/>
            <a:ext cx="2340397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Unidad 3 completa — Lo que construiste: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96119" y="873621"/>
            <a:ext cx="8151763" cy="931218"/>
          </a:xfrm>
          <a:prstGeom prst="roundRect">
            <a:avLst>
              <a:gd name="adj" fmla="val 339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263" y="907107"/>
            <a:ext cx="152787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1797546" y="907107"/>
            <a:ext cx="72274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Entregable acumulado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76263" y="1061517"/>
            <a:ext cx="152787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550" dirty="0"/>
          </a:p>
        </p:txBody>
      </p:sp>
      <p:sp>
        <p:nvSpPr>
          <p:cNvPr id="8" name="Text 6"/>
          <p:cNvSpPr/>
          <p:nvPr/>
        </p:nvSpPr>
        <p:spPr>
          <a:xfrm>
            <a:off x="1797546" y="1061517"/>
            <a:ext cx="72274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Comprendes qué es un estudio de caso y cuándo usarlo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576263" y="1215926"/>
            <a:ext cx="152787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1797546" y="1215926"/>
            <a:ext cx="72274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INVB10: propuesta inicial de tu estudio de caso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576263" y="1370335"/>
            <a:ext cx="152787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1797546" y="1370335"/>
            <a:ext cx="72274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INVB11: protocolo diseñado (preguntas, proposición, caso, ética)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576263" y="1524744"/>
            <a:ext cx="152787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797546" y="1524744"/>
            <a:ext cx="72274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INVB12: guía de entrevista semiestructurada diseñada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576263" y="1679153"/>
            <a:ext cx="152787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1797546" y="1679153"/>
            <a:ext cx="72274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INVB13: codificación abierta/axial aplicada a datos simulados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496119" y="1864816"/>
            <a:ext cx="3375794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Proyecto Final Unidad 3 — Presentación oral (10 min por grupo):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96119" y="2042443"/>
            <a:ext cx="8608963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 INVB10 a INVB13 en una presentación que incluya: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496119" y="2179588"/>
            <a:ext cx="150614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496119" y="2298055"/>
            <a:ext cx="2690589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496119" y="2354759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caso elegido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96119" y="2496369"/>
            <a:ext cx="2690589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Fenómeno IS, tipo de estudio, justificación metodológica (Yin, 2014)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3226668" y="2179588"/>
            <a:ext cx="150614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3226668" y="2298055"/>
            <a:ext cx="2690589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5" name="Text 23"/>
          <p:cNvSpPr/>
          <p:nvPr/>
        </p:nvSpPr>
        <p:spPr>
          <a:xfrm>
            <a:off x="3226668" y="2354759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protocolo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226668" y="2496369"/>
            <a:ext cx="2690589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 de investigación, proposición(es), unidad de análisis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5957218" y="2179588"/>
            <a:ext cx="150614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5957218" y="2298055"/>
            <a:ext cx="2690589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9" name="Text 27"/>
          <p:cNvSpPr/>
          <p:nvPr/>
        </p:nvSpPr>
        <p:spPr>
          <a:xfrm>
            <a:off x="5957218" y="2354759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 de recolección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957218" y="2496369"/>
            <a:ext cx="2690589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Fuentes de evidencia y estrategia de triangulación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496119" y="2685008"/>
            <a:ext cx="150614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496119" y="2803475"/>
            <a:ext cx="4055864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3" name="Text 31"/>
          <p:cNvSpPr/>
          <p:nvPr/>
        </p:nvSpPr>
        <p:spPr>
          <a:xfrm>
            <a:off x="496119" y="2860179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 simulado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96119" y="3001789"/>
            <a:ext cx="4055864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fragmentos codificados con temas emergentes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4591943" y="2685008"/>
            <a:ext cx="150614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4591943" y="2803475"/>
            <a:ext cx="4055864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7" name="Text 35"/>
          <p:cNvSpPr/>
          <p:nvPr/>
        </p:nvSpPr>
        <p:spPr>
          <a:xfrm>
            <a:off x="4591943" y="2860179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Reflexión crítica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91943" y="3001789"/>
            <a:ext cx="4055864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Usando el checklist de Rico (2024) — ¿qué fortalezas y limitaciones tiene tu diseño?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496119" y="3210446"/>
            <a:ext cx="154662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Criterios de evaluación: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96119" y="3425726"/>
            <a:ext cx="3771826" cy="94134"/>
          </a:xfrm>
          <a:prstGeom prst="roundRect">
            <a:avLst>
              <a:gd name="adj" fmla="val 3360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6119" y="3425726"/>
            <a:ext cx="1508671" cy="94134"/>
          </a:xfrm>
          <a:prstGeom prst="roundRect">
            <a:avLst>
              <a:gd name="adj" fmla="val 33603"/>
            </a:avLst>
          </a:prstGeom>
          <a:solidFill>
            <a:srgbClr val="4950BC"/>
          </a:solidFill>
          <a:ln/>
        </p:spPr>
      </p:sp>
      <p:sp>
        <p:nvSpPr>
          <p:cNvPr id="42" name="Text 40"/>
          <p:cNvSpPr/>
          <p:nvPr/>
        </p:nvSpPr>
        <p:spPr>
          <a:xfrm>
            <a:off x="4324424" y="3425726"/>
            <a:ext cx="222572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40%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96119" y="3587502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Rigor metodológico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96119" y="3729112"/>
            <a:ext cx="405087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Runeson &amp; Höst, 2009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4597003" y="3425726"/>
            <a:ext cx="3774653" cy="94134"/>
          </a:xfrm>
          <a:prstGeom prst="roundRect">
            <a:avLst>
              <a:gd name="adj" fmla="val 3360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97003" y="3425726"/>
            <a:ext cx="1132359" cy="94134"/>
          </a:xfrm>
          <a:prstGeom prst="roundRect">
            <a:avLst>
              <a:gd name="adj" fmla="val 33603"/>
            </a:avLst>
          </a:prstGeom>
          <a:solidFill>
            <a:srgbClr val="4950BC"/>
          </a:solidFill>
          <a:ln/>
        </p:spPr>
      </p:sp>
      <p:sp>
        <p:nvSpPr>
          <p:cNvPr id="47" name="Text 45"/>
          <p:cNvSpPr/>
          <p:nvPr/>
        </p:nvSpPr>
        <p:spPr>
          <a:xfrm>
            <a:off x="8428137" y="3425726"/>
            <a:ext cx="219745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30%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97003" y="3587502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Pertinencia del caso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97003" y="3729112"/>
            <a:ext cx="405087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y preguntas de investigación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496119" y="3938960"/>
            <a:ext cx="3776142" cy="94134"/>
          </a:xfrm>
          <a:prstGeom prst="roundRect">
            <a:avLst>
              <a:gd name="adj" fmla="val 3360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6119" y="3938960"/>
            <a:ext cx="755228" cy="94134"/>
          </a:xfrm>
          <a:prstGeom prst="roundRect">
            <a:avLst>
              <a:gd name="adj" fmla="val 33603"/>
            </a:avLst>
          </a:prstGeom>
          <a:solidFill>
            <a:srgbClr val="4950BC"/>
          </a:solidFill>
          <a:ln/>
        </p:spPr>
      </p:sp>
      <p:sp>
        <p:nvSpPr>
          <p:cNvPr id="52" name="Text 50"/>
          <p:cNvSpPr/>
          <p:nvPr/>
        </p:nvSpPr>
        <p:spPr>
          <a:xfrm>
            <a:off x="4328740" y="3938960"/>
            <a:ext cx="218256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20%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96119" y="4100736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Calidad del análisis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96119" y="4242346"/>
            <a:ext cx="405087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simulado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4597003" y="3938960"/>
            <a:ext cx="3794820" cy="94134"/>
          </a:xfrm>
          <a:prstGeom prst="roundRect">
            <a:avLst>
              <a:gd name="adj" fmla="val 3360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97003" y="3938960"/>
            <a:ext cx="379437" cy="94134"/>
          </a:xfrm>
          <a:prstGeom prst="roundRect">
            <a:avLst>
              <a:gd name="adj" fmla="val 33603"/>
            </a:avLst>
          </a:prstGeom>
          <a:solidFill>
            <a:srgbClr val="4950BC"/>
          </a:solidFill>
          <a:ln/>
        </p:spPr>
      </p:sp>
      <p:sp>
        <p:nvSpPr>
          <p:cNvPr id="57" name="Text 55"/>
          <p:cNvSpPr/>
          <p:nvPr/>
        </p:nvSpPr>
        <p:spPr>
          <a:xfrm>
            <a:off x="8448303" y="3938960"/>
            <a:ext cx="199579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10%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597003" y="4100736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Claridad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597003" y="4242346"/>
            <a:ext cx="405087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 de la presentación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496119" y="4379491"/>
            <a:ext cx="9525" cy="182091"/>
          </a:xfrm>
          <a:prstGeom prst="roundRect">
            <a:avLst>
              <a:gd name="adj" fmla="val 60000"/>
            </a:avLst>
          </a:prstGeom>
          <a:solidFill>
            <a:srgbClr val="4950BC"/>
          </a:solidFill>
          <a:ln/>
        </p:spPr>
      </p:sp>
      <p:sp>
        <p:nvSpPr>
          <p:cNvPr id="61" name="Text 59"/>
          <p:cNvSpPr/>
          <p:nvPr/>
        </p:nvSpPr>
        <p:spPr>
          <a:xfrm>
            <a:off x="609079" y="4424437"/>
            <a:ext cx="84960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"La investigación de estudios de caso no es fácil, aunque parece accesible. Su rigor no viene de la estadística sino de la transparencia, la triangulación y la honestidad sobre las limitaciones." — Adaptado de Yin, 2014</a:t>
            </a:r>
            <a:endParaRPr lang="en-US" sz="550" dirty="0"/>
          </a:p>
        </p:txBody>
      </p:sp>
      <p:sp>
        <p:nvSpPr>
          <p:cNvPr id="62" name="Text 60"/>
          <p:cNvSpPr/>
          <p:nvPr/>
        </p:nvSpPr>
        <p:spPr>
          <a:xfrm>
            <a:off x="496119" y="4606528"/>
            <a:ext cx="8608963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Referencias principales de la unidad:</a:t>
            </a:r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Runeson &amp; Höst (2009) · Yin (2014) · Runeson et al. (2012) · Rico, ICSE (2024) · Jonsson et al., ICSE-SEIP (2022) · NASA OSDR (2025)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2026-06-30T15:33:10Z</dcterms:created>
  <dcterms:modified xsi:type="dcterms:W3CDTF">2026-06-30T15:33:10Z</dcterms:modified>
</cp:coreProperties>
</file>