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image" Target="../media/image-10-2.png"/><Relationship Id="rId9" Type="http://schemas.openxmlformats.org/officeDocument/2006/relationships/image" Target="../media/image-10-3.svg"/><Relationship Id="rId10" Type="http://schemas.openxmlformats.org/officeDocument/2006/relationships/image" Target="../media/image-10-2.png"/><Relationship Id="rId11" Type="http://schemas.openxmlformats.org/officeDocument/2006/relationships/image" Target="../media/image-10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0294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Introducción a Estudios de Caso en IS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601516"/>
            <a:ext cx="1320329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4010174" y="2644006"/>
            <a:ext cx="160741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 13 · UNIDAD 3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3027387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Marcelo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937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Hay preguntas que el laboratorio no puede responder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614860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Escenario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96119" y="1939454"/>
            <a:ext cx="39164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empresa ecuatoriana adopta metodologías ágiles. Después de 6 meses, la productividad cayó. ¿Por qué?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461617"/>
            <a:ext cx="3916487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¿Podemos responder con un experimento controlado?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96119" y="2990329"/>
            <a:ext cx="3916487" cy="70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puedes aleatorizar equipos reales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puedes aislar variables en producción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puedes reproducir el contexto organizacional exacto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6119" y="3811860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¿Con una encuesta?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6119" y="4136454"/>
            <a:ext cx="391648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Parcialmente — pero pierdes la riqueza del "por qué" y el "cómo"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36157" y="1614860"/>
            <a:ext cx="381714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respuesta correcta: un Estudio de Caso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6157" y="1954485"/>
            <a:ext cx="14288" cy="1221060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4932164" y="2062907"/>
            <a:ext cx="3720480" cy="100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estudio de caso es la estrategia de investigación idónea cuando el investigador tiene poco control sobre los eventos y cuando el foco está en fenómenos contemporáneos en contexto real."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Yin, 2014, p.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36157" y="3311054"/>
            <a:ext cx="3916487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IS: adopción de tecnologías, fallos de proyectos, cultura DevOps, equipos distribuidos → todos son fenómenos que viven en la realidad, no en el laboratorio.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370"/>
            <a:ext cx="573308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Estudio de Caso en IS?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88975"/>
            <a:ext cx="386633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 canónica (Runeson &amp; Höst, 2009)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412751"/>
            <a:ext cx="14288" cy="966192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85502" y="1513954"/>
            <a:ext cx="37324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"Un estudio de caso es una investigación empírica que examina un fenómeno IS contemporáneo dentro de su contexto real, especialmente cuando los límites entre el fenómeno y el contexto no son claramente evidentes."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2505447"/>
            <a:ext cx="341114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 complementaria (Yin, 2014)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119" y="2829223"/>
            <a:ext cx="14288" cy="584299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85502" y="2930426"/>
            <a:ext cx="373246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"Investiga un fenómeno actual en su contexto natural, usando múltiples fuentes de evidencia."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3540026"/>
            <a:ext cx="3921844" cy="838349"/>
          </a:xfrm>
          <a:prstGeom prst="roundRect">
            <a:avLst>
              <a:gd name="adj" fmla="val 6326"/>
            </a:avLst>
          </a:prstGeom>
          <a:solidFill>
            <a:srgbClr val="DADBF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25" y="3730228"/>
            <a:ext cx="157758" cy="1262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06289" y="3672780"/>
            <a:ext cx="338546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Distinción importante: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caso de uso en UML NO es un estudio de caso de investigación. Un estudio de caso es una metodología empírica completa.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30800" y="1088975"/>
            <a:ext cx="208061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clave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30800" y="1412751"/>
            <a:ext cx="3921844" cy="3190875"/>
          </a:xfrm>
          <a:prstGeom prst="roundRect">
            <a:avLst>
              <a:gd name="adj" fmla="val 166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1843" y="1489695"/>
            <a:ext cx="21609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17965" y="1489695"/>
            <a:ext cx="21609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Descripción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861843" y="1829767"/>
            <a:ext cx="21609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natural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17965" y="1829767"/>
            <a:ext cx="170371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fenómeno se estudia donde ocurre (empresa, equipo, proyecto)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61843" y="2551733"/>
            <a:ext cx="21609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fuentes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817965" y="2551733"/>
            <a:ext cx="170371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 + documentos + observación + métricas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61843" y="3082751"/>
            <a:ext cx="21609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Fenómeno contemporáneo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17965" y="3082751"/>
            <a:ext cx="170371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historia pasada; ocurre ahora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861843" y="3613770"/>
            <a:ext cx="216091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Límites difusos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7965" y="3613770"/>
            <a:ext cx="170371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forma parte del objeto de estudio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61843" y="4144789"/>
            <a:ext cx="170371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"cómo" o "por qué"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817965" y="4144789"/>
            <a:ext cx="170371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"cuántos" sino "de qué manera" y "por qué razón"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486"/>
            <a:ext cx="4232374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Tipos de Estudios de Caso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820192"/>
            <a:ext cx="337229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Clasificación de Yin (2014) por propósito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149400"/>
            <a:ext cx="2652415" cy="1460822"/>
          </a:xfrm>
          <a:prstGeom prst="roundRect">
            <a:avLst>
              <a:gd name="adj" fmla="val 33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8232" y="127151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Exploratorio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8232" y="1513210"/>
            <a:ext cx="2408188" cy="97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Pregunta:</a:t>
            </a:r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está pasando aquí?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Generar hipótesis para futura investigación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IS: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usan los equipos la IA generativa en el desarrollo?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5718" y="1149400"/>
            <a:ext cx="2652489" cy="1460822"/>
          </a:xfrm>
          <a:prstGeom prst="roundRect">
            <a:avLst>
              <a:gd name="adj" fmla="val 33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832" y="127151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Descriptivo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67832" y="1513210"/>
            <a:ext cx="2408262" cy="97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Pregunta:</a:t>
            </a:r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es X?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Retratar el fenómeno en detalle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IS: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¿Cómo está organizado el proceso DevOps en una empresa mediana?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95392" y="1149400"/>
            <a:ext cx="2652415" cy="1460822"/>
          </a:xfrm>
          <a:prstGeom prst="roundRect">
            <a:avLst>
              <a:gd name="adj" fmla="val 337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7506" y="127151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Explicativo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17506" y="1513210"/>
            <a:ext cx="2408188" cy="97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Pregunta:</a:t>
            </a:r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¿Por qué / cómo ocurrió X?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Objetivo:</a:t>
            </a:r>
            <a:pPr algn="l" indent="0" marL="0">
              <a:lnSpc>
                <a:spcPct val="12200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Establecer relaciones causales o mecanismos</a:t>
            </a:r>
            <a:endParaRPr lang="en-US" sz="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IS: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¿Por qué falló la adopción de Scrum en ese proyecto?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6119" y="2755999"/>
            <a:ext cx="364420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Clasificación de Stake (1995) por motivación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6119" y="3085207"/>
            <a:ext cx="2652415" cy="848320"/>
          </a:xfrm>
          <a:prstGeom prst="roundRect">
            <a:avLst>
              <a:gd name="adj" fmla="val 581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757" y="321684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Intrínseco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7757" y="3458542"/>
            <a:ext cx="238913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caso es interesante en sí mismo (un proyecto NASA específico)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45718" y="3085207"/>
            <a:ext cx="2652489" cy="848320"/>
          </a:xfrm>
          <a:prstGeom prst="roundRect">
            <a:avLst>
              <a:gd name="adj" fmla="val 581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7357" y="321684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Instrumental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77357" y="3458542"/>
            <a:ext cx="238921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caso sirve para entender algo más general (DevOps en industria)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95392" y="3085207"/>
            <a:ext cx="2652415" cy="848320"/>
          </a:xfrm>
          <a:prstGeom prst="roundRect">
            <a:avLst>
              <a:gd name="adj" fmla="val 5812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7031" y="3216846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Colectivo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27031" y="3458542"/>
            <a:ext cx="238913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casos para comparar y generalizar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6119" y="4042842"/>
            <a:ext cx="8151763" cy="576858"/>
          </a:xfrm>
          <a:prstGeom prst="roundRect">
            <a:avLst>
              <a:gd name="adj" fmla="val 8548"/>
            </a:avLst>
          </a:prstGeom>
          <a:solidFill>
            <a:srgbClr val="B6D6FC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470" y="4201120"/>
            <a:ext cx="146745" cy="11735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77565" y="4159597"/>
            <a:ext cx="7652965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práctica: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tu pregunta empieza con "cuánto" o "qué porcentaje" → encuesta o experimento. Si empieza con "cómo" o "por qué" → estudio de caso.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416"/>
            <a:ext cx="559080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Diseños: Caso Único vs. Múltiple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15839"/>
            <a:ext cx="289277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Yin (2014) — Matriz de diseños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96119" y="1447502"/>
            <a:ext cx="3919165" cy="2621682"/>
          </a:xfrm>
          <a:prstGeom prst="roundRect">
            <a:avLst>
              <a:gd name="adj" fmla="val 20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9766" y="1526828"/>
            <a:ext cx="150085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35063" y="1526828"/>
            <a:ext cx="10412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Holístico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(una unidad de análisis)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37979" y="1526828"/>
            <a:ext cx="1043657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Embebido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(múltiples unidades)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9766" y="2268513"/>
            <a:ext cx="150085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 único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35063" y="2268513"/>
            <a:ext cx="10412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proyecto, analizado globalmente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37979" y="2268513"/>
            <a:ext cx="104365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proyecto, con subunidades (equipos, módulos)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9766" y="3206130"/>
            <a:ext cx="150085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Casos múltiples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35063" y="3206130"/>
            <a:ext cx="10412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Varios proyectos, cada uno globalmente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37979" y="3206130"/>
            <a:ext cx="104365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Varios proyectos, cada uno con subunidades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3479" y="1115839"/>
            <a:ext cx="213880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caso único?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33479" y="1432917"/>
            <a:ext cx="3919165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caso es extremo, único o revelador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 caso crítico que puede confirmar/refutar una teoría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 caso longitudinal (se estudia en el tiempo)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3479" y="2218506"/>
            <a:ext cx="251742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casos múltiples?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33479" y="2535585"/>
            <a:ext cx="3919165" cy="865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busca replicación lógica (mismos resultados en contextos similares)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contraste (resultados opuestos en contextos diferentes)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robusto metodológicamente, pero más costoso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3479" y="3531691"/>
            <a:ext cx="3919165" cy="1057424"/>
          </a:xfrm>
          <a:prstGeom prst="roundRect">
            <a:avLst>
              <a:gd name="adj" fmla="val 5103"/>
            </a:avLst>
          </a:prstGeom>
          <a:solidFill>
            <a:srgbClr val="DADBF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1917" y="3722638"/>
            <a:ext cx="160586" cy="12843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150941" y="3668539"/>
            <a:ext cx="33732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 IS real: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Lwakatare et al. (2016) — Adopción de DevOps: 5 empresas finlandesas → caso múltiple holístico → comparación cruzada para identificar patrones comunes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226"/>
            <a:ext cx="766978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Proceso: 5 Fases de Runeson &amp; Höst (2009)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040532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estándar para estudios de caso en IS: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36743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571476"/>
            <a:ext cx="2639616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66427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Diseño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96119" y="1934766"/>
            <a:ext cx="2639616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objetivo y pregunta de investigación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 el caso y justificar la elección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Establecer proposiciones o proposiciones teóricas previas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52118" y="136743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52118" y="1571476"/>
            <a:ext cx="2639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252118" y="166427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Preparación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52118" y="1934766"/>
            <a:ext cx="2639690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el protocolo del caso (instrumentos, fuentes, procedimientos)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Obtener acceso al caso (empresa, proyecto, equipo)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Preparación ética: consentimiento informado, confidencialidad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08191" y="136743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08191" y="1571476"/>
            <a:ext cx="2639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008191" y="166427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Recolección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08191" y="1934766"/>
            <a:ext cx="2639690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fuentes: entrevistas semiestructuradas, observación, documentos, artefactos de código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 evidencia: grabaciones, notas de campo, bitácoras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Triangulación desde el primer día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119" y="34044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6119" y="3608487"/>
            <a:ext cx="4017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7012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6119" y="3971776"/>
            <a:ext cx="4017690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Codificación de datos cualitativos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Construcción de cadena de evidencia (audit trail)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dentro del caso y entre casos (si son múltiples)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30192" y="3404443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30192" y="3608487"/>
            <a:ext cx="401769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4630192" y="3701281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30192" y="3971776"/>
            <a:ext cx="4017690" cy="66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IMRaD adaptada o formato narrativo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para quién se escribe (academia vs. práctica)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Discutir explícitamente amenazas a la validez y generalización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588"/>
            <a:ext cx="627727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¿Cuándo elegir un Estudio de Caso?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47316"/>
            <a:ext cx="3036838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Usa estudio de caso cuando: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84337"/>
            <a:ext cx="3913808" cy="182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pregunta es "cómo" o "por qué"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investigador tiene poco o ningún control sobre los eventos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fenómeno es contemporáneo y ocurre en contexto real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Necesitas profundidad comprensiva, no amplitud estadística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es parte integral del fenómeno (no se puede separar)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3431158"/>
            <a:ext cx="3381970" cy="2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No uses estudio de caso cuando: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3768179"/>
            <a:ext cx="3913808" cy="911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Necesitas generalización estadística (usa encuesta)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Puedes controlar variables y aleatorizar (usa experimento)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Estudias fenómenos históricos sin rastros actuales (usa investigación histórica)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8836" y="1147316"/>
            <a:ext cx="242247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Tabla de decisión rápida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38836" y="1495127"/>
            <a:ext cx="3913808" cy="2452092"/>
          </a:xfrm>
          <a:prstGeom prst="roundRect">
            <a:avLst>
              <a:gd name="adj" fmla="val 227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43599" y="1499890"/>
            <a:ext cx="3904283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76577" y="1579364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31062" y="1579364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 recomendado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43599" y="1864816"/>
            <a:ext cx="3904283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76577" y="1944291"/>
            <a:ext cx="168391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¿Cuántos equipos usan TDD?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31062" y="1944291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 (survey)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43599" y="2435721"/>
            <a:ext cx="3904283" cy="3649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76577" y="2515195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¿TDD mejora la calidad?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31062" y="2515195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Experimento controlado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43599" y="2800648"/>
            <a:ext cx="3904283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876577" y="2880122"/>
            <a:ext cx="168391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¿Por qué este equipo abandonó TDD?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1062" y="2880122"/>
            <a:ext cx="21411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43599" y="3371552"/>
            <a:ext cx="3904283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76577" y="3451027"/>
            <a:ext cx="168391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adoptan IA los equipos ágiles?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31062" y="3451027"/>
            <a:ext cx="168391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de caso exploratorio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2374"/>
            <a:ext cx="6032674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NASA: Ciencia Empírica en Contexto Real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41487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NASA como modelo de estudio de caso científico a gran escala: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96578"/>
            <a:ext cx="2659559" cy="29773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8284" y="1321594"/>
            <a:ext cx="2352377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GeneLab — Open Science Data Repository (2024)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78284" y="1719486"/>
            <a:ext cx="2352377" cy="2329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único embebido: experimentos biológicos en microgravedad (ISS) como unidad principal; múltiples organismos y condiciones como subunidades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de 800 investigadores voluntarios organizados en grupos de trabajo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 publicaciones generadas reutilizando datos abiertos al 2024 (Nucleic Acids Research, 2025)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FAIR: descubribles, accesibles, interoperables, reutilizables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Tipo:</a:t>
            </a:r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Exploratorio-descriptivo → "¿cómo responde la biología a la microgravedad?"</a:t>
            </a:r>
            <a:endParaRPr lang="en-US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2146" y="1196578"/>
            <a:ext cx="2659633" cy="29773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4312" y="1321594"/>
            <a:ext cx="2352452" cy="34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JunoCam — Citizen Science como caso colectivo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424312" y="1719486"/>
            <a:ext cx="2352452" cy="100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múltiple: miles de ciudadanos como unidades de análisis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Protocolo de recolección de datos compartido globalmente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Replicación distribuida: múltiples observadores, mismo objeto de estudio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8248" y="1196578"/>
            <a:ext cx="2659559" cy="29773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0414" y="1321594"/>
            <a:ext cx="2292325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Hurricane Ida — Caso longitudinal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170414" y="1546473"/>
            <a:ext cx="2352377" cy="116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Seguimiento antes/durante/después del huracán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Múltiples fuentes: sensores satelitales, estaciones meteorológicas, datos comunitarios</a:t>
            </a:r>
            <a:endParaRPr lang="en-US" sz="850" dirty="0"/>
          </a:p>
          <a:p>
            <a:pPr algn="l" marL="172720" indent="-172720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 modelos predictivos validados en contexto real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496119" y="4271293"/>
            <a:ext cx="14288" cy="352425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14" name="Text 9"/>
          <p:cNvSpPr/>
          <p:nvPr/>
        </p:nvSpPr>
        <p:spPr>
          <a:xfrm>
            <a:off x="662211" y="4368626"/>
            <a:ext cx="844287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Principio clave NASA: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contexto no es ruido — es datos. Exactamente la filosofía del estudio de caso.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044"/>
            <a:ext cx="7932167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Errores Comunes al Diseñar y Reportar Estudios de Caso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28390"/>
            <a:ext cx="81517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Rico (2024) — ICSE Workshop on Methodological Issues in Empirical SE: Análisis de estudios de caso publicados en conferencias IS → 4 fallas críticas sistemáticas: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328440"/>
            <a:ext cx="8151763" cy="1954411"/>
          </a:xfrm>
          <a:prstGeom prst="roundRect">
            <a:avLst>
              <a:gd name="adj" fmla="val 23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0270" y="1387822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326160" y="1387822"/>
            <a:ext cx="294895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Descripción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039669" y="1387822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Consecuencia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0270" y="1655118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Contexto insuficiente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26160" y="1655118"/>
            <a:ext cx="24917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describe la empresa, el proyecto ni el equipo con suficiente detalle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39669" y="1655118"/>
            <a:ext cx="249413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lector no puede juzgar si el caso es relevante para su contexto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0270" y="2075706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clasifican el caso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26160" y="2075706"/>
            <a:ext cx="24917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indican si es exploratorio, descriptivo o explicativo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39669" y="2075706"/>
            <a:ext cx="249413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Imposible evaluar si el diseño es adecuado para la pregunta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0270" y="2496294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discuten generalización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26160" y="2496294"/>
            <a:ext cx="24917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Asumen que sus resultados aplican universalmente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39669" y="2496294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Overgeneralization → conclusiones inválidas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10270" y="2916882"/>
            <a:ext cx="2951336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Ignoran amenazas a la validez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26160" y="2916882"/>
            <a:ext cx="249175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reportan sesgos del investigador, subjetividad, acceso limitado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9669" y="2916882"/>
            <a:ext cx="249413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lector no puede calibrar la confiabilidad de los hallazgos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6119" y="3376315"/>
            <a:ext cx="14288" cy="646733"/>
          </a:xfrm>
          <a:prstGeom prst="roundRect">
            <a:avLst>
              <a:gd name="adj" fmla="val 59998"/>
            </a:avLst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862" y="3469779"/>
            <a:ext cx="7989019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"Seguir las guías de Runeson &amp; Höst (2009) no es opcional — es el estándar mínimo para que un estudio de caso IS sea considerado metodológicamente sólido."</a:t>
            </a:r>
            <a:endParaRPr lang="en-US" sz="8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Rico (2024)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6119" y="4116586"/>
            <a:ext cx="8151763" cy="510332"/>
          </a:xfrm>
          <a:prstGeom prst="roundRect">
            <a:avLst>
              <a:gd name="adj" fmla="val 8933"/>
            </a:avLst>
          </a:prstGeom>
          <a:solidFill>
            <a:srgbClr val="DADBF1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614" y="4261991"/>
            <a:ext cx="135657" cy="10849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48767" y="4218459"/>
            <a:ext cx="769061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Regla de oro: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buen estudio de caso permite al lector entender el caso tan bien como el investigador, y juzgar si las conclusiones son transferibles a su propio contexto.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154"/>
            <a:ext cx="2727647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Cierre + INVB10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876226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aprendido hoy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41350"/>
            <a:ext cx="2049884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Referencias clave de la clase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1241375"/>
            <a:ext cx="396515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Runeson, P. &amp; Höst, M. (2009). </a:t>
            </a:r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Software Engineering, 14</a:t>
            </a:r>
            <a:pPr algn="l" indent="0" marL="0">
              <a:lnSpc>
                <a:spcPct val="109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(2), 131-164.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Yin, R.K. (2014). </a:t>
            </a:r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Research: Design and Methods</a:t>
            </a:r>
            <a:pPr algn="l" indent="0" marL="0">
              <a:lnSpc>
                <a:spcPct val="10900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(5th ed.). Sage.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Rico, S. (2024). Insights towards better case study reporting in IS. </a:t>
            </a:r>
            <a:pPr algn="l" indent="0" marL="0">
              <a:lnSpc>
                <a:spcPct val="109000"/>
              </a:lnSpc>
              <a:buNone/>
            </a:pPr>
            <a:r>
              <a:rPr lang="en-US" sz="7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WSESE@ICSE 2024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arXiv:2402.08411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687491" y="876226"/>
            <a:ext cx="2653978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INVB10 — Investigación Bibliográfica 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87491" y="1076251"/>
            <a:ext cx="3965153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la propuesta inicial de tu propio estudio de caso IS. Responde en 1 página (APA 7ª edición):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687491" y="1366838"/>
            <a:ext cx="3965153" cy="89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1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Fenómeno a estudiar:</a:t>
            </a:r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1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aspecto del desarrollo de software te interesa investigar? (adopción tecnológica, proceso de equipo, calidad, seguridad, IA, etc.)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2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Tipo de estudio:</a:t>
            </a:r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2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¿Exploratorio, descriptivo o explicativo? Justifica con referencia a Yin (2014).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3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caso:</a:t>
            </a:r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3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¿Qué empresa, proyecto, equipo o comunidad sería tu unidad de análisis? ¿Por qué ese caso es relevante?</a:t>
            </a:r>
            <a:endParaRPr lang="en-US" sz="700" dirty="0"/>
          </a:p>
          <a:p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4"/>
            </a:pPr>
            <a:r>
              <a:rPr lang="en-US" sz="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Dos preguntas de investigación:</a:t>
            </a:r>
            <a:pPr algn="l" marL="142240" indent="-142240">
              <a:lnSpc>
                <a:spcPct val="109000"/>
              </a:lnSpc>
              <a:buSzPct val="100000"/>
              <a:buFont typeface="+mj-lt"/>
              <a:buAutoNum type="arabicPeriod" startAt="4"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Deben comenzar con "¿Cómo...?" o "¿Por qué...?"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687491" y="2327151"/>
            <a:ext cx="3965153" cy="388293"/>
          </a:xfrm>
          <a:prstGeom prst="roundRect">
            <a:avLst>
              <a:gd name="adj" fmla="val 9824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8276" y="2451646"/>
            <a:ext cx="113481" cy="9078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982542" y="2402160"/>
            <a:ext cx="3579316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Nota: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 propuesta será la base del proyecto de Unidad 3.</a:t>
            </a:r>
            <a:endParaRPr lang="en-US" sz="700" dirty="0"/>
          </a:p>
          <a:p>
            <a:pPr algn="l" indent="0" marL="0">
              <a:lnSpc>
                <a:spcPct val="109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Formato:</a:t>
            </a:r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página, APA 7ª · Entrega: próxima clase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200" y="2850803"/>
            <a:ext cx="136178" cy="13617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1245" y="2846263"/>
            <a:ext cx="78566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estudio de caso responde "cómo" y "por qué" — donde el experimento y la encuesta no alcanzan</a:t>
            </a:r>
            <a:endParaRPr lang="en-US" sz="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00" y="3244081"/>
            <a:ext cx="136178" cy="1361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1245" y="3239542"/>
            <a:ext cx="78566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Yin (2014): 3 tipos (exploratorio/descriptivo/explicativo) × 2 diseños (único/múltiple)</a:t>
            </a:r>
            <a:endParaRPr lang="en-US" sz="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200" y="3637359"/>
            <a:ext cx="136178" cy="1361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1245" y="3632820"/>
            <a:ext cx="78566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Runeson &amp; Höst (2009): el proceso en 5 fases, el estándar IS</a:t>
            </a:r>
            <a:endParaRPr lang="en-US" sz="7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0200" y="4030638"/>
            <a:ext cx="136178" cy="13617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1245" y="4026098"/>
            <a:ext cx="78566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NASA: 800+ investigadores, 92 publicaciones, datos FAIR → la ciencia en contexto real como modelo</a:t>
            </a:r>
            <a:endParaRPr lang="en-US" sz="7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0200" y="4423916"/>
            <a:ext cx="136178" cy="13617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91245" y="4419377"/>
            <a:ext cx="7856637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Rico (2024): los 4 errores más comunes que invalidan un estudio de caso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2026-06-25T15:42:05Z</dcterms:created>
  <dcterms:modified xsi:type="dcterms:W3CDTF">2026-06-25T15:42:05Z</dcterms:modified>
</cp:coreProperties>
</file>