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7.png"/><Relationship Id="rId10" Type="http://schemas.openxmlformats.org/officeDocument/2006/relationships/image" Target="../media/image-9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Ejecución y Recolección de Datos en Experimentos 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15 | Unidad 3 — Experimentación en IS (3.2.2)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— ESPE | Ing. Ángel Rea,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3486"/>
            <a:ext cx="485105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protocolo es el experimento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79078"/>
            <a:ext cx="14288" cy="403324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675531" y="1192560"/>
            <a:ext cx="842955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 que no está en el protocolo, no pasó."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1595884"/>
            <a:ext cx="8151763" cy="642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2009, Kitchenham et al. analizaron la replicabilidad de 103 experimentos IS publicados. Resultado: solo el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31%</a:t>
            </a:r>
            <a:pPr algn="l" indent="0" marL="0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describía el procedimiento con suficiente detalle como para que otro investigador pudiera replicarlo.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69% restante era irreproducible — no por mala ciencia, sino por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documentación deficiente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2389808"/>
            <a:ext cx="306727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protocolo de ejecución responde: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6119" y="2728020"/>
            <a:ext cx="4025429" cy="848767"/>
          </a:xfrm>
          <a:prstGeom prst="roundRect">
            <a:avLst>
              <a:gd name="adj" fmla="val 59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0464" y="2852365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¿Quién hace qué?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0464" y="3099718"/>
            <a:ext cx="377673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y responsabilidades claramente definidos para cada fase del experimento.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2453" y="2728020"/>
            <a:ext cx="4025429" cy="848767"/>
          </a:xfrm>
          <a:prstGeom prst="roundRect">
            <a:avLst>
              <a:gd name="adj" fmla="val 59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6799" y="2852365"/>
            <a:ext cx="177738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¿Asignación de sujetos?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46799" y="3099718"/>
            <a:ext cx="377673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 de asignación a tratamientos documentado y reproducible.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3677692"/>
            <a:ext cx="4025429" cy="672405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464" y="3802038"/>
            <a:ext cx="234895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pasa si alguien abandona?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0464" y="4049390"/>
            <a:ext cx="377673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de contingencia ante abandonos o eventos inesperados.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2453" y="3677692"/>
            <a:ext cx="4025429" cy="672405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6799" y="3802038"/>
            <a:ext cx="237224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¿Cómo se resguardan los datos?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46799" y="4049390"/>
            <a:ext cx="377673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y custodia de datos crudos con trazabilidad completa.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119" y="4463579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protocolo detallado, el experimento existe una sola vez — en la mente del investigador.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638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Antes de ejecutar: piloto, consentimiento y aleatorización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09130"/>
            <a:ext cx="2622724" cy="30947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1732062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2195215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 piloto (imprescindible)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723183"/>
            <a:ext cx="23011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el protocolo con 2-3 sujetos antes del experimento real. Identifica ambigüedades en las instrucciones, problemas con los instrumentos y tiempos irreales.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se incluye en el análisis final.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601" y="1609130"/>
            <a:ext cx="2622724" cy="309473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5662" y="1732062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1410" y="2195215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Consentimiento informado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421410" y="2723183"/>
            <a:ext cx="23011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participantes deben conocer el propósito general del estudio (sin revelar la hipótesis si puede crear sesgo). Tienen derecho a retirarse sin penalización. Los datos se manejan con confidencialidad y anonimización.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5083" y="1609130"/>
            <a:ext cx="2622724" cy="309473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30145" y="1732062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5892" y="21952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Aleatorización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185892" y="2501726"/>
            <a:ext cx="2301106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Asignación de sujetos a grupos mediante tabla de números aleatorios o software (R, Python random). Documenta el mecanismo de aleatorización — es parte del protocolo. En diseños within-subject: aleatoriza el orden de los tratamientos (contrabalanceo).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803"/>
            <a:ext cx="6159698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Instrumentos de recolección de datos en IS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49672"/>
            <a:ext cx="263433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Métricas automáticas (objetivas)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202234"/>
            <a:ext cx="2680990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tarea (timestamps en el IDE, Git commit time)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 de defectos (SonarQube, Checkstyle, ESLint)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de pruebas (JaCoCo, Istanbul)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Complejidad ciclomática (plugin IDE o SonarQube)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Líneas de código (LOC, NCLOC)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627709"/>
            <a:ext cx="2204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Cuestionarios (subjetivos)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2880271"/>
            <a:ext cx="2680990" cy="824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de usabilidad del sistema (SUS — 10 ítems, escala Likert)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NASA-TLX (Task Load Index) — carga cognitiva percibida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Cuestionarios de satisfacción ad hoc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378782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 directa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19" y="4040386"/>
            <a:ext cx="2680990" cy="671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recording con consentimiento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Think-aloud protocol (el participante verbaliza su proceso)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Notas del experimentador en campo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636" y="1026691"/>
            <a:ext cx="5205933" cy="294999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46636" y="4070152"/>
            <a:ext cx="5205933" cy="510332"/>
          </a:xfrm>
          <a:prstGeom prst="roundRect">
            <a:avLst>
              <a:gd name="adj" fmla="val 8933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2" y="4225082"/>
            <a:ext cx="135657" cy="1084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9284" y="4172024"/>
            <a:ext cx="474478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clave: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combinar al menos una métrica objetiva y una subjetiva para triangular el efecto del tratamiento.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067"/>
            <a:ext cx="563433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efecto Hawthorne en experimentos IS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5160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197397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sujetos modifican su comportamiento al saber que están siendo observados — no por el tratamiento, sino por el hecho de la observación.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574750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en 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1820540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equipo que sabe que se está midiendo su velocidad de codificación puede acelerar artificialmente, invalidando la comparación.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6119" y="2207865"/>
            <a:ext cx="3946178" cy="643086"/>
          </a:xfrm>
          <a:prstGeom prst="roundRect">
            <a:avLst>
              <a:gd name="adj" fmla="val 6944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82" y="2361977"/>
            <a:ext cx="132904" cy="1062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549" y="2306166"/>
            <a:ext cx="349448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Nota: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muchos experimentos IS el cegamiento completo (doble ciego) no es posible — el sujeto sabe qué técnica está usando. Hay que documentar esta limitación.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06466" y="951607"/>
            <a:ext cx="18733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Estrategias de control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6466" y="1207368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06466" y="1373758"/>
            <a:ext cx="394617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4706466" y="1455465"/>
            <a:ext cx="149349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Período de habituación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06466" y="1701254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Dejar que los sujetos trabajen con el entorno un tiempo antes de empezar a medir.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06466" y="2158305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06466" y="2324695"/>
            <a:ext cx="394617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4"/>
          <p:cNvSpPr/>
          <p:nvPr/>
        </p:nvSpPr>
        <p:spPr>
          <a:xfrm>
            <a:off x="4706466" y="240640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Cegamiento parcial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6466" y="2652192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revelar qué grupo tiene el "tratamiento" y cuál el "control" hasta después.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06466" y="2960415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06466" y="3126804"/>
            <a:ext cx="394617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8"/>
          <p:cNvSpPr/>
          <p:nvPr/>
        </p:nvSpPr>
        <p:spPr>
          <a:xfrm>
            <a:off x="4706466" y="320851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Entorno natural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06466" y="3454301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el experimento en el entorno habitual de trabajo del sujeto, no en laboratorio artificial.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06466" y="3911352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6466" y="4077742"/>
            <a:ext cx="394617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22"/>
          <p:cNvSpPr/>
          <p:nvPr/>
        </p:nvSpPr>
        <p:spPr>
          <a:xfrm>
            <a:off x="4706466" y="4159448"/>
            <a:ext cx="139801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 no intrusiva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06466" y="4405238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logs automáticos en lugar de observadores humanos presentes.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625"/>
            <a:ext cx="6717432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Amenazas a la validez durante la ejecución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04218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según Wohlin et al. — amenazas que pueden comprometer los resultados si no se controlan durante la ejecución del experimento.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94061"/>
            <a:ext cx="8151763" cy="3420814"/>
          </a:xfrm>
          <a:prstGeom prst="roundRect">
            <a:avLst>
              <a:gd name="adj" fmla="val 14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0613" y="1364084"/>
            <a:ext cx="168361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Amenaza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86198" y="1364084"/>
            <a:ext cx="225355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21721" y="1364084"/>
            <a:ext cx="241637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20061" y="1364084"/>
            <a:ext cx="266067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0613" y="1675730"/>
            <a:ext cx="168361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Efecto Hawthorne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86198" y="1675730"/>
            <a:ext cx="17963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Sujetos se comportan diferente por ser observados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21721" y="1675730"/>
            <a:ext cx="241637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 de codificación artificial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20061" y="1675730"/>
            <a:ext cx="266067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Habituación, cegamiento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613" y="2163738"/>
            <a:ext cx="168361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Maduración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86198" y="2163738"/>
            <a:ext cx="179635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sujetos mejoran con el tiempo independientemente del tratamiento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21721" y="2163738"/>
            <a:ext cx="195917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Aprenden la tarea durante el experimento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0061" y="2163738"/>
            <a:ext cx="220347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within-subject contrabalanceado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613" y="2828106"/>
            <a:ext cx="122641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Mortalidad experimental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6198" y="2828106"/>
            <a:ext cx="17963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Participantes abandonan durante el estudio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21721" y="2828106"/>
            <a:ext cx="241637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Estudiantes que no entregan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20061" y="2828106"/>
            <a:ext cx="220347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sensibilidad, reporte de abandonos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0613" y="3316114"/>
            <a:ext cx="168361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6198" y="3316114"/>
            <a:ext cx="17963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 externo afecta los resultados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21721" y="3316114"/>
            <a:ext cx="195917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Falla del servidor durante el experimento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20061" y="3316114"/>
            <a:ext cx="220347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Controlar el entorno, suspender y reiniciar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613" y="3804121"/>
            <a:ext cx="168361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86198" y="3804121"/>
            <a:ext cx="17963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instrumento cambia entre mediciones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21721" y="3804121"/>
            <a:ext cx="195917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versión de SonarQube a mitad del experimento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0061" y="3804121"/>
            <a:ext cx="266067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Fijar las versiones de herramientas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0613" y="4292129"/>
            <a:ext cx="122641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Difusión del tratamiento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86198" y="4292129"/>
            <a:ext cx="17963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grupos contaminan sus técnicas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21721" y="4292129"/>
            <a:ext cx="195917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Sujetos del grupo control aprenden del grupo tratamiento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0061" y="4292129"/>
            <a:ext cx="220347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físicamente o temporalmente los grupos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515875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cuantitativos vs cualitativos en el experimento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1952625"/>
            <a:ext cx="2962349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cuantitativos (predominantes en experimentos IS)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104504"/>
            <a:ext cx="3986733" cy="210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recolectan con métricas objetivas o escalas numéricas. Permiten pruebas estadísticas directas.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Ejemplo: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tiempo en segundos, número de defectos, cobertura en porcentaje.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376041"/>
            <a:ext cx="3986733" cy="9525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446139"/>
            <a:ext cx="2126456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cualitativos (complementarios)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2598018"/>
            <a:ext cx="3986733" cy="29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recolectan mediante observación, think-aloud, entrevistas post-experimento. Explican el </a:t>
            </a:r>
            <a:pPr algn="l" indent="0" marL="0">
              <a:lnSpc>
                <a:spcPct val="101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</a:t>
            </a:r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detrás del resultado cuantitativo.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Ejemplo: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"El grupo B tardó más porque no entendía la API del framework asignado."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496119" y="2958108"/>
            <a:ext cx="3986733" cy="9525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3028206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mixto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96119" y="3180085"/>
            <a:ext cx="3986733" cy="29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experimento mide el </a:t>
            </a:r>
            <a:pPr algn="l" indent="0" marL="0">
              <a:lnSpc>
                <a:spcPct val="101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(cuantitativo) y una entrevista breve post-tarea explica el </a:t>
            </a:r>
            <a:pPr algn="l" indent="0" marL="0">
              <a:lnSpc>
                <a:spcPct val="101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</a:t>
            </a:r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(cualitativo). Esta triangulación fortalece tanto la interpretación como la validez de constructo.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Creswell (2014), Wohlin et al. (2012)</a:t>
            </a:r>
            <a:endParaRPr lang="en-US" sz="5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6496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Trazabilidad y reproducibilidad: NASA como modelo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34734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GeneLab (NASA)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613818"/>
            <a:ext cx="222356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experimento biológico realizado en la Estación Espacial Internacional tiene: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2019523"/>
            <a:ext cx="2223567" cy="1393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completo publicado antes del experimento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crudos disponibles en repositorio abierto (formato estándar)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Metadatos que describen cada muestra, instrumento y condición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de análisis reproducible (código abierto)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000077" y="134734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Equivalente en 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00077" y="1613818"/>
            <a:ext cx="2223567" cy="155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pre-registrado en OSF antes de ejecutar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crudos (logs, métricas, respuestas) en repositorio (Zenodo, GitHub)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de análisis en R o Python con comentarios explicativos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Versiones de herramientas fijadas (requirements.txt, Docker)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000077" y="3270796"/>
            <a:ext cx="2223567" cy="1354931"/>
          </a:xfrm>
          <a:prstGeom prst="roundRect">
            <a:avLst>
              <a:gd name="adj" fmla="val 3502"/>
            </a:avLst>
          </a:prstGeom>
          <a:solidFill>
            <a:srgbClr val="B6FCB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038" y="3432125"/>
            <a:ext cx="141163" cy="1129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67162" y="3379961"/>
            <a:ext cx="1743521" cy="11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otro investigador puede descargar los datos y el código, ejecutar el análisis y obtener los mismos resultados. Esto es lo que separa un experimento IS reproducible de uno que existe solo en el papel.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464"/>
            <a:ext cx="668327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Problemas comunes durante la ejecución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06078"/>
            <a:ext cx="2644899" cy="1724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530" y="1144339"/>
            <a:ext cx="22072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Abandono de participantes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91530" y="1403300"/>
            <a:ext cx="2311226" cy="9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Causa: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tiempo insuficiente, pérdida de motivación, fallas técnicas.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Acción: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documentar los abandonos y analizar si son aleatorios o sistemáticos (mortalidad diferencial).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9513" y="1006078"/>
            <a:ext cx="2644899" cy="17246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44925" y="1144339"/>
            <a:ext cx="231122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Contaminación entre grupos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44925" y="1597149"/>
            <a:ext cx="2311226" cy="9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Causa: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comunicación entre sujetos de diferentes tratamientos.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Acción: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instrucción explícita de no compartir información; grupos en aulas separadas o sesiones diferentes.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2908" y="1006078"/>
            <a:ext cx="2644899" cy="17246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8319" y="114433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Datos faltantes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98319" y="1403300"/>
            <a:ext cx="2311226" cy="1181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Causa: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errores de instrumentos, sujetos que no completan el cuestionario.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Acción: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definir en el protocolo el manejo de datos faltantes (imputación, exclusión, análisis de sensibilidad).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39194"/>
            <a:ext cx="2644899" cy="19028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1530" y="2977455"/>
            <a:ext cx="2171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Sesgo del experimentador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91530" y="3236416"/>
            <a:ext cx="2311226" cy="1367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Causa: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investigador interactúa diferente con cada grupo sin darse cuenta.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Acción: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protocolizar exactamente qué dice el experimentador a cada grupo; usar scripts de instrucción estandarizados.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49513" y="2839194"/>
            <a:ext cx="2644899" cy="19028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44925" y="2977455"/>
            <a:ext cx="16688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Problemas técnicos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444925" y="3236416"/>
            <a:ext cx="2311226" cy="9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Causa: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fallos de software, red, herramientas.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Acción: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prueba piloto previa, entorno respaldado, plan de contingencia documentado.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571"/>
            <a:ext cx="848744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INVB12 (PRACT-EXP): Mini-experimento en aula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095747"/>
            <a:ext cx="1330747" cy="255240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578495" y="1136898"/>
            <a:ext cx="162319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 PRÁCTICA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500634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¿Existe diferencia en el tiempo de detección de defectos entre la revisión de código manual y la asistida por checklist estructurado?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221590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Protocolo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563416"/>
            <a:ext cx="3908375" cy="213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Asignación aleatoria: grupo A (revisión libre) vs grupo B (revisión con checklist)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Tarea: identificar defectos en un fragmento de código Java de 50 líneas entregado por el docente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máximo: 15 minutos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Métricas: (a) número de defectos encontrados, (b) tiempo real (cronómetro), (c) confianza percibida (escala 1-5)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Registro: formulario individual completado al terminar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4269" y="221590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a realizar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4269" y="2563416"/>
            <a:ext cx="3908375" cy="9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medias de los dos grupos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tamaño del efecto (d de Cohen)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qué amenazas a la validez ocurrieron en la ejecución real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44269" y="3671367"/>
            <a:ext cx="3908375" cy="740718"/>
          </a:xfrm>
          <a:prstGeom prst="roundRect">
            <a:avLst>
              <a:gd name="adj" fmla="val 7787"/>
            </a:avLst>
          </a:prstGeom>
          <a:solidFill>
            <a:srgbClr val="DADBF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563" y="3879949"/>
            <a:ext cx="171599" cy="13729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90455" y="3825404"/>
            <a:ext cx="33248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Entrega: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reporte de 300 palabras con resultados y lecciones del experimento.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2026-07-02T15:05:10Z</dcterms:created>
  <dcterms:modified xsi:type="dcterms:W3CDTF">2026-07-02T15:05:10Z</dcterms:modified>
</cp:coreProperties>
</file>