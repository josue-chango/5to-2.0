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7.png"/><Relationship Id="rId10" Type="http://schemas.openxmlformats.org/officeDocument/2006/relationships/image" Target="../media/image-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6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Experimentación en IS: Problemas Reales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29321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Aplicación de la experimentación en la resolución de problemas reales — Clase 18 | 3.3.1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484834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Curso: Investigación en Ingeniería de Software | ESPE Sangolquí | Ing. Ángel Rea, Ph.D.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 3 — Experimentación en IS | Cierre de Unidad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484215"/>
            <a:ext cx="19050" cy="772567"/>
          </a:xfrm>
          <a:prstGeom prst="roundRect">
            <a:avLst>
              <a:gd name="adj" fmla="val 60000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4137720" y="3643685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teoría sin la práctica es vacía. La práctica sin la teoría es ciega." — adaptado de Kant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¿Cómo se ve un experimento IS completo en la práctica?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81583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ciclo completo visto en este curso: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64856" y="1120080"/>
            <a:ext cx="14288" cy="3041675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147765" y="1232520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4452417" y="1120080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2265" y="113998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1156618"/>
            <a:ext cx="35442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1370484"/>
            <a:ext cx="354426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es un experimento? → Manipulación, control, aleatorización, medición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77296" y="1817266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452417" y="1704826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2265" y="172473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03614" y="1741363"/>
            <a:ext cx="35442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03614" y="1955229"/>
            <a:ext cx="354426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→ GQM, hipótesis, variables, diseño factorial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47765" y="2340546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4452417" y="2228106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2265" y="224801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6119" y="2264643"/>
            <a:ext cx="35442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119" y="2478509"/>
            <a:ext cx="354426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 → instrumentos, Hawthorne, datos mixtos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77296" y="2863825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2417" y="2751386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2265" y="277129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3614" y="2787923"/>
            <a:ext cx="35442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03614" y="3001789"/>
            <a:ext cx="354426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→ pruebas estadísticas, d de Cohen, JASP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47765" y="3387105"/>
            <a:ext cx="318939" cy="14288"/>
          </a:xfrm>
          <a:prstGeom prst="roundRect">
            <a:avLst>
              <a:gd name="adj" fmla="val 312547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52417" y="3274665"/>
            <a:ext cx="239167" cy="239167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2265" y="3294571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6119" y="3311203"/>
            <a:ext cx="354426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17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119" y="3525069"/>
            <a:ext cx="354426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 → IMRaD, pre-registro, replication package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6119" y="4251424"/>
            <a:ext cx="8151763" cy="502221"/>
          </a:xfrm>
          <a:prstGeom prst="roundRect">
            <a:avLst>
              <a:gd name="adj" fmla="val 8892"/>
            </a:avLst>
          </a:prstGeom>
          <a:solidFill>
            <a:srgbClr val="DADBF1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82" y="4396011"/>
            <a:ext cx="132904" cy="10626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41549" y="4357688"/>
            <a:ext cx="770007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Hoy: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Tres casos completos de experimentos reales en IS que pasaron por todo ese ciclo.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de cierre del curso: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problema de IS en tu contexto local merece un experimento?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18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real: ¿TDD produce código con menos defectos?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189211"/>
            <a:ext cx="486668" cy="185142"/>
          </a:xfrm>
          <a:prstGeom prst="roundRect">
            <a:avLst>
              <a:gd name="adj" fmla="val 22110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69193" y="1225748"/>
            <a:ext cx="797719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043657" y="1189211"/>
            <a:ext cx="3764459" cy="185142"/>
          </a:xfrm>
          <a:prstGeom prst="roundRect">
            <a:avLst>
              <a:gd name="adj" fmla="val 22110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6732" y="1225748"/>
            <a:ext cx="4075509" cy="11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ERDOGMUS, MORISIO &amp; FAVARO (2005) — IEEE TSE | REPLICADO 20+ VECES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1596703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del experimento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6119" y="1891680"/>
            <a:ext cx="3927277" cy="1596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Pregunta:</a:t>
            </a:r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¿TDD reduce defectos respecto al desarrollo tradicional?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VI:</a:t>
            </a:r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Método de desarrollo (TDD vs ITL — Iterative Test-Last)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VD:</a:t>
            </a:r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Número de defectos (SonarQube), tiempo de desarrollo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Sujetos:</a:t>
            </a:r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24 estudiantes posgrado — diseño within-subject (cada uno hace ambos tratamientos)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Instrumento:</a:t>
            </a:r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Suite de pruebas automáticas + medición de cobertura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5367" y="1596703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 principales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25367" y="1891680"/>
            <a:ext cx="392727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Mann-Whitney U = 412, p = .031, r = .38 (efecto mediano)</a:t>
            </a:r>
            <a:endParaRPr lang="en-US" sz="9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encontró diferencia significativa en tiempo de desarrollo.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5367" y="2466008"/>
            <a:ext cx="3927277" cy="1155278"/>
          </a:xfrm>
          <a:prstGeom prst="roundRect">
            <a:avLst>
              <a:gd name="adj" fmla="val 4429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183" y="2644973"/>
            <a:ext cx="152251" cy="1218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21250" y="2590651"/>
            <a:ext cx="3409578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Lección metodológica: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diseño within-subject eliminó variabilidad inter-sujetos. Las réplicas posteriores mostraron que el efecto depende de la experiencia del desarrollador — validez externa limitada a desarrolladores novatos.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856732"/>
            <a:ext cx="4023568" cy="687512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697" y="3983310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TDD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2697" y="4236467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3.2 defectos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24313" y="3856732"/>
            <a:ext cx="4023568" cy="687512"/>
          </a:xfrm>
          <a:prstGeom prst="roundRect">
            <a:avLst>
              <a:gd name="adj" fmla="val 74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0891" y="3983310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50891" y="4236467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6.1 defectos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854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real: GitHub Copilot y productividad en IS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496119" y="831503"/>
            <a:ext cx="396106" cy="144735"/>
          </a:xfrm>
          <a:prstGeom prst="roundRect">
            <a:avLst>
              <a:gd name="adj" fmla="val 22112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53269" y="860078"/>
            <a:ext cx="739006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2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939850" y="831503"/>
            <a:ext cx="2676971" cy="144735"/>
          </a:xfrm>
          <a:prstGeom prst="roundRect">
            <a:avLst>
              <a:gd name="adj" fmla="val 22112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7000" y="860078"/>
            <a:ext cx="3019871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 ET AL. (2023); IMAI (2022) ICSE; SANDOVAL ET AL. (2023) ICSE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496119" y="1048196"/>
            <a:ext cx="86089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GitHub afirmó "55% más rápido con Copilot" — pero ¿qué dice la evidencia experimental?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6119" y="1311548"/>
            <a:ext cx="39597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Experimento Peng et al. (2023)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1524372"/>
            <a:ext cx="3959721" cy="681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Diseño:</a:t>
            </a:r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Controlado — 95 desarrolladores profesionales, aleatorización, tarea HTTP Server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VD principal:</a:t>
            </a:r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Tiempo en completar la tarea (minutos)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Resultado:</a:t>
            </a:r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Grupo Copilot: 71.17 min vs control: 126.5 min → 43.8% más rápido (p &lt; .001, d = 0.89)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6119" y="2270150"/>
            <a:ext cx="395972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PERO — contraexperimento Imai (2022)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6119" y="2482974"/>
            <a:ext cx="3959721" cy="40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Hallazgo:</a:t>
            </a:r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Copilot genera código funcional más rápido, pero introduce más vulnerabilidades (CWE)</a:t>
            </a:r>
            <a:endParaRPr lang="en-US" sz="750" dirty="0"/>
          </a:p>
          <a:p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Implicación:</a:t>
            </a:r>
            <a:pPr algn="l" marL="152400" indent="-152400">
              <a:lnSpc>
                <a:spcPct val="111000"/>
              </a:lnSpc>
              <a:buSzPct val="100000"/>
              <a:buChar char="•"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¿Cuál es la VD correcta? ¿Velocidad o calidad + seguridad?</a:t>
            </a:r>
            <a:endParaRPr lang="en-US" sz="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923" y="1319510"/>
            <a:ext cx="3959721" cy="285020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6119" y="4313634"/>
            <a:ext cx="8151763" cy="424011"/>
          </a:xfrm>
          <a:prstGeom prst="roundRect">
            <a:avLst>
              <a:gd name="adj" fmla="val 9435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69" y="4435078"/>
            <a:ext cx="119062" cy="95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5681" y="4401443"/>
            <a:ext cx="77469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Lección clave: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operacionalización de la variable dependiente determina el resultado. Un experimento bien diseñado debe pre-registrar qué se mide y por qué — antes de correr el código.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204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 F Prime: experimentación antes de ir a Marte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96119" y="1012627"/>
            <a:ext cx="525512" cy="191839"/>
          </a:xfrm>
          <a:prstGeom prst="roundRect">
            <a:avLst>
              <a:gd name="adj" fmla="val 22114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71872" y="1050503"/>
            <a:ext cx="8312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084734" y="1012627"/>
            <a:ext cx="2007245" cy="191839"/>
          </a:xfrm>
          <a:prstGeom prst="roundRect">
            <a:avLst>
              <a:gd name="adj" fmla="val 22114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0487" y="1050503"/>
            <a:ext cx="2312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MARS HELICOPTER INGENUITY (2021)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96119" y="1330970"/>
            <a:ext cx="8151763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 Prime es el framework de software de vuelo desarrollado por JPL/NASA para misiones espaciales — usado en Mars Helicopter Ingenuity (2021).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1951806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experimental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19" y="2261518"/>
            <a:ext cx="392184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"¿Es F Prime más confiable que los frameworks propietarios anteriores bajo condiciones de fallo simuladas?"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6119" y="2755850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 experimental NASA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119" y="3065562"/>
            <a:ext cx="3921844" cy="164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Framework (F Prime open-source vs sistema propietario heredado)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VD: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Tiempo de recuperación ante fallo (segundos), tasa de reinicio exitoso (%)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Condiciones: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10,000 horas simuladas de operación en condiciones marcianas (temperatura, radiación)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Instrumentos: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Inyección de fallos controlada (fault injection testing)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0800" y="1965871"/>
            <a:ext cx="1904702" cy="953542"/>
          </a:xfrm>
          <a:prstGeom prst="roundRect">
            <a:avLst>
              <a:gd name="adj" fmla="val 55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1768" y="2096839"/>
            <a:ext cx="164276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 Prime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1768" y="2406551"/>
            <a:ext cx="164276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99.7% recuperación exitosa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7942" y="1965871"/>
            <a:ext cx="1904702" cy="953542"/>
          </a:xfrm>
          <a:prstGeom prst="roundRect">
            <a:avLst>
              <a:gd name="adj" fmla="val 556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8910" y="2096839"/>
            <a:ext cx="164276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Sistema Legado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78910" y="2406551"/>
            <a:ext cx="164276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94.2% recuperación exitosa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30800" y="3045916"/>
            <a:ext cx="437904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Decisión: adoptar F Prime para Ingenuity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0800" y="3363367"/>
            <a:ext cx="3921844" cy="1029295"/>
          </a:xfrm>
          <a:prstGeom prst="roundRect">
            <a:avLst>
              <a:gd name="adj" fmla="val 5152"/>
            </a:avLst>
          </a:prstGeom>
          <a:solidFill>
            <a:srgbClr val="B6FCB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006" y="3553569"/>
            <a:ext cx="157758" cy="1262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40970" y="3496121"/>
            <a:ext cx="338546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qué importa en IS: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NASA no lanza hardware sin validación experimental del software. Lo que aplican en misiones espaciales es el mismo método que aprendiste en este curso.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211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Cómo pasar de un problema IS a un experimento en 5 pasos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92001"/>
            <a:ext cx="860896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proceso (aplicable en Ecuador, en una empresa real):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14425"/>
            <a:ext cx="8151763" cy="611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422" y="132457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91195" y="1230585"/>
            <a:ext cx="754052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Identificar el problema práctico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91195" y="1433736"/>
            <a:ext cx="754052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"En mi empresa, los code reviews manuales toman 45 minutos promedio y detectan el 60% de bugs"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98960"/>
            <a:ext cx="8151763" cy="7155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422" y="2061195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91195" y="1915120"/>
            <a:ext cx="754052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Formular la pregunta experimental (GQM)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1195" y="2118271"/>
            <a:ext cx="7540526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Mejorar la detección de bugs / Question: ¿Las herramientas de análisis estático (SonarQube) detectan más bugs que la revisión manual? / Metric: defectos detectados por hora de revisión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87749"/>
            <a:ext cx="8151763" cy="7594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422" y="2871936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91195" y="2703909"/>
            <a:ext cx="754052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Definir hipótesis falsificable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91195" y="2907060"/>
            <a:ext cx="7540526" cy="323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H0: No hay diferencia en defectos detectados por hora entre SonarQube y revisión manual (α = 0.05)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H1: SonarQube detecta más defectos por hora que la revisión manual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420442"/>
            <a:ext cx="8151763" cy="611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422" y="3630588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91195" y="3536603"/>
            <a:ext cx="754052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Diseñar (tipo, sujetos, aleatorización, instrumentos)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91195" y="3739753"/>
            <a:ext cx="754052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Cuasi-experimento: 12 desarrolladores (2 equipos), 3 semanas, diseño crossover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4104977"/>
            <a:ext cx="8151763" cy="6113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422" y="431512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91195" y="4221138"/>
            <a:ext cx="754052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Pre-registrar en OSF antes de ejecutar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91195" y="4424288"/>
            <a:ext cx="754052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resultado es un paper potencial para ESEM, IST o MSR.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3074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Elige el método correcto para cada pregunta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207517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oro: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método lo determina la pregunta — no la preferencia del investigador ni lo que es más fácil de hacer.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553617"/>
            <a:ext cx="8151763" cy="3046809"/>
          </a:xfrm>
          <a:prstGeom prst="roundRect">
            <a:avLst>
              <a:gd name="adj" fmla="val 18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25687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95376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71043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446711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022378"/>
            <a:ext cx="8151763" cy="830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3859" y="1637854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 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83620" y="1637854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 más apropiado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26262" y="1637854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3859" y="2007543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¿TDD reduce defectos?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83620" y="2007543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6262" y="2007543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Manipulación de VI, comparación causal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859" y="2377232"/>
            <a:ext cx="25839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los equipos ágiles abandonan TDD?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83620" y="2377232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26262" y="2377232"/>
            <a:ext cx="25839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Fenómeno contextual, "por qué", sin control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3859" y="2952899"/>
            <a:ext cx="25839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tan extendido está el uso de CI/CD en Ecuador?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3620" y="2952899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26262" y="2952899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Prevalencia en población, no causalidad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3859" y="3528566"/>
            <a:ext cx="25839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¿Mejora Copilot la velocidad? (industria real)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620" y="3528566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Cuasi-experimento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6262" y="3528566"/>
            <a:ext cx="258395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siempre posible aleatorizar en empresas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3859" y="4104233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métricas predicen bugs?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83620" y="4104233"/>
            <a:ext cx="217683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MSR (Mining Software Repositories)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26262" y="4104233"/>
            <a:ext cx="304115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históricos, sin intervención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522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5 obstáculos más comunes — y cómo superarlos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87115"/>
            <a:ext cx="2649959" cy="1810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139" y="1220986"/>
            <a:ext cx="23250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Escasez de sujetos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87139" y="1468338"/>
            <a:ext cx="2325067" cy="76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consigo 30 desarrolladores"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Diseño within-subject: cada sujeto actúa como su propio control. Con 12 sujetos bien diseñado es publicable.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983" y="1087115"/>
            <a:ext cx="2649959" cy="18101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8004" y="1220986"/>
            <a:ext cx="23250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Validez externa débil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438004" y="1468338"/>
            <a:ext cx="2325067" cy="129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"Mis sujetos son estudiantes, no profesionales"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Reportar explícitamente la limitación. Estudiantes son válidos para fenómenos de aprendizaje (Carver, 2010). La replicación con profesionales es la siguiente investigación.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7848" y="1087115"/>
            <a:ext cx="2649959" cy="18101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8869" y="1220986"/>
            <a:ext cx="23250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Efecto Hawthorne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88869" y="1468338"/>
            <a:ext cx="2325067" cy="765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participantes se comportan diferente por saberse observados"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Período de familiarización + tareas realistas + análisis de sesgo post-hoc.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98143"/>
            <a:ext cx="2649959" cy="16337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7139" y="3132013"/>
            <a:ext cx="23250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Contaminación entre grupos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87139" y="3379366"/>
            <a:ext cx="2325067" cy="765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del grupo A le explicaron a los del grupo B"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Separación temporal o física. En diseños online: plataformas separadas.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6983" y="2998143"/>
            <a:ext cx="2649959" cy="16337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38004" y="3132013"/>
            <a:ext cx="23250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¿Dónde publico?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3438004" y="3379366"/>
            <a:ext cx="2325067" cy="1118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sé si mi experimento es suficientemente bueno"</a:t>
            </a:r>
            <a:endParaRPr lang="en-US" sz="9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Replicaciones son bienvenidas (ESEM tiene track de réplicas). Un experimento pequeño, bien reportado, es mejor que uno grande mal documentado.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748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Unidad 3 — Mapa completo de la experimentación IS</a:t>
            </a:r>
            <a:endParaRPr lang="en-US" sz="1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729555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297169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297169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297169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Ejecución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297169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297169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740944"/>
            <a:ext cx="8608963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ciclo se repite: el reporte genera nuevas preguntas → nuevo experimento.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496119" y="3891111"/>
            <a:ext cx="8151763" cy="861640"/>
          </a:xfrm>
          <a:prstGeom prst="roundRect">
            <a:avLst>
              <a:gd name="adj" fmla="val 388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0881" y="3895874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2" name="Text 9"/>
          <p:cNvSpPr/>
          <p:nvPr/>
        </p:nvSpPr>
        <p:spPr>
          <a:xfrm>
            <a:off x="580579" y="3975571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3.1.1 Introducción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0" y="3895874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0" y="3895874"/>
            <a:ext cx="9525" cy="284038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15" name="Text 12"/>
          <p:cNvSpPr/>
          <p:nvPr/>
        </p:nvSpPr>
        <p:spPr>
          <a:xfrm>
            <a:off x="4651697" y="3975571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3.2.1 Diseño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00881" y="4179912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7" name="Shape 14"/>
          <p:cNvSpPr/>
          <p:nvPr/>
        </p:nvSpPr>
        <p:spPr>
          <a:xfrm>
            <a:off x="500881" y="4179912"/>
            <a:ext cx="4071119" cy="9525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18" name="Text 15"/>
          <p:cNvSpPr/>
          <p:nvPr/>
        </p:nvSpPr>
        <p:spPr>
          <a:xfrm>
            <a:off x="580579" y="4259610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3.2.2 Ejecución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2000" y="4179912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4179912"/>
            <a:ext cx="9525" cy="284038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0" y="4179912"/>
            <a:ext cx="4071119" cy="9525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22" name="Text 19"/>
          <p:cNvSpPr/>
          <p:nvPr/>
        </p:nvSpPr>
        <p:spPr>
          <a:xfrm>
            <a:off x="4651697" y="4259610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3.2.3 Análisis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00881" y="4463951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4" name="Shape 21"/>
          <p:cNvSpPr/>
          <p:nvPr/>
        </p:nvSpPr>
        <p:spPr>
          <a:xfrm>
            <a:off x="500881" y="4463951"/>
            <a:ext cx="4071119" cy="9525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25" name="Text 22"/>
          <p:cNvSpPr/>
          <p:nvPr/>
        </p:nvSpPr>
        <p:spPr>
          <a:xfrm>
            <a:off x="580579" y="4543648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3.2.4 Reporte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572000" y="4463951"/>
            <a:ext cx="4071119" cy="2840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0" y="4463951"/>
            <a:ext cx="9525" cy="284038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0" y="4463951"/>
            <a:ext cx="4071119" cy="9525"/>
          </a:xfrm>
          <a:prstGeom prst="roundRect">
            <a:avLst>
              <a:gd name="adj" fmla="val 351628"/>
            </a:avLst>
          </a:prstGeom>
          <a:solidFill>
            <a:srgbClr val="C0C1D7"/>
          </a:solidFill>
          <a:ln/>
        </p:spPr>
      </p:sp>
      <p:sp>
        <p:nvSpPr>
          <p:cNvPr id="29" name="Text 26"/>
          <p:cNvSpPr/>
          <p:nvPr/>
        </p:nvSpPr>
        <p:spPr>
          <a:xfrm>
            <a:off x="4651697" y="4543648"/>
            <a:ext cx="3911724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3.3.1 Práctica </a:t>
            </a:r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571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 Final — Experimentación IS en tu contexto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34876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y ejecutar un mini-experimento IS sobre un problema real del contexto local ecuatoriano.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78161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del entregable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795239"/>
            <a:ext cx="3919165" cy="212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1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Protocolo pre-registrado (OSF):</a:t>
            </a:r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pregunta GQM, hipótesis, diseño, variables, plan de análisis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Ejecución documentada:</a:t>
            </a:r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instrumentos usados, datos recolectados, protocolo de anonimización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con JASP:</a:t>
            </a:r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descriptivos, prueba inferencial, tamaño del efecto, visualizaciones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Reporte IMRaD</a:t>
            </a:r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(4-6 páginas, formato IEEE): siguiendo el checklist de Clase 17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5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Presentación oral</a:t>
            </a:r>
            <a:pPr algn="l" marL="203200" indent="-203200">
              <a:lnSpc>
                <a:spcPct val="127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(10 minutos + 5 preguntas): defensa ante el curso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33479" y="1478161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Sugerencias de problemas reales IS en Ecuador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624" y="1816224"/>
            <a:ext cx="192658" cy="1926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50941" y="1809824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¿Pair programming mejora la calidad del código en equipos de startups quiteñas?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2440930"/>
            <a:ext cx="192658" cy="1926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50941" y="2434530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¿Las herramientas de análisis estático reducen tiempo de code review en empresas fintech?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1624" y="3065636"/>
            <a:ext cx="192658" cy="1926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0941" y="3059237"/>
            <a:ext cx="35017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 documentación generada por IA (Copilot) tiene menos errores que la manual?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96119" y="4089053"/>
            <a:ext cx="14288" cy="653728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4" name="Text 9"/>
          <p:cNvSpPr/>
          <p:nvPr/>
        </p:nvSpPr>
        <p:spPr>
          <a:xfrm>
            <a:off x="688777" y="4220021"/>
            <a:ext cx="79591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 experimentación no es el privilegio de la NASA o de MIT. Es el método que convierte una intuición de desarrollador en conocimiento que cambia la industria. Ahora tienes las herramientas. Úsalas."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2026-07-09T16:04:26Z</dcterms:created>
  <dcterms:modified xsi:type="dcterms:W3CDTF">2026-07-09T16:04:26Z</dcterms:modified>
</cp:coreProperties>
</file>