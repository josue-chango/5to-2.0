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Inter Black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1.png"/><Relationship Id="rId4" Type="http://schemas.openxmlformats.org/officeDocument/2006/relationships/image" Target="../media/image-3-2.svg"/><Relationship Id="rId5" Type="http://schemas.openxmlformats.org/officeDocument/2006/relationships/image" Target="../media/image-3-1.png"/><Relationship Id="rId6" Type="http://schemas.openxmlformats.org/officeDocument/2006/relationships/image" Target="../media/image-3-2.sv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1.png"/><Relationship Id="rId4" Type="http://schemas.openxmlformats.org/officeDocument/2006/relationships/image" Target="../media/image-8-2.svg"/><Relationship Id="rId5" Type="http://schemas.openxmlformats.org/officeDocument/2006/relationships/image" Target="../media/image-8-1.png"/><Relationship Id="rId6" Type="http://schemas.openxmlformats.org/officeDocument/2006/relationships/image" Target="../media/image-8-2.svg"/><Relationship Id="rId7" Type="http://schemas.openxmlformats.org/officeDocument/2006/relationships/image" Target="../media/image-8-1.png"/><Relationship Id="rId8" Type="http://schemas.openxmlformats.org/officeDocument/2006/relationships/image" Target="../media/image-8-2.svg"/><Relationship Id="rId9" Type="http://schemas.openxmlformats.org/officeDocument/2006/relationships/image" Target="../media/image-8-1.png"/><Relationship Id="rId10" Type="http://schemas.openxmlformats.org/officeDocument/2006/relationships/image" Target="../media/image-8-2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1.png"/><Relationship Id="rId6" Type="http://schemas.openxmlformats.org/officeDocument/2006/relationships/image" Target="../media/image-10-2.svg"/><Relationship Id="rId7" Type="http://schemas.openxmlformats.org/officeDocument/2006/relationships/image" Target="../media/image-10-1.png"/><Relationship Id="rId8" Type="http://schemas.openxmlformats.org/officeDocument/2006/relationships/image" Target="../media/image-10-2.svg"/><Relationship Id="rId9" Type="http://schemas.openxmlformats.org/officeDocument/2006/relationships/image" Target="../media/image-10-1.png"/><Relationship Id="rId10" Type="http://schemas.openxmlformats.org/officeDocument/2006/relationships/image" Target="../media/image-10-2.svg"/><Relationship Id="rId11" Type="http://schemas.openxmlformats.org/officeDocument/2006/relationships/image" Target="../media/image-10-1.png"/><Relationship Id="rId12" Type="http://schemas.openxmlformats.org/officeDocument/2006/relationships/image" Target="../media/image-10-2.svg"/><Relationship Id="rId13" Type="http://schemas.openxmlformats.org/officeDocument/2006/relationships/image" Target="../media/image-10-1.png"/><Relationship Id="rId14" Type="http://schemas.openxmlformats.org/officeDocument/2006/relationships/image" Target="../media/image-10-2.svg"/><Relationship Id="rId15" Type="http://schemas.openxmlformats.org/officeDocument/2006/relationships/image" Target="../media/image-10-1.png"/><Relationship Id="rId16" Type="http://schemas.openxmlformats.org/officeDocument/2006/relationships/image" Target="../media/image-10-2.svg"/><Relationship Id="rId17" Type="http://schemas.openxmlformats.org/officeDocument/2006/relationships/image" Target="../media/image-10-17.png"/><Relationship Id="rId18" Type="http://schemas.openxmlformats.org/officeDocument/2006/relationships/slideLayout" Target="../slideLayouts/slideLayout2.xml"/><Relationship Id="rId1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522735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Análisis y Reporte de Estudios de Caso 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621310"/>
            <a:ext cx="4722763" cy="999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Clase 16 · Unidad 3: Estudios de Caso en IS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Investigación en Ingeniería de Software · ESPE Sangolquí 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Ing. Ángel Marcelo Rea Guamán, Ph.D.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7183"/>
            <a:ext cx="4106242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Del Dato Crudo al Hallazgo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826071"/>
            <a:ext cx="2927226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 problema de los datos sin análisis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1137568"/>
            <a:ext cx="8608963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investigador termina su trabajo de campo con: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96119" y="1401142"/>
            <a:ext cx="8151763" cy="743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2720" indent="-17272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entrevistas transcritas (180 páginas)</a:t>
            </a:r>
            <a:endParaRPr lang="en-US" sz="850" dirty="0"/>
          </a:p>
          <a:p>
            <a:pPr algn="l" marL="172720" indent="-17272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semanas de notas de observación</a:t>
            </a:r>
            <a:endParaRPr lang="en-US" sz="850" dirty="0"/>
          </a:p>
          <a:p>
            <a:pPr algn="l" marL="172720" indent="-17272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200 tickets de Jira exportados</a:t>
            </a:r>
            <a:endParaRPr lang="en-US" sz="850" dirty="0"/>
          </a:p>
          <a:p>
            <a:pPr algn="l" marL="172720" indent="-17272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Historial de commits de 18 meses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96119" y="2246263"/>
            <a:ext cx="8151763" cy="425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750"/>
              </a:spcAft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¿Qué hace con todo eso?</a:t>
            </a:r>
            <a:endParaRPr lang="en-US" sz="8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 un proceso de análisis estructurado: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96119" y="2773412"/>
            <a:ext cx="8151763" cy="550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2720" indent="-17272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volumen paraliza</a:t>
            </a:r>
            <a:endParaRPr lang="en-US" sz="850" dirty="0"/>
          </a:p>
          <a:p>
            <a:pPr algn="l" marL="172720" indent="-17272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interpretaciones son anecdóticas ("me pareció que...")</a:t>
            </a:r>
            <a:endParaRPr lang="en-US" sz="850" dirty="0"/>
          </a:p>
          <a:p>
            <a:pPr algn="l" marL="172720" indent="-17272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hallazgos no son defendibles ante revisores académicos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96119" y="3424684"/>
            <a:ext cx="14288" cy="628352"/>
          </a:xfrm>
          <a:prstGeom prst="roundRect">
            <a:avLst>
              <a:gd name="adj" fmla="val 59998"/>
            </a:avLst>
          </a:prstGeom>
          <a:solidFill>
            <a:srgbClr val="4950BC"/>
          </a:solidFill>
          <a:ln/>
        </p:spPr>
      </p:sp>
      <p:sp>
        <p:nvSpPr>
          <p:cNvPr id="9" name="Text 7"/>
          <p:cNvSpPr/>
          <p:nvPr/>
        </p:nvSpPr>
        <p:spPr>
          <a:xfrm>
            <a:off x="665559" y="3525887"/>
            <a:ext cx="7982322" cy="425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750"/>
              </a:spcAft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"Muchos investigadores describen lo que encontraron, pero no explican cómo llegaron de los datos a esa conclusión."</a:t>
            </a:r>
            <a:endParaRPr lang="en-US" sz="8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Rico, ICSE 2024 · La brecha más peligrosa en estudios de caso IS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96119" y="4154239"/>
            <a:ext cx="8151763" cy="552078"/>
          </a:xfrm>
          <a:prstGeom prst="roundRect">
            <a:avLst>
              <a:gd name="adj" fmla="val 8594"/>
            </a:avLst>
          </a:prstGeom>
          <a:solidFill>
            <a:srgbClr val="DADBF1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079" y="4306044"/>
            <a:ext cx="141163" cy="112961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63203" y="4272409"/>
            <a:ext cx="7671718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Esta clase:</a:t>
            </a:r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el proceso sistemático de codificación → temas → hallazgos → reporte; la cadena de evidencia que hace todo eso auditable y defendible.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7211"/>
            <a:ext cx="462476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 Proceso de Análisis: De Datos a Conocimiento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719510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Runeson &amp; Höst (2009) — Estrategias de análisis en estudios de caso IS:</a:t>
            </a:r>
            <a:endParaRPr lang="en-US" sz="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844376"/>
            <a:ext cx="2693640" cy="5690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14586" y="924744"/>
            <a:ext cx="1711151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Estrategia 1 — Basada en proposiciones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614586" y="1056680"/>
            <a:ext cx="2494806" cy="276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analizan los datos contra las proposiciones definidas en el diseño. Cada proposición se confirma, refuta o matiza con evidencia específica.</a:t>
            </a:r>
            <a:endParaRPr lang="en-US" sz="5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Más estructurado. Recomendado para estudios explicativos.</a:t>
            </a:r>
            <a:endParaRPr lang="en-US" sz="5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25180" y="844376"/>
            <a:ext cx="2693640" cy="5690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343647" y="924744"/>
            <a:ext cx="154803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Estrategia 2 — Descripción del caso</a:t>
            </a:r>
            <a:endParaRPr lang="en-US" sz="650" dirty="0"/>
          </a:p>
        </p:txBody>
      </p:sp>
      <p:sp>
        <p:nvSpPr>
          <p:cNvPr id="9" name="Text 5"/>
          <p:cNvSpPr/>
          <p:nvPr/>
        </p:nvSpPr>
        <p:spPr>
          <a:xfrm>
            <a:off x="3343647" y="1056680"/>
            <a:ext cx="2494806" cy="191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organiza el análisis como narrativa del caso.</a:t>
            </a:r>
            <a:endParaRPr lang="en-US" sz="5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Útil para estudios descriptivos o cuando el fenómeno es nuevo.</a:t>
            </a:r>
            <a:endParaRPr lang="en-US" sz="5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54241" y="844376"/>
            <a:ext cx="2693640" cy="5690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72708" y="924744"/>
            <a:ext cx="1199331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Estrategia 3 — Análisis rival</a:t>
            </a:r>
            <a:endParaRPr lang="en-US" sz="650" dirty="0"/>
          </a:p>
        </p:txBody>
      </p:sp>
      <p:sp>
        <p:nvSpPr>
          <p:cNvPr id="12" name="Text 7"/>
          <p:cNvSpPr/>
          <p:nvPr/>
        </p:nvSpPr>
        <p:spPr>
          <a:xfrm>
            <a:off x="6072708" y="1056680"/>
            <a:ext cx="2494806" cy="276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buscan explicaciones alternativas que podrían explicar los datos igual de bien.</a:t>
            </a:r>
            <a:endParaRPr lang="en-US" sz="5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Esencial para fortalecer la validez interna.</a:t>
            </a:r>
            <a:endParaRPr lang="en-US" sz="550" dirty="0"/>
          </a:p>
        </p:txBody>
      </p:sp>
      <p:sp>
        <p:nvSpPr>
          <p:cNvPr id="13" name="Text 8"/>
          <p:cNvSpPr/>
          <p:nvPr/>
        </p:nvSpPr>
        <p:spPr>
          <a:xfrm>
            <a:off x="496119" y="1466552"/>
            <a:ext cx="2146325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Pasos generales del análisis cualitativo</a:t>
            </a:r>
            <a:endParaRPr lang="en-US" sz="6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641" y="1630412"/>
            <a:ext cx="7890644" cy="296093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002209" y="3872553"/>
            <a:ext cx="1190147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Validación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5502299" y="3757920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Interpretación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4010540" y="3872553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Agrupación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2518781" y="3872553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Codificación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994415" y="3872553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Preparación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496119" y="4631159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Este proceso garantiza que el análisis sea sistemático, trazable y defendible ante la comunidad académica.</a:t>
            </a:r>
            <a:endParaRPr lang="en-US" sz="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5064"/>
            <a:ext cx="7840712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Codificación Cualitativa: Open → Axial → Selectiva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96119" y="970657"/>
            <a:ext cx="8608963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 codificación es el corazón del análisis cualitativo (Strauss &amp; Corbin, 1990):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260500"/>
            <a:ext cx="2717229" cy="4784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15702" y="1839813"/>
            <a:ext cx="1503908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Codificación Abierta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15702" y="2087166"/>
            <a:ext cx="2478063" cy="1824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Leer los datos línea por línea. Asignar etiquetas descriptivas a cada segmento relevante. Sin jerarquía todavía — se captura todo lo potencialmente significativo.</a:t>
            </a:r>
            <a:endParaRPr lang="en-US" sz="90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90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Ejemplo:</a:t>
            </a:r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 una transcripción sobre adopción DevOps → códigos: "resistencia del equipo", "falta de capacitación", "presión del cliente", "herramientas inadecuadas"</a:t>
            </a:r>
            <a:endParaRPr lang="en-US" sz="9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348" y="1260500"/>
            <a:ext cx="2717229" cy="4784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332931" y="1839813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Codificación Axial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3332931" y="2087166"/>
            <a:ext cx="2478063" cy="129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Agrupar los códigos abiertos en categorías más amplias. Identificar relaciones entre categorías (causas, consecuencias, contextos).</a:t>
            </a:r>
            <a:endParaRPr lang="en-US" sz="90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90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Ejemplo:</a:t>
            </a:r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"resistencia del equipo" + "falta de capacitación" → categoría: "barreras organizacionales"</a:t>
            </a:r>
            <a:endParaRPr lang="en-US" sz="9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0578" y="1260500"/>
            <a:ext cx="2717229" cy="4784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50161" y="1839813"/>
            <a:ext cx="1637035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Codificación Selectiva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6050161" y="2087166"/>
            <a:ext cx="2478063" cy="129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Identificar la categoría central que integra todos los temas. Construir la narrativa analítica del caso.</a:t>
            </a:r>
            <a:endParaRPr lang="en-US" sz="90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90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Ejemplo:</a:t>
            </a:r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categoría central → "La adopción de DevOps fracasa cuando las barreras organizacionales superan a los habilitadores técnicos"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496119" y="4144342"/>
            <a:ext cx="8151763" cy="604093"/>
          </a:xfrm>
          <a:prstGeom prst="roundRect">
            <a:avLst>
              <a:gd name="adj" fmla="val 8316"/>
            </a:avLst>
          </a:prstGeom>
          <a:solidFill>
            <a:srgbClr val="B6D6FC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702" y="4308128"/>
            <a:ext cx="149498" cy="11958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84783" y="4275088"/>
            <a:ext cx="7643515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Confiabilidad entre codificadores:</a:t>
            </a:r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Si hay ≥2 investigadores, medir el acuerdo con </a:t>
            </a:r>
            <a:pPr algn="l" indent="0" marL="0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Cohen's Kappa (κ)</a:t>
            </a:r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κ ≥ 0.80 → excelente; κ 0.60–0.79 → sustancial; κ &lt; 0.60 → necesita revisión.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9472"/>
            <a:ext cx="5779889" cy="269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Análisis Temático: Una Alternativa Práctica para IS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496119" y="794593"/>
            <a:ext cx="8608963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 análisis temático (Braun &amp; Clarke, 2006) es el método más usado en IS cualitativa.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96119" y="1024086"/>
            <a:ext cx="172715" cy="107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496119" y="1161380"/>
            <a:ext cx="3970511" cy="9525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6" name="Text 4"/>
          <p:cNvSpPr/>
          <p:nvPr/>
        </p:nvSpPr>
        <p:spPr>
          <a:xfrm>
            <a:off x="496119" y="1223590"/>
            <a:ext cx="1079822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Familiarización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96119" y="1411114"/>
            <a:ext cx="3970511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Leer y releer los datos, tomar notas iniciales.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496119" y="1639639"/>
            <a:ext cx="172715" cy="107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496119" y="1776933"/>
            <a:ext cx="3970511" cy="9525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0" name="Text 8"/>
          <p:cNvSpPr/>
          <p:nvPr/>
        </p:nvSpPr>
        <p:spPr>
          <a:xfrm>
            <a:off x="496119" y="1839144"/>
            <a:ext cx="1333574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Generar códigos iniciales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96119" y="2026667"/>
            <a:ext cx="3970511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Etiquetar datos relevantes sistemáticamente.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496119" y="2255193"/>
            <a:ext cx="172715" cy="107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496119" y="2392487"/>
            <a:ext cx="3970511" cy="9525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4" name="Text 12"/>
          <p:cNvSpPr/>
          <p:nvPr/>
        </p:nvSpPr>
        <p:spPr>
          <a:xfrm>
            <a:off x="496119" y="2454697"/>
            <a:ext cx="1079822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Buscar temas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96119" y="2642220"/>
            <a:ext cx="3970511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Agrupar códigos en temas candidatos.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496119" y="2870746"/>
            <a:ext cx="172715" cy="107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496119" y="3008040"/>
            <a:ext cx="3970511" cy="9525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8" name="Text 16"/>
          <p:cNvSpPr/>
          <p:nvPr/>
        </p:nvSpPr>
        <p:spPr>
          <a:xfrm>
            <a:off x="496119" y="3070250"/>
            <a:ext cx="1079822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Revisar temas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96119" y="3257773"/>
            <a:ext cx="3970511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Validar que los temas capturan los datos y responden las preguntas.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496119" y="3486299"/>
            <a:ext cx="172715" cy="107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05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496119" y="3623593"/>
            <a:ext cx="3970511" cy="9525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2" name="Text 20"/>
          <p:cNvSpPr/>
          <p:nvPr/>
        </p:nvSpPr>
        <p:spPr>
          <a:xfrm>
            <a:off x="496119" y="3685803"/>
            <a:ext cx="1270471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Definir y nombrar temas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96119" y="3873326"/>
            <a:ext cx="3970511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Articular la esencia de cada tema con un nombre claro.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496119" y="4101852"/>
            <a:ext cx="172715" cy="107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06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496119" y="4239146"/>
            <a:ext cx="3970511" cy="9525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6" name="Text 24"/>
          <p:cNvSpPr/>
          <p:nvPr/>
        </p:nvSpPr>
        <p:spPr>
          <a:xfrm>
            <a:off x="496119" y="4301356"/>
            <a:ext cx="1079822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Producir el reporte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96119" y="4488879"/>
            <a:ext cx="3970511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Escribir el análisis integrando citas de los datos como evidencia.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4682133" y="1024086"/>
            <a:ext cx="3970511" cy="360164"/>
          </a:xfrm>
          <a:prstGeom prst="roundRect">
            <a:avLst>
              <a:gd name="adj" fmla="val 10074"/>
            </a:avLst>
          </a:prstGeom>
          <a:solidFill>
            <a:srgbClr val="DADBF1"/>
          </a:solidFill>
          <a:ln/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8453" y="1142181"/>
            <a:ext cx="107975" cy="8632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4962748" y="1092994"/>
            <a:ext cx="3603575" cy="222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Regla de oro:</a:t>
            </a:r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cada tema debe tener al menos 3 instancias de evidencia de fuentes diferentes.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4682133" y="1443410"/>
            <a:ext cx="2739628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Tendencia 2025 — IA en análisis cualitativo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4682133" y="1630933"/>
            <a:ext cx="3970511" cy="492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spcAft>
                <a:spcPts val="350"/>
              </a:spcAft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LLMs como Claude o GPT pueden asistir en la codificación inicial (identificar patrones en volúmenes grandes), pero la interpretación, la selección de temas y el juicio analítico requieren el investigador humano (arxiv:2510.18456, 2025).</a:t>
            </a:r>
            <a:endParaRPr lang="en-US" sz="65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audit trail debe registrar cada interacción con la IA como parte del proceso.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9054"/>
            <a:ext cx="5721921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 Cadena de Evidencia (Audit Trail)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96119" y="1035100"/>
            <a:ext cx="2829520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¿Qué es la cadena de evidencia?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96119" y="1322859"/>
            <a:ext cx="3929955" cy="529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registro sistemático que permite a cualquier revisor trazar el camino completo: desde los datos originales → hasta los códigos → hasta los temas → hasta los hallazgos → hasta las conclusiones.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96119" y="1965424"/>
            <a:ext cx="14288" cy="977726"/>
          </a:xfrm>
          <a:prstGeom prst="roundRect">
            <a:avLst>
              <a:gd name="adj" fmla="val 59998"/>
            </a:avLst>
          </a:prstGeom>
          <a:solidFill>
            <a:srgbClr val="4950BC"/>
          </a:solidFill>
          <a:ln/>
        </p:spPr>
      </p:sp>
      <p:sp>
        <p:nvSpPr>
          <p:cNvPr id="6" name="Text 4"/>
          <p:cNvSpPr/>
          <p:nvPr/>
        </p:nvSpPr>
        <p:spPr>
          <a:xfrm>
            <a:off x="675531" y="2056209"/>
            <a:ext cx="3750543" cy="796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spcAft>
                <a:spcPts val="700"/>
              </a:spcAft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"La cadena de evidencia aumenta la confiabilidad del estudio de caso: un revisor externo debe poder seguir el análisis paso a paso."</a:t>
            </a:r>
            <a:endParaRPr lang="en-US" sz="90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Yin, 2014, p. 243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96119" y="3056706"/>
            <a:ext cx="19524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Herramientas en IS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96119" y="3344466"/>
            <a:ext cx="3929955" cy="775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ct val="123000"/>
              </a:lnSpc>
              <a:buSzPct val="100000"/>
              <a:buChar char="•"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NVivo o Atlas.ti</a:t>
            </a:r>
            <a:pPr algn="l" marL="182880" indent="-182880">
              <a:lnSpc>
                <a:spcPct val="123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auditoría automática de codificación</a:t>
            </a:r>
            <a:endParaRPr lang="en-US" sz="900" dirty="0"/>
          </a:p>
          <a:p>
            <a:pPr algn="l" marL="182880" indent="-182880">
              <a:lnSpc>
                <a:spcPct val="123000"/>
              </a:lnSpc>
              <a:buSzPct val="100000"/>
              <a:buChar char="•"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Git + markdown</a:t>
            </a:r>
            <a:pPr algn="l" marL="182880" indent="-182880">
              <a:lnSpc>
                <a:spcPct val="123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versionado del proceso analítico</a:t>
            </a:r>
            <a:endParaRPr lang="en-US" sz="900" dirty="0"/>
          </a:p>
          <a:p>
            <a:pPr algn="l" marL="182880" indent="-182880">
              <a:lnSpc>
                <a:spcPct val="123000"/>
              </a:lnSpc>
              <a:buSzPct val="100000"/>
              <a:buChar char="•"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Simple:</a:t>
            </a:r>
            <a:pPr algn="l" marL="182880" indent="-182880">
              <a:lnSpc>
                <a:spcPct val="123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carpetas organizadas + log de decisiones en documento compartido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22688" y="1035100"/>
            <a:ext cx="2790379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Elementos de un buen audit trail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22688" y="1335435"/>
            <a:ext cx="3929955" cy="3285530"/>
          </a:xfrm>
          <a:prstGeom prst="roundRect">
            <a:avLst>
              <a:gd name="adj" fmla="val 152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7034" y="1405458"/>
            <a:ext cx="2178248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Elemento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07250" y="1405458"/>
            <a:ext cx="2178248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Contenido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47034" y="1717104"/>
            <a:ext cx="2178248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de datos del caso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07250" y="1717104"/>
            <a:ext cx="1721048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Transcripciones originales, notas de campo, documentos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7034" y="2205112"/>
            <a:ext cx="2178248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Registro de codificación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07250" y="2205112"/>
            <a:ext cx="1721048" cy="529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 codificó, cuándo, con qué herramienta, versión de los códigos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47034" y="2869481"/>
            <a:ext cx="2178248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Bitácora analítica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07250" y="2869481"/>
            <a:ext cx="1721048" cy="529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Decisiones tomadas durante el análisis (por qué se agruparon X y Y)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47034" y="3533849"/>
            <a:ext cx="2178248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Registro de member checking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07250" y="3533849"/>
            <a:ext cx="1721048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presentó, quién respondió, qué cambió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47034" y="4021857"/>
            <a:ext cx="2178248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Registro de análisis rival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07250" y="4021857"/>
            <a:ext cx="1721048" cy="529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explicaciones alternativas se consideraron y por qué se descartaron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5173"/>
            <a:ext cx="5295454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Análisis Within-Case y Cross-Case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1013073"/>
            <a:ext cx="3669506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Within-case analysis (análisis dentro del caso)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1279550"/>
            <a:ext cx="3769519" cy="71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2720" indent="-17272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analiza un solo caso en profundidad</a:t>
            </a:r>
            <a:endParaRPr lang="en-US" sz="850" dirty="0"/>
          </a:p>
          <a:p>
            <a:pPr algn="l" marL="172720" indent="-17272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Narrativa densa que responde las preguntas de investigación para ese caso específico</a:t>
            </a:r>
            <a:endParaRPr lang="en-US" sz="850" dirty="0"/>
          </a:p>
          <a:p>
            <a:pPr algn="l" marL="172720" indent="-17272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Resultado: un "retrato" completo del fenómeno en ese contexto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96119" y="2081957"/>
            <a:ext cx="3366492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Cross-case analysis (análisis entre casos)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96119" y="2348433"/>
            <a:ext cx="422671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Aplica cuando el diseño es de casos múltiples (Yin, 2014).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96119" y="2612008"/>
            <a:ext cx="3769519" cy="1995041"/>
          </a:xfrm>
          <a:prstGeom prst="roundRect">
            <a:avLst>
              <a:gd name="adj" fmla="val 2378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4437" y="2675483"/>
            <a:ext cx="1481882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869802" y="2675483"/>
            <a:ext cx="147950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Qué busca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122786" y="2675483"/>
            <a:ext cx="1481882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Ejemplo IS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14437" y="2960043"/>
            <a:ext cx="1481882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Replicación literal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869802" y="2960043"/>
            <a:ext cx="1022300" cy="649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mismos hallazgos en contextos similares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122786" y="2960043"/>
            <a:ext cx="1024682" cy="487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DevOps adoptado similarmente en 3 empresas fintech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14437" y="3731716"/>
            <a:ext cx="1024682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Replicación teórica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869802" y="3731716"/>
            <a:ext cx="1022300" cy="811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Hallazgos opuestos en contextos predichos como diferentes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122786" y="3731716"/>
            <a:ext cx="1024682" cy="649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DevOps exitoso en startup vs. fracaso en empresa tradicional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46029" y="1328142"/>
            <a:ext cx="18692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Proceso cross-case</a:t>
            </a:r>
            <a:endParaRPr lang="en-US" sz="11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46029" y="1605855"/>
            <a:ext cx="4106614" cy="187947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690491" y="2964754"/>
            <a:ext cx="770991" cy="297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Interpretar resultados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718830" y="2964754"/>
            <a:ext cx="770992" cy="297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Construir tabla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752450" y="2964754"/>
            <a:ext cx="770991" cy="297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Comparar casos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764947" y="2964754"/>
            <a:ext cx="770992" cy="297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Completar análisis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546029" y="3586535"/>
            <a:ext cx="4106614" cy="705445"/>
          </a:xfrm>
          <a:prstGeom prst="roundRect">
            <a:avLst>
              <a:gd name="adj" fmla="val 6726"/>
            </a:avLst>
          </a:prstGeom>
          <a:solidFill>
            <a:srgbClr val="FCF2B5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8990" y="3747864"/>
            <a:ext cx="141163" cy="112961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4913114" y="3695700"/>
            <a:ext cx="3626569" cy="487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Advertencia:</a:t>
            </a:r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 mezclar los datos de los casos antes de analizarlos individualmente — se pierde la riqueza contextual de cada uno.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68213"/>
            <a:ext cx="5740301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Estructura del Reporte de Estudio de Caso IS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496119" y="906661"/>
            <a:ext cx="8608963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Dos formatos principales (Runeson &amp; Höst, 2009):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1180579"/>
            <a:ext cx="3608636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Formato IMRaD adaptado (para journals académicos)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408212"/>
            <a:ext cx="3957042" cy="58474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9841" y="1609204"/>
            <a:ext cx="146149" cy="182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967234" y="1519907"/>
            <a:ext cx="121830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Introducción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967234" y="1739131"/>
            <a:ext cx="3374231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Contexto, problema, objetivo, preguntas de investigación</a:t>
            </a:r>
            <a:endParaRPr lang="en-US" sz="7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059930"/>
            <a:ext cx="3957042" cy="58474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9841" y="2260922"/>
            <a:ext cx="146149" cy="182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967234" y="2171626"/>
            <a:ext cx="121830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Método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967234" y="2390849"/>
            <a:ext cx="3374231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Diseño del caso, selección, fuentes, procedimientos de análisis</a:t>
            </a:r>
            <a:endParaRPr lang="en-US" sz="7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711648"/>
            <a:ext cx="3957042" cy="58474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9841" y="2912641"/>
            <a:ext cx="146149" cy="182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967234" y="2823344"/>
            <a:ext cx="121830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Resultados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967234" y="3042568"/>
            <a:ext cx="3374231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Hallazgos organizados por tema o por caso</a:t>
            </a:r>
            <a:endParaRPr lang="en-US" sz="7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3363367"/>
            <a:ext cx="3957042" cy="58474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29841" y="3564359"/>
            <a:ext cx="146149" cy="182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967234" y="3475062"/>
            <a:ext cx="121830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Discusión</a:t>
            </a:r>
            <a:endParaRPr lang="en-US" sz="950" dirty="0"/>
          </a:p>
        </p:txBody>
      </p:sp>
      <p:sp>
        <p:nvSpPr>
          <p:cNvPr id="20" name="Text 14"/>
          <p:cNvSpPr/>
          <p:nvPr/>
        </p:nvSpPr>
        <p:spPr>
          <a:xfrm>
            <a:off x="967234" y="3694286"/>
            <a:ext cx="3374231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Interpretación, comparación con literatura, amenazas a la validez</a:t>
            </a:r>
            <a:endParaRPr lang="en-US" sz="75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6119" y="4015085"/>
            <a:ext cx="3957042" cy="58474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29841" y="4216078"/>
            <a:ext cx="146149" cy="182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1150" dirty="0"/>
          </a:p>
        </p:txBody>
      </p:sp>
      <p:sp>
        <p:nvSpPr>
          <p:cNvPr id="23" name="Text 16"/>
          <p:cNvSpPr/>
          <p:nvPr/>
        </p:nvSpPr>
        <p:spPr>
          <a:xfrm>
            <a:off x="967234" y="4126781"/>
            <a:ext cx="121830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Conclusiones</a:t>
            </a:r>
            <a:endParaRPr lang="en-US" sz="950" dirty="0"/>
          </a:p>
        </p:txBody>
      </p:sp>
      <p:sp>
        <p:nvSpPr>
          <p:cNvPr id="24" name="Text 17"/>
          <p:cNvSpPr/>
          <p:nvPr/>
        </p:nvSpPr>
        <p:spPr>
          <a:xfrm>
            <a:off x="967234" y="4346004"/>
            <a:ext cx="3374231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Respuesta a las preguntas de investigación, contribución, trabajo futuro</a:t>
            </a:r>
            <a:endParaRPr lang="en-US" sz="750" dirty="0"/>
          </a:p>
        </p:txBody>
      </p:sp>
      <p:sp>
        <p:nvSpPr>
          <p:cNvPr id="25" name="Text 18"/>
          <p:cNvSpPr/>
          <p:nvPr/>
        </p:nvSpPr>
        <p:spPr>
          <a:xfrm>
            <a:off x="4695602" y="1180579"/>
            <a:ext cx="3957042" cy="304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Formato narrativo (para reportes industriales o casos exploratorios)</a:t>
            </a:r>
            <a:endParaRPr lang="en-US" sz="950" dirty="0"/>
          </a:p>
        </p:txBody>
      </p:sp>
      <p:sp>
        <p:nvSpPr>
          <p:cNvPr id="26" name="Text 19"/>
          <p:cNvSpPr/>
          <p:nvPr/>
        </p:nvSpPr>
        <p:spPr>
          <a:xfrm>
            <a:off x="4695602" y="1552054"/>
            <a:ext cx="3957042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Historia del caso: contexto → problema → proceso → hallazgos → lecciones. Más accesible para audiencia práctica (empresas, equipos). Requiere igual rigor metodológico — solo cambia la presentación.</a:t>
            </a:r>
            <a:endParaRPr lang="en-US" sz="750" dirty="0"/>
          </a:p>
        </p:txBody>
      </p:sp>
      <p:sp>
        <p:nvSpPr>
          <p:cNvPr id="27" name="Text 20"/>
          <p:cNvSpPr/>
          <p:nvPr/>
        </p:nvSpPr>
        <p:spPr>
          <a:xfrm>
            <a:off x="4695602" y="2013719"/>
            <a:ext cx="3274293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Reglas esenciales del reporte (Rico, ICSE 2024)</a:t>
            </a:r>
            <a:endParaRPr lang="en-US" sz="950" dirty="0"/>
          </a:p>
        </p:txBody>
      </p:sp>
      <p:sp>
        <p:nvSpPr>
          <p:cNvPr id="28" name="Text 21"/>
          <p:cNvSpPr/>
          <p:nvPr/>
        </p:nvSpPr>
        <p:spPr>
          <a:xfrm>
            <a:off x="4695602" y="2232943"/>
            <a:ext cx="3957042" cy="8831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ct val="113000"/>
              </a:lnSpc>
              <a:buSzPct val="100000"/>
              <a:buFont typeface="+mj-lt"/>
              <a:buAutoNum type="arabicPeriod" startAt="1"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Describir el contexto del caso con suficiente detalle → el lector debe poder juzgar la transferibilidad</a:t>
            </a:r>
            <a:endParaRPr lang="en-US" sz="750" dirty="0"/>
          </a:p>
          <a:p>
            <a:pPr algn="l" marL="152400" indent="-152400">
              <a:lnSpc>
                <a:spcPct val="113000"/>
              </a:lnSpc>
              <a:buSzPct val="100000"/>
              <a:buFont typeface="+mj-lt"/>
              <a:buAutoNum type="arabicPeriod" startAt="2"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Nombrar explícitamente el tipo de estudio (exploratorio/descriptivo/explicativo)</a:t>
            </a:r>
            <a:endParaRPr lang="en-US" sz="750" dirty="0"/>
          </a:p>
          <a:p>
            <a:pPr algn="l" marL="152400" indent="-152400">
              <a:lnSpc>
                <a:spcPct val="113000"/>
              </a:lnSpc>
              <a:buSzPct val="100000"/>
              <a:buFont typeface="+mj-lt"/>
              <a:buAutoNum type="arabicPeriod" startAt="3"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Incluir citas directas de los datos como evidencia visible</a:t>
            </a:r>
            <a:endParaRPr lang="en-US" sz="750" dirty="0"/>
          </a:p>
          <a:p>
            <a:pPr algn="l" marL="152400" indent="-152400">
              <a:lnSpc>
                <a:spcPct val="113000"/>
              </a:lnSpc>
              <a:buSzPct val="100000"/>
              <a:buFont typeface="+mj-lt"/>
              <a:buAutoNum type="arabicPeriod" startAt="4"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Discutir la generalización: ¿a qué otros contextos podrían aplicar los hallazgos?</a:t>
            </a:r>
            <a:endParaRPr lang="en-US" sz="750" dirty="0"/>
          </a:p>
          <a:p>
            <a:pPr algn="l" marL="152400" indent="-152400">
              <a:lnSpc>
                <a:spcPct val="113000"/>
              </a:lnSpc>
              <a:buSzPct val="100000"/>
              <a:buFont typeface="+mj-lt"/>
              <a:buAutoNum type="arabicPeriod" startAt="5"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Dedicar una sección completa a las amenazas a la validez y sus mitigaciones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1481"/>
            <a:ext cx="6110511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NASA: Del Dato a la Publicación Abierta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96119" y="982787"/>
            <a:ext cx="8608963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NASA M5 — El ciclo de vida completo de los resultados científicos: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96119" y="1263774"/>
            <a:ext cx="2652415" cy="1687637"/>
          </a:xfrm>
          <a:prstGeom prst="roundRect">
            <a:avLst>
              <a:gd name="adj" fmla="val 292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8232" y="1385888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Fase 1 — Análisis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18232" y="1627584"/>
            <a:ext cx="2408188" cy="1201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Datos de GeneLab procesados con pipelines reproducibles (código abierto en GitHub). Análisis estadístico con herramientas abiertas: R, Python, Jupyter Notebooks. Cada decisión analítica documentada en notebooks ejecutables = audit trail científico.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45718" y="1263774"/>
            <a:ext cx="2652489" cy="1687637"/>
          </a:xfrm>
          <a:prstGeom prst="roundRect">
            <a:avLst>
              <a:gd name="adj" fmla="val 292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67832" y="1385888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Fase 2 — Pre-print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367832" y="1627584"/>
            <a:ext cx="2408262" cy="8583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Resultados compartidos antes de la revisión por pares (arXiv / bioRxiv). La comunidad puede comentar y señalar problemas. Acelera la diseminación sin esperar 12–18 meses de revisión.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995392" y="1263774"/>
            <a:ext cx="2652415" cy="1687637"/>
          </a:xfrm>
          <a:prstGeom prst="roundRect">
            <a:avLst>
              <a:gd name="adj" fmla="val 292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17506" y="1385888"/>
            <a:ext cx="2408188" cy="366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Fase 3 — Peer review + publicación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117506" y="1811015"/>
            <a:ext cx="2408188" cy="686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Paper revisado y publicado con DOI permanente. Datos y código asociados depositados en repositorios abiertos (OSDR, Zenodo).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6119" y="3097188"/>
            <a:ext cx="1981423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Caso JWST CO₂ (M5)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96119" y="3426396"/>
            <a:ext cx="8151763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Análisis espectroscópico → paper en Nature → preprint simultáneo → dataset abierto → hilo de Twitter con resumen → blog para divulgación. El mismo hallazgo, comunicado en 4 formatos para 4 audiencias diferentes.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6119" y="3879056"/>
            <a:ext cx="14288" cy="842963"/>
          </a:xfrm>
          <a:prstGeom prst="roundRect">
            <a:avLst>
              <a:gd name="adj" fmla="val 59998"/>
            </a:avLst>
          </a:prstGeom>
          <a:solidFill>
            <a:srgbClr val="4950BC"/>
          </a:solidFill>
          <a:ln/>
        </p:spPr>
      </p:sp>
      <p:sp>
        <p:nvSpPr>
          <p:cNvPr id="16" name="Text 14"/>
          <p:cNvSpPr/>
          <p:nvPr/>
        </p:nvSpPr>
        <p:spPr>
          <a:xfrm>
            <a:off x="672182" y="3988371"/>
            <a:ext cx="7975699" cy="624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spcAft>
                <a:spcPts val="850"/>
              </a:spcAft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"Un buen reporte de estudio de caso, como una publicación NASA, debe ser auditable, reproducible y comunicado a la audiencia correcta en el formato correcto."</a:t>
            </a:r>
            <a:endParaRPr lang="en-US" sz="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Principio transferible a IS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3771"/>
            <a:ext cx="3004542" cy="318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Cierre + INVB13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96119" y="905173"/>
            <a:ext cx="173087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Resumen de la clase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4293" y="1151855"/>
            <a:ext cx="152772" cy="1527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7187" y="1146795"/>
            <a:ext cx="3620542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Análisis cualitativo: 3 estrategias (proposiciones, descripción, análisis rival)</a:t>
            </a:r>
            <a:endParaRPr lang="en-US" sz="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4293" y="1608981"/>
            <a:ext cx="152772" cy="1527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7187" y="1603921"/>
            <a:ext cx="3620542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Codificación: open → axial → selectiva (Strauss &amp; Corbin); análisis temático (Braun &amp; Clarke)</a:t>
            </a:r>
            <a:endParaRPr lang="en-US" sz="8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4293" y="2066106"/>
            <a:ext cx="152772" cy="15277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27187" y="2061046"/>
            <a:ext cx="3620542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Cohen's Kappa para confiabilidad entre codificadores (κ ≥ 0.80 excelente)</a:t>
            </a:r>
            <a:endParaRPr lang="en-US" sz="8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4293" y="2523232"/>
            <a:ext cx="152772" cy="15277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27187" y="2518172"/>
            <a:ext cx="3620542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Cadena de evidencia: el audit trail que hace el análisis defendible y auditable</a:t>
            </a:r>
            <a:endParaRPr lang="en-US" sz="8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4293" y="2980358"/>
            <a:ext cx="152772" cy="15277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827187" y="2975297"/>
            <a:ext cx="3620542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Within-case vs. cross-case: análisis por separado antes de comparar</a:t>
            </a:r>
            <a:endParaRPr lang="en-US" sz="8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34293" y="3437483"/>
            <a:ext cx="152772" cy="152772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827187" y="3432423"/>
            <a:ext cx="3620542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Reporte: IMRaD adaptado o narrativo — mismo rigor, diferente presentación</a:t>
            </a:r>
            <a:endParaRPr lang="en-US" sz="80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34293" y="3894609"/>
            <a:ext cx="152772" cy="152772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827187" y="3889549"/>
            <a:ext cx="3620542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Rico (2024): 5 reglas para reportes de calidad que no cometan los errores más frecuentes</a:t>
            </a:r>
            <a:endParaRPr lang="en-US" sz="800" dirty="0"/>
          </a:p>
        </p:txBody>
      </p:sp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34293" y="4351734"/>
            <a:ext cx="152772" cy="152772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827187" y="4346674"/>
            <a:ext cx="3620542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NASA: pipelines reproducibles + pre-prints + DOIs = modelo de transparencia analítica</a:t>
            </a:r>
            <a:endParaRPr lang="en-US" sz="800" dirty="0"/>
          </a:p>
        </p:txBody>
      </p:sp>
      <p:sp>
        <p:nvSpPr>
          <p:cNvPr id="20" name="Text 10"/>
          <p:cNvSpPr/>
          <p:nvPr/>
        </p:nvSpPr>
        <p:spPr>
          <a:xfrm>
            <a:off x="4701034" y="905173"/>
            <a:ext cx="2914576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INVB13 — Investigación Bibliográfica 13</a:t>
            </a:r>
            <a:endParaRPr lang="en-US" sz="1000" dirty="0"/>
          </a:p>
        </p:txBody>
      </p:sp>
      <p:sp>
        <p:nvSpPr>
          <p:cNvPr id="21" name="Text 11"/>
          <p:cNvSpPr/>
          <p:nvPr/>
        </p:nvSpPr>
        <p:spPr>
          <a:xfrm>
            <a:off x="4701034" y="1137642"/>
            <a:ext cx="3951610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Aplica el proceso de análisis a tu estudio de caso propuesto. Trabaja con datos simulados:</a:t>
            </a:r>
            <a:endParaRPr lang="en-US" sz="800" dirty="0"/>
          </a:p>
        </p:txBody>
      </p:sp>
      <p:sp>
        <p:nvSpPr>
          <p:cNvPr id="22" name="Text 12"/>
          <p:cNvSpPr/>
          <p:nvPr/>
        </p:nvSpPr>
        <p:spPr>
          <a:xfrm>
            <a:off x="4701034" y="1483593"/>
            <a:ext cx="3951610" cy="1222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2560" indent="-16256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Inventa 3 fragmentos</a:t>
            </a:r>
            <a:pPr algn="l" marL="162560" indent="-16256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una entrevista hipotética con un participante de tu caso (4–6 líneas cada uno)</a:t>
            </a:r>
            <a:endParaRPr lang="en-US" sz="800" dirty="0"/>
          </a:p>
          <a:p>
            <a:pPr algn="l" marL="162560" indent="-162560">
              <a:lnSpc>
                <a:spcPct val="115000"/>
              </a:lnSpc>
              <a:buSzPct val="100000"/>
              <a:buFont typeface="+mj-lt"/>
              <a:buAutoNum type="arabicPeriod" startAt="2"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Aplica codificación abierta:</a:t>
            </a:r>
            <a:pPr algn="l" marL="162560" indent="-162560">
              <a:lnSpc>
                <a:spcPct val="115000"/>
              </a:lnSpc>
              <a:buSzPct val="100000"/>
              <a:buFont typeface="+mj-lt"/>
              <a:buAutoNum type="arabicPeriod" startAt="2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asigna al menos 2 códigos por fragmento con justificación</a:t>
            </a:r>
            <a:endParaRPr lang="en-US" sz="800" dirty="0"/>
          </a:p>
          <a:p>
            <a:pPr algn="l" marL="162560" indent="-162560">
              <a:lnSpc>
                <a:spcPct val="115000"/>
              </a:lnSpc>
              <a:buSzPct val="100000"/>
              <a:buFont typeface="+mj-lt"/>
              <a:buAutoNum type="arabicPeriod" startAt="3"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Agrupación axial:</a:t>
            </a:r>
            <a:pPr algn="l" marL="162560" indent="-162560">
              <a:lnSpc>
                <a:spcPct val="115000"/>
              </a:lnSpc>
              <a:buSzPct val="100000"/>
              <a:buFont typeface="+mj-lt"/>
              <a:buAutoNum type="arabicPeriod" startAt="3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organiza tus códigos en 2 categorías más amplias</a:t>
            </a:r>
            <a:endParaRPr lang="en-US" sz="800" dirty="0"/>
          </a:p>
          <a:p>
            <a:pPr algn="l" marL="162560" indent="-162560">
              <a:lnSpc>
                <a:spcPct val="115000"/>
              </a:lnSpc>
              <a:buSzPct val="100000"/>
              <a:buFont typeface="+mj-lt"/>
              <a:buAutoNum type="arabicPeriod" startAt="4"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Tema central tentativo:</a:t>
            </a:r>
            <a:pPr algn="l" marL="162560" indent="-162560">
              <a:lnSpc>
                <a:spcPct val="115000"/>
              </a:lnSpc>
              <a:buSzPct val="100000"/>
              <a:buFont typeface="+mj-lt"/>
              <a:buAutoNum type="arabicPeriod" startAt="4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propón un tema central que integre tus categorías</a:t>
            </a:r>
            <a:endParaRPr lang="en-US" sz="800" dirty="0"/>
          </a:p>
          <a:p>
            <a:pPr algn="l" marL="162560" indent="-162560">
              <a:lnSpc>
                <a:spcPct val="115000"/>
              </a:lnSpc>
              <a:buSzPct val="100000"/>
              <a:buFont typeface="+mj-lt"/>
              <a:buAutoNum type="arabicPeriod" startAt="5"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Reflexión:</a:t>
            </a:r>
            <a:pPr algn="l" marL="162560" indent="-162560">
              <a:lnSpc>
                <a:spcPct val="115000"/>
              </a:lnSpc>
              <a:buSzPct val="100000"/>
              <a:buFont typeface="+mj-lt"/>
              <a:buAutoNum type="arabicPeriod" startAt="5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¿qué segunda fuente de evidencia usarías para triangular estos hallazgos?</a:t>
            </a:r>
            <a:endParaRPr lang="en-US" sz="800" dirty="0"/>
          </a:p>
        </p:txBody>
      </p:sp>
      <p:sp>
        <p:nvSpPr>
          <p:cNvPr id="23" name="Shape 13"/>
          <p:cNvSpPr/>
          <p:nvPr/>
        </p:nvSpPr>
        <p:spPr>
          <a:xfrm>
            <a:off x="4701034" y="2788741"/>
            <a:ext cx="3951610" cy="322659"/>
          </a:xfrm>
          <a:prstGeom prst="roundRect">
            <a:avLst>
              <a:gd name="adj" fmla="val 13264"/>
            </a:avLst>
          </a:prstGeom>
          <a:solidFill>
            <a:srgbClr val="DADBF1"/>
          </a:solidFill>
          <a:ln/>
        </p:spPr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802907" y="2931691"/>
            <a:ext cx="127322" cy="101873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5032102" y="2880047"/>
            <a:ext cx="3975869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Formato:</a:t>
            </a:r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1–2 páginas, APA 7ª · Entrega: próxima clase</a:t>
            </a:r>
            <a:endParaRPr lang="en-US" sz="800" dirty="0"/>
          </a:p>
        </p:txBody>
      </p:sp>
      <p:sp>
        <p:nvSpPr>
          <p:cNvPr id="26" name="Text 15"/>
          <p:cNvSpPr/>
          <p:nvPr/>
        </p:nvSpPr>
        <p:spPr>
          <a:xfrm>
            <a:off x="4701034" y="3193777"/>
            <a:ext cx="173087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Referencias clave</a:t>
            </a:r>
            <a:endParaRPr lang="en-US" sz="1000" dirty="0"/>
          </a:p>
        </p:txBody>
      </p:sp>
      <p:sp>
        <p:nvSpPr>
          <p:cNvPr id="27" name="Text 16"/>
          <p:cNvSpPr/>
          <p:nvPr/>
        </p:nvSpPr>
        <p:spPr>
          <a:xfrm>
            <a:off x="4701034" y="3426247"/>
            <a:ext cx="3951610" cy="777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2560" indent="-162560">
              <a:lnSpc>
                <a:spcPct val="115000"/>
              </a:lnSpc>
              <a:buSzPct val="100000"/>
              <a:buChar char="•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Runeson, P. &amp; Höst, M. (2009). </a:t>
            </a:r>
            <a:pPr algn="l" marL="162560" indent="-162560">
              <a:lnSpc>
                <a:spcPct val="115000"/>
              </a:lnSpc>
              <a:buSzPct val="100000"/>
              <a:buChar char="•"/>
            </a:pPr>
            <a:r>
              <a:rPr lang="en-US" sz="80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Empirical Software Engineering, 14</a:t>
            </a:r>
            <a:pPr algn="l" marL="162560" indent="-162560">
              <a:lnSpc>
                <a:spcPct val="115000"/>
              </a:lnSpc>
              <a:buSzPct val="100000"/>
              <a:buChar char="•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(2), 131–164.</a:t>
            </a:r>
            <a:endParaRPr lang="en-US" sz="800" dirty="0"/>
          </a:p>
          <a:p>
            <a:pPr algn="l" marL="162560" indent="-162560">
              <a:lnSpc>
                <a:spcPct val="115000"/>
              </a:lnSpc>
              <a:buSzPct val="100000"/>
              <a:buChar char="•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Yin, R.K. (2014). </a:t>
            </a:r>
            <a:pPr algn="l" marL="162560" indent="-162560">
              <a:lnSpc>
                <a:spcPct val="115000"/>
              </a:lnSpc>
              <a:buSzPct val="100000"/>
              <a:buChar char="•"/>
            </a:pPr>
            <a:r>
              <a:rPr lang="en-US" sz="80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Study Research: Design and Methods</a:t>
            </a:r>
            <a:pPr algn="l" marL="162560" indent="-162560">
              <a:lnSpc>
                <a:spcPct val="115000"/>
              </a:lnSpc>
              <a:buSzPct val="100000"/>
              <a:buChar char="•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(5th ed.). Sage.</a:t>
            </a:r>
            <a:endParaRPr lang="en-US" sz="800" dirty="0"/>
          </a:p>
          <a:p>
            <a:pPr algn="l" marL="162560" indent="-162560">
              <a:lnSpc>
                <a:spcPct val="115000"/>
              </a:lnSpc>
              <a:buSzPct val="100000"/>
              <a:buChar char="•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Strauss, A. &amp; Corbin, J. (1990). </a:t>
            </a:r>
            <a:pPr algn="l" marL="162560" indent="-162560">
              <a:lnSpc>
                <a:spcPct val="115000"/>
              </a:lnSpc>
              <a:buSzPct val="100000"/>
              <a:buChar char="•"/>
            </a:pPr>
            <a:r>
              <a:rPr lang="en-US" sz="80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Basics of Qualitative Research.</a:t>
            </a:r>
            <a:pPr algn="l" marL="162560" indent="-162560">
              <a:lnSpc>
                <a:spcPct val="115000"/>
              </a:lnSpc>
              <a:buSzPct val="100000"/>
              <a:buChar char="•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Sage.</a:t>
            </a:r>
            <a:endParaRPr lang="en-US" sz="800" dirty="0"/>
          </a:p>
          <a:p>
            <a:pPr algn="l" marL="162560" indent="-162560">
              <a:lnSpc>
                <a:spcPct val="115000"/>
              </a:lnSpc>
              <a:buSzPct val="100000"/>
              <a:buChar char="•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Rico, S. (2024). Insights towards better case study reporting in IS. </a:t>
            </a:r>
            <a:pPr algn="l" marL="162560" indent="-162560">
              <a:lnSpc>
                <a:spcPct val="115000"/>
              </a:lnSpc>
              <a:buSzPct val="100000"/>
              <a:buChar char="•"/>
            </a:pPr>
            <a:r>
              <a:rPr lang="en-US" sz="80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WSESE@ICSE 2024.</a:t>
            </a:r>
            <a:pPr algn="l" marL="162560" indent="-162560">
              <a:lnSpc>
                <a:spcPct val="115000"/>
              </a:lnSpc>
              <a:buSzPct val="100000"/>
              <a:buChar char="•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arXiv:2402.08411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2026-06-30T15:30:02Z</dcterms:created>
  <dcterms:modified xsi:type="dcterms:W3CDTF">2026-06-30T15:30:02Z</dcterms:modified>
</cp:coreProperties>
</file>