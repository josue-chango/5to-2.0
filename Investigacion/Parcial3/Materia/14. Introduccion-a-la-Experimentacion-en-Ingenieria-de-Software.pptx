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097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la Experimentación en Ingeniería de Software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22538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13 | Unidad 3 — Experimentación en IS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— ESPE | Ing. Ángel Rea,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248"/>
            <a:ext cx="44506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¿TDD realmente funciona?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985540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Durante más de 10 años, la comunidad IS debatió si Test-Driven Development (TDD) mejora la calidad del software.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15881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Argumentos a favor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25119" y="1890489"/>
            <a:ext cx="221009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Basados en experiencia personal y casos de éxito.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25119" y="2371055"/>
            <a:ext cx="21469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Argumentos en contra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25119" y="2673400"/>
            <a:ext cx="2210098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Basados en proyectos donde no funcionó.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debate no se resolvió con opiniones — se resolvió con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42546" y="1588145"/>
            <a:ext cx="22275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Evidencia experimental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2546" y="1890489"/>
            <a:ext cx="2210098" cy="1957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Juristo &amp; Vegas (2003), Müller &amp; Hagner (2002), Madeyski (2010): experimentos controlados con desarrolladores reales midiendo densidad de defectos y productividad.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TDD mejora la calidad externa en ciertos contextos, pero el efecto depende de la experiencia del programador y el tipo de tarea.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4068142"/>
            <a:ext cx="4722763" cy="640110"/>
          </a:xfrm>
          <a:prstGeom prst="roundRect">
            <a:avLst>
              <a:gd name="adj" fmla="val 8139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4243164"/>
            <a:ext cx="155004" cy="1239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8071" y="4207594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lección: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experimento, el debate es infinito. Con experimento, la pregunta tiene respuesta — y matices.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57790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experimento en IS?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18828"/>
            <a:ext cx="30942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 (Wohlin et al., 2012)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82043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experimento es un estudio empírico en el que el investigador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manipula activamente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 menos una variable independiente para observar su efecto sobre una variable dependiente, bajo condiciones controladas.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31058"/>
            <a:ext cx="2402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es un experimento: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994273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estudio de caso (no manipula, observa)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encuesta (no manipula, pregunta)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análisis de repositorios MSR (no manipula, mina datos históricos)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9701" y="1236538"/>
            <a:ext cx="1880592" cy="15920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86710" y="1397347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Manipulación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86710" y="1760562"/>
            <a:ext cx="14827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asigna los tratamientos (no observa lo que ya ocurrió)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2052" y="1236538"/>
            <a:ext cx="1880592" cy="15920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09061" y="1397347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09061" y="1760562"/>
            <a:ext cx="14827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minimizan las variables que podrían confundir los resultados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2970386"/>
            <a:ext cx="1880592" cy="15920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6710" y="313119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Aleatorización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86710" y="3494410"/>
            <a:ext cx="14827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sujetos se asignan al azar a los grupos cuando es posible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2052" y="2970386"/>
            <a:ext cx="1880592" cy="15920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09061" y="3131195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009061" y="3494410"/>
            <a:ext cx="14827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resultados se cuantifican con métricas definidas antes del estudio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510770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Historia de la Experimentación en IS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564856" y="915888"/>
            <a:ext cx="14288" cy="3564954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4147765" y="1028328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452417" y="915888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2265" y="93579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11351" y="95242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166292"/>
            <a:ext cx="354426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referencia a experimentos controlados en IS (Weinberg &amp; Schulman — legibilidad de código)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7296" y="1613074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10" name="Shape 8"/>
          <p:cNvSpPr/>
          <p:nvPr/>
        </p:nvSpPr>
        <p:spPr>
          <a:xfrm>
            <a:off x="4452417" y="1500634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2265" y="1520540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03614" y="153717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1986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03614" y="1751037"/>
            <a:ext cx="3544267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Basili &amp; Selby comparan métodos de lectura de código: inspección, pruebas funcionales y estructurales. Primer experimento IS con diseño riguroso.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47765" y="2136353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2417" y="2023914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2265" y="204381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11351" y="206045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1995–2000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274317"/>
            <a:ext cx="3544267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Wohlin, Runeson, Höst et al. sistematizan el método experimental en IS → libro "Experimentation in Software Engineering" (2000, 2a ed. 2012)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7296" y="2659633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2417" y="254719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2265" y="256709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03614" y="258373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2000s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3614" y="2797597"/>
            <a:ext cx="354426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Experimentos sobre TDD, pair programming, inspecciones de código, estimación de esfuerzo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47765" y="3182913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2417" y="307047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2265" y="309037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11351" y="310701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2010s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320876"/>
            <a:ext cx="354426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Replicación de experimentos: el problema de la reproducibilidad llega a IS. Shull et al. (2008): series de replicación en múltiples sitios.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77296" y="3706192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52417" y="359375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2265" y="3613658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03614" y="363029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2020s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3614" y="3844156"/>
            <a:ext cx="354426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Experimentos sobre IA generativa en IS: GitHub Copilot, ChatGPT para debugging, LLMs para testing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6119" y="4570512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experimento IS pasó de ser marginal a ser el método más valorado para evidencia causal en la disciplina.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654"/>
            <a:ext cx="4820617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Experimentos en IS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96119" y="1038076"/>
            <a:ext cx="8151763" cy="2468910"/>
          </a:xfrm>
          <a:prstGeom prst="roundRect">
            <a:avLst>
              <a:gd name="adj" fmla="val 214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7980" y="1115020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341489" y="1115020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54998" y="1115020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Cuándo usarlo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7980" y="1455093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41489" y="1455093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Aleatorización, grupos separados, laboratorio o aula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54998" y="1455093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hay suficientes sujetos y se puede controlar el entorno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7980" y="1986111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Cuasi-experimento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41489" y="1986111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aleatorización completa, grupos naturales existentes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54998" y="1986111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no es posible aleatorizar (equipos de empresa)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7980" y="2517130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 de campo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1489" y="2517130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Entorno real, menos control, mayor validez externa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54998" y="2517130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importa más la representatividad que el control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980" y="3048149"/>
            <a:ext cx="29182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de simulación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41489" y="3048149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modelos o sistemas artificiales como objeto de estudio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54998" y="3048149"/>
            <a:ext cx="246109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los sujetos humanos son difíciles de conseguir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759994"/>
            <a:ext cx="3921844" cy="838349"/>
          </a:xfrm>
          <a:prstGeom prst="roundRect">
            <a:avLst>
              <a:gd name="adj" fmla="val 6326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25" y="3950196"/>
            <a:ext cx="157758" cy="1262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06289" y="3892748"/>
            <a:ext cx="33854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general: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mayor control → mayor validez interna (certeza causal). A mayor naturalismo → mayor validez externa (generalización).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30800" y="3734693"/>
            <a:ext cx="392184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balance entre control y realismo es el desafío central del diseño experimental en IS.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303"/>
            <a:ext cx="69249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Experimento Controlado Clásico en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84746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"El uso de revisión de código asistida por IA reduce la densidad de defectos respecto a la revisión manual tradicional."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30846"/>
            <a:ext cx="4013597" cy="763712"/>
          </a:xfrm>
          <a:prstGeom prst="roundRect">
            <a:avLst>
              <a:gd name="adj" fmla="val 730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785" y="1668512"/>
            <a:ext cx="252963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Independiente (factor)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3785" y="1950913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revisión: IA vs. manual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4285" y="1530846"/>
            <a:ext cx="4013597" cy="763712"/>
          </a:xfrm>
          <a:prstGeom prst="roundRect">
            <a:avLst>
              <a:gd name="adj" fmla="val 730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1951" y="1668512"/>
            <a:ext cx="272578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Dependiente (respuesta)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1951" y="1950913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 de defectos (defectos por KLOC)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2419127"/>
            <a:ext cx="4013597" cy="763712"/>
          </a:xfrm>
          <a:prstGeom prst="roundRect">
            <a:avLst>
              <a:gd name="adj" fmla="val 730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785" y="25567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Grupos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785" y="2839194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Tratamiento: revisión con IA. Control: revisión manual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4285" y="2419127"/>
            <a:ext cx="4013597" cy="763712"/>
          </a:xfrm>
          <a:prstGeom prst="roundRect">
            <a:avLst>
              <a:gd name="adj" fmla="val 730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951" y="25567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Aleatorización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1951" y="2839194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participantes se asignan aleatoriamente a cada grupo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3307407"/>
            <a:ext cx="4013597" cy="969690"/>
          </a:xfrm>
          <a:prstGeom prst="roundRect">
            <a:avLst>
              <a:gd name="adj" fmla="val 575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785" y="344507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785" y="3727475"/>
            <a:ext cx="37382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 + revisión experta post-tarea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4285" y="3307407"/>
            <a:ext cx="4013597" cy="969690"/>
          </a:xfrm>
          <a:prstGeom prst="roundRect">
            <a:avLst>
              <a:gd name="adj" fmla="val 575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1951" y="344507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1951" y="3727475"/>
            <a:ext cx="37382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estadística de diferencia entre grupos (Mann-Whitney U, t-test)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119" y="4417219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esquema básico es la columna vertebral de la experimentación 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382"/>
            <a:ext cx="52202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Usar un Experimento?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01713"/>
            <a:ext cx="3924598" cy="3290292"/>
          </a:xfrm>
          <a:prstGeom prst="roundRect">
            <a:avLst>
              <a:gd name="adj" fmla="val 158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4855" y="1276350"/>
            <a:ext cx="2166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investigación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582391" y="1276350"/>
            <a:ext cx="2166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 más adecuado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4855" y="1606897"/>
            <a:ext cx="17095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¿TDD causa menos defectos que el desarrollo tradicional?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82391" y="1606897"/>
            <a:ext cx="2166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controlado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4855" y="2123480"/>
            <a:ext cx="17095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adopta esta empresa la integración continua?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82391" y="2123480"/>
            <a:ext cx="2166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4855" y="2640062"/>
            <a:ext cx="17095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porcentaje de equipos usa revisión de código?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2391" y="2640062"/>
            <a:ext cx="2166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4855" y="3156645"/>
            <a:ext cx="170958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factores predicen los defectos en proyectos de código abierto?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2391" y="3156645"/>
            <a:ext cx="17095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 (minería de repositorios)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855" y="3859262"/>
            <a:ext cx="1709589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¿El pair programming mejora la satisfacción del desarrollador?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82391" y="3859262"/>
            <a:ext cx="17095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Cuasi-experimento o experimento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8046" y="1188169"/>
            <a:ext cx="25663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 el experimento cuando: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4555" y="1510159"/>
            <a:ext cx="186035" cy="1860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31073" y="1504057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Quieres establecer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causalidad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(X causa Y)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2105471"/>
            <a:ext cx="186035" cy="18603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31073" y="2099370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manipular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variable independiente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4555" y="2700784"/>
            <a:ext cx="186035" cy="1860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31073" y="2694682"/>
            <a:ext cx="35215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suficientes sujetos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formar grupos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4555" y="3296096"/>
            <a:ext cx="186035" cy="1860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31073" y="3289995"/>
            <a:ext cx="352157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fenómeno puede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reproducirse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condiciones controladas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239"/>
            <a:ext cx="832752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y la Experimentación en Software Crítico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4867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 Prime (NASA JPL)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42380"/>
            <a:ext cx="3908375" cy="985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de software de vuelo desarrollado para la Mars Cubesat One y luego para el helicóptero Ingenuity en Marte.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del lanzamiento, el software de F Prime fue sometido a: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647131"/>
            <a:ext cx="3908375" cy="139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Pruebas de regresión automatizadas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(más de 2,000 casos de prueba)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Experimentos de inyección de fallos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medir la recuperación del sistema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Comparaciones experimentales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versiones del software bajo condiciones simuladas de vuelo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4157811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Ingenuity realizó 72 vuelos exitosos en Marte — sin posibilidad de intervención humana en tiempo real.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44269" y="1211535"/>
            <a:ext cx="19050" cy="888429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950247" y="1331268"/>
            <a:ext cx="370239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software crítico, el experimento no es opcional. Es la diferencia entre un sistema que falla en Marte y uno que vuela.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4269" y="2249612"/>
            <a:ext cx="3908375" cy="7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Principio:</a:t>
            </a:r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validación experimental del software es Open Science aplicada a la ingeniería.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NASA Open Science 101, M4 — F Prime case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737"/>
            <a:ext cx="4467299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Retos de la Experimentación en IS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859185"/>
            <a:ext cx="8151763" cy="719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41" y="112737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67234" y="970880"/>
            <a:ext cx="210502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Escasez de sujetos representativos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67234" y="1163315"/>
            <a:ext cx="7568952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estudiantes no son desarrolladores industriales. ¿Son válidos como sujetos?</a:t>
            </a:r>
            <a:endParaRPr lang="en-US" sz="7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estudios multi-sitio, replicación con profesionales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45295"/>
            <a:ext cx="8151763" cy="719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841" y="191348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67234" y="1756990"/>
            <a:ext cx="194763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de la validez externa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67234" y="1949425"/>
            <a:ext cx="7568952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experimento en una universidad con 20 estudiantes, ¿aplica a equipos de 200 personas en una empresa?</a:t>
            </a:r>
            <a:endParaRPr lang="en-US" sz="7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series de replicación, estudios de campo complementarios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31405"/>
            <a:ext cx="8151763" cy="7191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9841" y="269959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967234" y="254310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efecto Hawthorne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967234" y="2735535"/>
            <a:ext cx="7568952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sujetos actúan diferente por saber que son observados</a:t>
            </a:r>
            <a:endParaRPr lang="en-US" sz="7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cegamiento, entornos naturales, períodos de habituación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17515"/>
            <a:ext cx="8151763" cy="7191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9841" y="348570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967234" y="3329211"/>
            <a:ext cx="261252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 de confusión difíciles de controlar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967234" y="3521646"/>
            <a:ext cx="7568952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previa, lenguaje preferido, fatiga, motivación</a:t>
            </a:r>
            <a:endParaRPr lang="en-US" sz="7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Solución: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aleatorización, bloques, covariables, diseños within-subject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4003625"/>
            <a:ext cx="8151763" cy="7191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9841" y="427181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967234" y="411532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Replicación escasa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967234" y="4307756"/>
            <a:ext cx="7568952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experimentos IS se publican una sola vez y nunca se replican</a:t>
            </a:r>
            <a:endParaRPr lang="en-US" sz="7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Crisis de reproducibilidad: el mismo problema que en otras ciencias, ahora en IS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947"/>
            <a:ext cx="641851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INVB10: Análisis de un Experimento 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44253"/>
            <a:ext cx="8151763" cy="718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Actividad:</a:t>
            </a:r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Busca en IEEE Xplore un artículo que reporte un experimento controlado en IS (usar términos: "controlled experiment software engineering" o "empirical study IS").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las siguientes preguntas sobre el artículo encontrado: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89398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2098030"/>
            <a:ext cx="263961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908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461320"/>
            <a:ext cx="26396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 es la hipótesis nula (H0) y la alternativa (H1)?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52118" y="189398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52118" y="2098030"/>
            <a:ext cx="2639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252118" y="219082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52118" y="2461320"/>
            <a:ext cx="263969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 es la variable independiente (tratamiento) y la dependiente (métrica)?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08191" y="189398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08191" y="2098030"/>
            <a:ext cx="2639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008191" y="2190824"/>
            <a:ext cx="173042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Asignación de sujetos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8191" y="2461320"/>
            <a:ext cx="263969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se asignaron los sujetos a los grupos? ¿Hubo aleatorización?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119" y="306585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119" y="3269903"/>
            <a:ext cx="4017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362697"/>
            <a:ext cx="17351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Amenazas a la validez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6119" y="3633192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amenazas a la validez reporta el artículo?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30192" y="306585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0192" y="3269903"/>
            <a:ext cx="4017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4630192" y="336269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crítica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30192" y="3633192"/>
            <a:ext cx="401769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¿Reprodujiste el experimento mentalmente? ¿Hay algo que no queda claro en el protocolo?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6119" y="4252317"/>
            <a:ext cx="8151763" cy="481236"/>
          </a:xfrm>
          <a:prstGeom prst="roundRect">
            <a:avLst>
              <a:gd name="adj" fmla="val 11213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433739"/>
            <a:ext cx="160586" cy="12843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3581" y="4400773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Entrega: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ficha de análisis (tabla + 200 palabras de evaluación crítica).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2026-07-02T15:04:05Z</dcterms:created>
  <dcterms:modified xsi:type="dcterms:W3CDTF">2026-07-02T15:04:05Z</dcterms:modified>
</cp:coreProperties>
</file>