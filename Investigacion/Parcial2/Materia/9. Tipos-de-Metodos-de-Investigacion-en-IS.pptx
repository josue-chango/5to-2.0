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0294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Métodos de Investigación en IS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601516"/>
            <a:ext cx="1354336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4010174" y="2644006"/>
            <a:ext cx="164142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9 — UNIDAD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3027387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479"/>
            <a:ext cx="79160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"Uso ese método porque es el que sé usar"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2984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error más frecuente en investigación en IS no es ejecutar mal un método — 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 el método equivocado para la pregunta correcta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 método mal elegido produce resultados válidos técnicamente pero que no responden la pregunta de investigación: esfuerzo perdido, conocimiento inaplicable.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92896"/>
            <a:ext cx="2622724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2092896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22537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martillo de oro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4077" y="2560216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"Siempre uso encuestas porque sé manejar Statistical Package for the Social Science (SPSS)" — el método favorito se convierte en la única herramienta.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92896"/>
            <a:ext cx="2622724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1551" y="2092896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478560" y="22537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método de moda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8560" y="2560216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"Todo el mundo hace experimentos controlados, entonces yo también" — seguir tendencias sin evaluar pertinencia.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92896"/>
            <a:ext cx="2622724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6033" y="2092896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43042" y="2253704"/>
            <a:ext cx="20312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pregunta sin método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43042" y="2560216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el problema sin preguntar qué tipo de respuesta se necesita — el error más silencioso y costoso.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4014564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229621"/>
            <a:ext cx="177180" cy="1417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56816" y="4191744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guía de hoy: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saber cuál método es el correcto para cada pregunta de investigación?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70793"/>
            <a:ext cx="50083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Taxonomía de Easterbrook et al. (2007)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696441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métodos de investigación en IS se clasifican según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dimensiones fundamentales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determinan el diseño de cualquier estudio empírico.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362894"/>
            <a:ext cx="3169965" cy="316996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362894"/>
            <a:ext cx="3169965" cy="31699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92923" y="1087189"/>
            <a:ext cx="22886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 7 métodos principales en 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692923" y="1307976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4692923" y="1455613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5"/>
          <p:cNvSpPr/>
          <p:nvPr/>
        </p:nvSpPr>
        <p:spPr>
          <a:xfrm>
            <a:off x="4692923" y="1531813"/>
            <a:ext cx="152824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Experimentos controlados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692923" y="1816075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692923" y="1963713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8"/>
          <p:cNvSpPr/>
          <p:nvPr/>
        </p:nvSpPr>
        <p:spPr>
          <a:xfrm>
            <a:off x="4692923" y="203991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Estudios de caso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92923" y="2324174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692923" y="2471812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1"/>
          <p:cNvSpPr/>
          <p:nvPr/>
        </p:nvSpPr>
        <p:spPr>
          <a:xfrm>
            <a:off x="4692923" y="2548012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692923" y="2832274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692923" y="2979911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4"/>
          <p:cNvSpPr/>
          <p:nvPr/>
        </p:nvSpPr>
        <p:spPr>
          <a:xfrm>
            <a:off x="4692923" y="3056111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Etnografía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92923" y="3340373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692923" y="3488010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7"/>
          <p:cNvSpPr/>
          <p:nvPr/>
        </p:nvSpPr>
        <p:spPr>
          <a:xfrm>
            <a:off x="4692923" y="3564210"/>
            <a:ext cx="12264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Investigación-acción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692923" y="3848472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692923" y="3996110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4" name="Text 20"/>
          <p:cNvSpPr/>
          <p:nvPr/>
        </p:nvSpPr>
        <p:spPr>
          <a:xfrm>
            <a:off x="4692923" y="4072310"/>
            <a:ext cx="175349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Revisiones Sistemáticas (SLR)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692923" y="4356571"/>
            <a:ext cx="1905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692923" y="4504209"/>
            <a:ext cx="316996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3"/>
          <p:cNvSpPr/>
          <p:nvPr/>
        </p:nvSpPr>
        <p:spPr>
          <a:xfrm>
            <a:off x="4692923" y="4580409"/>
            <a:ext cx="209773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Mining Software Repositories (MSR)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88082"/>
            <a:ext cx="841876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Cualitativos: Comprender en Profundidad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122387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necesitas el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"por qué"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el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"cómo"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los métodos cualitativos trabajan con datos no numéricos: entrevistas, observaciones, documentos y artefactos. Producen teorías, modelos, taxonomías y frameworks con muestras pequeñas pero contexto rico.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9610" y="1645221"/>
            <a:ext cx="4064198" cy="928762"/>
          </a:xfrm>
          <a:prstGeom prst="roundRect">
            <a:avLst>
              <a:gd name="adj" fmla="val 58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2811" y="177842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 de Caso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2811" y="2048917"/>
            <a:ext cx="37977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 &amp; Höst (2009): investiga un fenómeno en su contexto real, preservando la riqueza del entorno.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0192" y="1645221"/>
            <a:ext cx="4064198" cy="928762"/>
          </a:xfrm>
          <a:prstGeom prst="roundRect">
            <a:avLst>
              <a:gd name="adj" fmla="val 58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3393" y="177842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Etnografía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3393" y="2048917"/>
            <a:ext cx="37977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investigador se inserta en el equipo de desarrollo para observar prácticas desde adentro.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9610" y="2690366"/>
            <a:ext cx="4064198" cy="928762"/>
          </a:xfrm>
          <a:prstGeom prst="roundRect">
            <a:avLst>
              <a:gd name="adj" fmla="val 58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811" y="282356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Grounded Theory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2811" y="3094062"/>
            <a:ext cx="37977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Construye teoría emergente directamente desde los datos, sin hipótesis previas.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0192" y="2690366"/>
            <a:ext cx="4064198" cy="928762"/>
          </a:xfrm>
          <a:prstGeom prst="roundRect">
            <a:avLst>
              <a:gd name="adj" fmla="val 58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3393" y="2823567"/>
            <a:ext cx="175535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de Taxonomía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3393" y="3094062"/>
            <a:ext cx="379779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 fenómenos desde casos observados hacia un framework generalizable.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9610" y="3750097"/>
            <a:ext cx="8244780" cy="905247"/>
          </a:xfrm>
          <a:prstGeom prst="roundRect">
            <a:avLst>
              <a:gd name="adj" fmla="val 5961"/>
            </a:avLst>
          </a:prstGeom>
          <a:solidFill>
            <a:srgbClr val="C7C9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48" y="3941043"/>
            <a:ext cx="160586" cy="12843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7073" y="3898553"/>
            <a:ext cx="7698879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— Lectura 1 (Wardle, 2020):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Draft construye una taxonomía de 7 tipos de desorden informativo analizando casos reales de redes sociales (elecciones Francia 2017, Westminster, EE.UU. 2016). Método: análisis cualitativo inductivo de casos → framework generalizable.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33152"/>
            <a:ext cx="539062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Cuantitativos: Medir y Demostrar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758800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necesitas el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"cuánto"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el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 hay diferencia"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los métodos cuantitativos trabajan con datos numéricos, muestras grandes y análisis estadístico. Producen correlaciones, causalidades y generalizaciones con intervalos de confianza.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285875" y="1085552"/>
            <a:ext cx="1595065" cy="1319213"/>
          </a:xfrm>
          <a:prstGeom prst="roundRect">
            <a:avLst>
              <a:gd name="adj" fmla="val 303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163" y="1099840"/>
            <a:ext cx="1566490" cy="285750"/>
          </a:xfrm>
          <a:prstGeom prst="roundRect">
            <a:avLst>
              <a:gd name="adj" fmla="val 8000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2011933" y="1151037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5412" y="1449586"/>
            <a:ext cx="137599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Controlado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95412" y="1785640"/>
            <a:ext cx="137599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 una variable independiente y mide el efecto. Ej: TDD vs. no TDD en calidad de código.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44937" y="1085552"/>
            <a:ext cx="1595065" cy="1319213"/>
          </a:xfrm>
          <a:prstGeom prst="roundRect">
            <a:avLst>
              <a:gd name="adj" fmla="val 303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9224" y="1099840"/>
            <a:ext cx="1566490" cy="285750"/>
          </a:xfrm>
          <a:prstGeom prst="roundRect">
            <a:avLst>
              <a:gd name="adj" fmla="val 8000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3670995" y="1151037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54474" y="1449586"/>
            <a:ext cx="12796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 Cuantitativa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54474" y="1636812"/>
            <a:ext cx="137599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Recolecta datos medibles de una muestra representativa para describir una población.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03998" y="1085552"/>
            <a:ext cx="1595065" cy="1319213"/>
          </a:xfrm>
          <a:prstGeom prst="roundRect">
            <a:avLst>
              <a:gd name="adj" fmla="val 303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8286" y="1099840"/>
            <a:ext cx="1566490" cy="285750"/>
          </a:xfrm>
          <a:prstGeom prst="roundRect">
            <a:avLst>
              <a:gd name="adj" fmla="val 8000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5330056" y="1151037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3536" y="1449586"/>
            <a:ext cx="137599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Mining Software Repositories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3536" y="1785640"/>
            <a:ext cx="137599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grandes datasets de GitHub, Jira, Stack Overflow para encontrar patrones a escala.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63060" y="1085552"/>
            <a:ext cx="1595065" cy="1319213"/>
          </a:xfrm>
          <a:prstGeom prst="roundRect">
            <a:avLst>
              <a:gd name="adj" fmla="val 303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7347" y="1099840"/>
            <a:ext cx="1566490" cy="285750"/>
          </a:xfrm>
          <a:prstGeom prst="roundRect">
            <a:avLst>
              <a:gd name="adj" fmla="val 8000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6989118" y="1151037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2597" y="1449586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72597" y="1636812"/>
            <a:ext cx="137599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 el comportamiento de sistemas bajo condiciones controladas y reproducibles.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5875" y="2500759"/>
            <a:ext cx="3025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— Lectura 2 (Hussain &amp; Soomro, 2023)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5875" y="2793206"/>
            <a:ext cx="3246090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30.7M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313608" y="314027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Tweets analizados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5875" y="3327499"/>
            <a:ext cx="324609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Elecciones EE.UU. 2016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1960" y="2793206"/>
            <a:ext cx="32461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2450" dirty="0"/>
          </a:p>
        </p:txBody>
      </p:sp>
      <p:sp>
        <p:nvSpPr>
          <p:cNvPr id="29" name="Text 27"/>
          <p:cNvSpPr/>
          <p:nvPr/>
        </p:nvSpPr>
        <p:spPr>
          <a:xfrm>
            <a:off x="5503143" y="3203153"/>
            <a:ext cx="14637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Contiene misinformación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1960" y="3390379"/>
            <a:ext cx="324616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total de tweets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285875" y="3693393"/>
            <a:ext cx="3246090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4.59B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2313608" y="404046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Usuarios en redes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5875" y="4227686"/>
            <a:ext cx="324609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Estadística Statista 2022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11960" y="3693393"/>
            <a:ext cx="32461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</a:t>
            </a:r>
            <a:endParaRPr lang="en-US" sz="2450" dirty="0"/>
          </a:p>
        </p:txBody>
      </p:sp>
      <p:sp>
        <p:nvSpPr>
          <p:cNvPr id="35" name="Text 33"/>
          <p:cNvSpPr/>
          <p:nvPr/>
        </p:nvSpPr>
        <p:spPr>
          <a:xfrm>
            <a:off x="5639693" y="410334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Artículos de salud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1960" y="4290566"/>
            <a:ext cx="324616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Revisados por 2 especialistas c/u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285875" y="4489921"/>
            <a:ext cx="6572250" cy="320427"/>
          </a:xfrm>
          <a:prstGeom prst="roundRect">
            <a:avLst>
              <a:gd name="adj" fmla="val 12485"/>
            </a:avLst>
          </a:prstGeom>
          <a:solidFill>
            <a:srgbClr val="FCF2B5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125" y="4620890"/>
            <a:ext cx="119062" cy="952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595438" y="4577730"/>
            <a:ext cx="66246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artículos con misinformación tenían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engagement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los artículos con información verificada.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17686"/>
            <a:ext cx="7904708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Mixtos: Lo Mejor de Ambos Mundos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097533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una perspectiva sola no alcanza — los métodos mixtos combinan datos cualitativos y cuantitativos para obtener una comprensión más completa y robusta del fenómeno estudiado.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664643"/>
            <a:ext cx="2732708" cy="540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7963" y="2333848"/>
            <a:ext cx="195344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Secuencial Exploratorio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7963" y="2622203"/>
            <a:ext cx="246258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Primero cualitativo (explorar) → luego cuantitativo (validar a escala). Ideal cuando el fenómeno es poco conocido.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609" y="1664643"/>
            <a:ext cx="2732708" cy="5404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40671" y="2333848"/>
            <a:ext cx="185700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Secuencial Explicativo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40671" y="2622203"/>
            <a:ext cx="246258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Primero cuantitativo (medir) → luego cualitativo (explicar los resultados). Ideal para profundizar hallazgos numéricos.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317" y="1664643"/>
            <a:ext cx="2732782" cy="5404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3378" y="2333848"/>
            <a:ext cx="23436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Convergente / Triangulación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73378" y="2622203"/>
            <a:ext cx="2462659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Ambos en paralelo → comparar y cruzar conclusiones. Si el resultado es consistente desde distintos ángulos, la confianza aumenta.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72901" y="3746599"/>
            <a:ext cx="8198197" cy="979140"/>
          </a:xfrm>
          <a:prstGeom prst="roundRect">
            <a:avLst>
              <a:gd name="adj" fmla="val 5796"/>
            </a:avLst>
          </a:prstGeom>
          <a:solidFill>
            <a:srgbClr val="B6FCB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63" y="3949526"/>
            <a:ext cx="168846" cy="1350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1870" y="3909045"/>
            <a:ext cx="762416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2 como método mixto: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Hussain &amp; Soomro (2023) combina revisión cualitativa de literatura (taxonomía: información / misinformación / desinformación / malinformación) con estadísticas cuantitativas de tweets y datos de engagement — un paper exploratorio que une descripción conceptual con evidencia numérica.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33003"/>
            <a:ext cx="6048449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Pregunta de Investigación Dicta el Método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09377" y="880170"/>
            <a:ext cx="73351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 oro: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pregunta define el método, nunca al revés.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56605" y="797793"/>
            <a:ext cx="14288" cy="3048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1056605" y="1184970"/>
            <a:ext cx="7030715" cy="1877764"/>
          </a:xfrm>
          <a:prstGeom prst="roundRect">
            <a:avLst>
              <a:gd name="adj" fmla="val 227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3389" y="1238399"/>
            <a:ext cx="27084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tu pregunta empieza con...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23146" y="1238399"/>
            <a:ext cx="27060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indicado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80522" y="1238399"/>
            <a:ext cx="23573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Naturaleza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63389" y="1480542"/>
            <a:ext cx="27084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existe? ¿Qué está pasando?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23146" y="1480542"/>
            <a:ext cx="224886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de literatura, estudio de caso, etnografía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80522" y="1480542"/>
            <a:ext cx="23573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Exploratorio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63389" y="1862733"/>
            <a:ext cx="225124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¿Cuánto? ¿Con qué frecuencia? ¿Qué tan diferente?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23146" y="1862733"/>
            <a:ext cx="27060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Encuesta, experimento, MSR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80522" y="1862733"/>
            <a:ext cx="23573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63389" y="2244923"/>
            <a:ext cx="27084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ocurre? ¿Cómo funciona?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23146" y="2244923"/>
            <a:ext cx="224886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Entrevistas, grounded theory, estudio de caso profundo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522" y="2244923"/>
            <a:ext cx="23573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Cualitativo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63389" y="2627114"/>
            <a:ext cx="27084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¿Funciona mejor A que B?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23146" y="2627114"/>
            <a:ext cx="27060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controlado o cuasi-experimental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80522" y="2627114"/>
            <a:ext cx="23573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Evaluativo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63389" y="2869257"/>
            <a:ext cx="27084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sabe la comunidad sobre X?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23146" y="2869257"/>
            <a:ext cx="27060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SLR / Mapeo sistemático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80522" y="2869257"/>
            <a:ext cx="23573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Mixto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6605" y="3145110"/>
            <a:ext cx="254719" cy="25471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56605" y="3491359"/>
            <a:ext cx="145345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Disponibilidad de datos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56605" y="3694509"/>
            <a:ext cx="346955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¿Existen métricas o solo narrativas disponibles en el contexto?</a:t>
            </a:r>
            <a:endParaRPr lang="en-US" sz="8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7690" y="3145110"/>
            <a:ext cx="254719" cy="25471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617690" y="3491359"/>
            <a:ext cx="145085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 del fenómeno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617690" y="3694509"/>
            <a:ext cx="346963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¿El fenómeno puede aislarse o depende intrínsecamente de su entorno?</a:t>
            </a:r>
            <a:endParaRPr lang="en-US" sz="8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605" y="4121051"/>
            <a:ext cx="254719" cy="25471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56605" y="4467299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Recursos y tiempo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056605" y="4670450"/>
            <a:ext cx="346955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Algunos métodos requieren meses de fieldwork intensivo.</a:t>
            </a:r>
            <a:endParaRPr 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690" y="4121051"/>
            <a:ext cx="254719" cy="25471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617690" y="4467299"/>
            <a:ext cx="145992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Consideraciones éticas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617690" y="4670450"/>
            <a:ext cx="346963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¿Puedes manipular variables o solo observar el fenómeno?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539576"/>
            <a:ext cx="8639249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NASA: El Método en el Ciclo de Vida de la Investigación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129605"/>
            <a:ext cx="8291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vida de la investigación científica (NASA Open Science 101 — M5)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tiene 9 fases. El método no se elige al final cuando ya se tienen datos — se diseña en la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2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antes de recolectar nada. La NASA planifica el método de cada experimento antes de lanzar la misión.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2721694"/>
            <a:ext cx="8291215" cy="14288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1556891" y="2356284"/>
            <a:ext cx="14288" cy="36544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1427038" y="258466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2692" y="260746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2630" y="160972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Formulación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208" y="1862882"/>
            <a:ext cx="203180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la pregunta de investigación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60018" y="2721657"/>
            <a:ext cx="14288" cy="36544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2630165" y="258466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5818" y="260746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05757" y="3208958"/>
            <a:ext cx="1522884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Diseño </a:t>
            </a:r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51335" y="3466877"/>
            <a:ext cx="203180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Aquí se elige el método</a:t>
            </a:r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antes de recolectar datos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63144" y="2356284"/>
            <a:ext cx="14288" cy="36544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33292" y="258466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8945" y="260746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5535" y="1609725"/>
            <a:ext cx="152973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Planificación DMP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54462" y="1862882"/>
            <a:ext cx="20318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datos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66271" y="2721657"/>
            <a:ext cx="14288" cy="36544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36418" y="258466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2071" y="260746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3616" y="3208958"/>
            <a:ext cx="201982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4–5. Recolección y Análisis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57588" y="3462114"/>
            <a:ext cx="20318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y procesamiento estadístico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69472" y="2356284"/>
            <a:ext cx="14288" cy="36544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26" name="Shape 24"/>
          <p:cNvSpPr/>
          <p:nvPr/>
        </p:nvSpPr>
        <p:spPr>
          <a:xfrm>
            <a:off x="6239619" y="258466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5272" y="260746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60789" y="1609725"/>
            <a:ext cx="203180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6–7. Interpretación y Publicación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60789" y="2053233"/>
            <a:ext cx="203180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y diseminación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72598" y="2721657"/>
            <a:ext cx="14288" cy="365447"/>
          </a:xfrm>
          <a:prstGeom prst="roundRect">
            <a:avLst>
              <a:gd name="adj" fmla="val 358127"/>
            </a:avLst>
          </a:prstGeom>
          <a:solidFill>
            <a:srgbClr val="C0C1D7"/>
          </a:solidFill>
          <a:ln/>
        </p:spPr>
      </p:sp>
      <p:sp>
        <p:nvSpPr>
          <p:cNvPr id="31" name="Shape 29"/>
          <p:cNvSpPr/>
          <p:nvPr/>
        </p:nvSpPr>
        <p:spPr>
          <a:xfrm>
            <a:off x="7442746" y="258466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8399" y="260746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63916" y="3208958"/>
            <a:ext cx="203187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8–9. Preservación y Reutilización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63916" y="3652465"/>
            <a:ext cx="20318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abiertos para la comunidad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6393" y="3951387"/>
            <a:ext cx="8291215" cy="652537"/>
          </a:xfrm>
          <a:prstGeom prst="roundRect">
            <a:avLst>
              <a:gd name="adj" fmla="val 7842"/>
            </a:avLst>
          </a:prstGeom>
          <a:solidFill>
            <a:srgbClr val="B6D6FC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208" y="4130353"/>
            <a:ext cx="152251" cy="12181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2275" y="4086448"/>
            <a:ext cx="7773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Science como método: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proyectos Sungrazer (cometas) y JunoCam (Júpiter) usan ciencia ciudadana — un método participativo y distribuido donde miles de observadores no expertos generan datos válidos para investigación profesional.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17450"/>
            <a:ext cx="6352356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Guía de Referencia: Los 7 Métodos en IS Cara a Cara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2298" y="730225"/>
            <a:ext cx="687660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 rápida basada en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Easterbrook et al. (2007)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Selecting Empirical Methods for Software Engineering Research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362298" y="922139"/>
            <a:ext cx="6419404" cy="1903809"/>
          </a:xfrm>
          <a:prstGeom prst="roundRect">
            <a:avLst>
              <a:gd name="adj" fmla="val 20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7061" y="926902"/>
            <a:ext cx="6409879" cy="2059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60302" y="968276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616398" y="968276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Propósito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770114" y="968276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667473" y="968276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69906" y="968276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Limitación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67061" y="1132880"/>
            <a:ext cx="6409879" cy="329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60302" y="1174254"/>
            <a:ext cx="96529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controlado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16398" y="1174254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causalidad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70114" y="1174254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667473" y="1174254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 causal alto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69906" y="1174254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Poca validez externa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367061" y="1462088"/>
            <a:ext cx="6409879" cy="2059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460302" y="1503462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16398" y="1503462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Explorar / describir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770114" y="1503462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Cualitativo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67473" y="1503462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real rico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69906" y="1503462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Difícil generalizar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67061" y="1668066"/>
            <a:ext cx="6409879" cy="2059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460302" y="1709440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16398" y="1709440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Describir población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70114" y="1709440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67473" y="1709440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y alcance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69906" y="1709440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Superficial, sesgo respuesta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67061" y="1874044"/>
            <a:ext cx="6409879" cy="2059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460302" y="1915418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Etnografía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16398" y="1915418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Comprender cultura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70114" y="1915418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Cualitativo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67473" y="1915418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Profundidad máxima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69906" y="1915418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Tiempo, sesgo del observador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67061" y="2080022"/>
            <a:ext cx="6409879" cy="2059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460302" y="2121396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Investigación-acción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16398" y="2121396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Cambiar y aprender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70114" y="2121396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Mixto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67473" y="2121396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real directo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69906" y="2121396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Poca objetividad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367061" y="2286000"/>
            <a:ext cx="6409879" cy="329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460302" y="2327374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SLR / Mapeo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16398" y="2327374"/>
            <a:ext cx="96291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Sintetizar conocimiento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770114" y="2327374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Mixto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667473" y="2327374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global del campo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69906" y="2327374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genera datos nuevos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367061" y="2615208"/>
            <a:ext cx="6409879" cy="2059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460302" y="2656582"/>
            <a:ext cx="142249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16398" y="2656582"/>
            <a:ext cx="14201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repositorios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770114" y="2656582"/>
            <a:ext cx="116376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67473" y="2656582"/>
            <a:ext cx="186883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 escala de datos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69906" y="2656582"/>
            <a:ext cx="18712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ruidosos e incompletos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34530" y="3499247"/>
            <a:ext cx="114426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4/7</a:t>
            </a:r>
            <a:endParaRPr lang="en-US" sz="180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993" y="2917850"/>
            <a:ext cx="1395487" cy="1395487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515963" y="4397573"/>
            <a:ext cx="178162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cuantitativos o mixtos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362298" y="4579516"/>
            <a:ext cx="208895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Experimento, Encuesta, MSR, SLR/Mapeo, Investigación-acción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3999756" y="3499247"/>
            <a:ext cx="114426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2/7</a:t>
            </a:r>
            <a:endParaRPr lang="en-US" sz="1800" dirty="0"/>
          </a:p>
        </p:txBody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219" y="2917850"/>
            <a:ext cx="1395487" cy="1395487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3655963" y="4397573"/>
            <a:ext cx="183207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puramente cualitativos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3527524" y="4579516"/>
            <a:ext cx="208895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 y Etnografía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6164982" y="3499247"/>
            <a:ext cx="114426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3/7</a:t>
            </a:r>
            <a:endParaRPr lang="en-US" sz="1800" dirty="0"/>
          </a:p>
        </p:txBody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45" y="2917850"/>
            <a:ext cx="1395487" cy="1395487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5853336" y="4397573"/>
            <a:ext cx="176770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mixtos o combinables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5692750" y="4579516"/>
            <a:ext cx="208895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SLR, Investigación-acción, Estudio de caso mixto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45504"/>
            <a:ext cx="3976836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Síntesis y Próximos Pasos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50912" y="864617"/>
            <a:ext cx="3777779" cy="929134"/>
          </a:xfrm>
          <a:prstGeom prst="roundRect">
            <a:avLst>
              <a:gd name="adj" fmla="val 500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6403" y="980108"/>
            <a:ext cx="170914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Clasificación de métodos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6403" y="1204987"/>
            <a:ext cx="3546797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métodos en IS se clasifican por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propósito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(exploratorio, descriptivo, explicativo, evaluativo) y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naturaleza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(cualitativo, cuantitativo, mixto).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615160" y="864617"/>
            <a:ext cx="3777853" cy="929134"/>
          </a:xfrm>
          <a:prstGeom prst="roundRect">
            <a:avLst>
              <a:gd name="adj" fmla="val 500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0651" y="98010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de oro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30651" y="1204987"/>
            <a:ext cx="354687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de investigación dicta el método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nunca al revés. El método se elige en la fase 2 del ciclo de vida, antes de recolectar datos.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50912" y="1880220"/>
            <a:ext cx="3777779" cy="929134"/>
          </a:xfrm>
          <a:prstGeom prst="roundRect">
            <a:avLst>
              <a:gd name="adj" fmla="val 500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403" y="199571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Lecturas de hoy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6403" y="2220590"/>
            <a:ext cx="3546797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Wardle (2020)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análisis cualitativo inductivo → taxonomía de 7 tipos.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Hussain &amp; Soomro (2023)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método mixto exploratorio → taxonomía + estadísticas.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5160" y="1880220"/>
            <a:ext cx="3777853" cy="929134"/>
          </a:xfrm>
          <a:prstGeom prst="roundRect">
            <a:avLst>
              <a:gd name="adj" fmla="val 500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0651" y="199571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Open Science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30651" y="2220590"/>
            <a:ext cx="354687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Sungrazer y JunoCam demuestran la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ciudadana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método participativo distribuido válido para investigación profesional.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0912" y="2934370"/>
            <a:ext cx="7642101" cy="8260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50912" y="3100090"/>
            <a:ext cx="4345930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INVB6 — Investigación Bibliográfica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0912" y="3506763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 el artículo que encontraste en INVB5 e identifica: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0912" y="3761854"/>
            <a:ext cx="7642101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9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método de investigación usaron los autores?</a:t>
            </a:r>
            <a:endParaRPr lang="en-US" sz="850" dirty="0"/>
          </a:p>
          <a:p>
            <a:pPr algn="l" marL="342900" indent="-342900">
              <a:lnSpc>
                <a:spcPct val="119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crees que eligieron ese método y no otro?</a:t>
            </a:r>
            <a:endParaRPr lang="en-US" sz="850" dirty="0"/>
          </a:p>
          <a:p>
            <a:pPr algn="l" marL="342900" indent="-342900">
              <a:lnSpc>
                <a:spcPct val="119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limitación metodológica mencionan explícitamente los autores?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0912" y="4392885"/>
            <a:ext cx="7642101" cy="405110"/>
          </a:xfrm>
          <a:prstGeom prst="roundRect">
            <a:avLst>
              <a:gd name="adj" fmla="val 11483"/>
            </a:avLst>
          </a:prstGeom>
          <a:solidFill>
            <a:srgbClr val="C7C9E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40" y="4553471"/>
            <a:ext cx="138410" cy="1107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779" y="4507037"/>
            <a:ext cx="76287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clase: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Métodos Lógicos — Razonamiento Deductivo, Inductivo e Hipotético-Deductivo en Ingeniería de Software.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2026-05-26T17:18:22Z</dcterms:created>
  <dcterms:modified xsi:type="dcterms:W3CDTF">2026-05-26T17:18:22Z</dcterms:modified>
</cp:coreProperties>
</file>