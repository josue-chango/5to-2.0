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56420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 Cualitativa, Cuantitativa y Método Delphi en 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79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11 — Unidad 2: Métodos de Investigación en Ingeniería de Software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11079"/>
            <a:ext cx="1981944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936" y="3558332"/>
            <a:ext cx="225950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REA GUAMÁN, PH.D.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8338"/>
            <a:ext cx="8229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"Mejoró la calidad" — ¿cómo sabes que eso es verdad?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456060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IS decimos constantemente que algo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"mejoró"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 más eficiente"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"tiene mayor calidad"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Pero sin medición rigurosa, esas afirmaciones son opinión, no conocimiento científico.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349" y="1993255"/>
            <a:ext cx="2662758" cy="1149772"/>
          </a:xfrm>
          <a:prstGeom prst="roundRect">
            <a:avLst>
              <a:gd name="adj" fmla="val 47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2782" y="212868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medimos?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2782" y="2405063"/>
            <a:ext cx="239189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constructo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definir con precisión qué fenómeno queremos capturar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0584" y="1993255"/>
            <a:ext cx="2662758" cy="1149772"/>
          </a:xfrm>
          <a:prstGeom prst="roundRect">
            <a:avLst>
              <a:gd name="adj" fmla="val 47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6017" y="212868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¿Con qué escala?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76017" y="2405063"/>
            <a:ext cx="239189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instrumento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la herramienta o métrica que convierte el constructo en dato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23818" y="1993255"/>
            <a:ext cx="2662758" cy="1149772"/>
          </a:xfrm>
          <a:prstGeom prst="roundRect">
            <a:avLst>
              <a:gd name="adj" fmla="val 47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9252" y="2128689"/>
            <a:ext cx="181868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¿Es válido y confiable?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59252" y="2405063"/>
            <a:ext cx="239189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del dato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garantizar que la medición sea reproducible y precisa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349" y="3278535"/>
            <a:ext cx="8229302" cy="929432"/>
          </a:xfrm>
          <a:prstGeom prst="roundRect">
            <a:avLst>
              <a:gd name="adj" fmla="val 5906"/>
            </a:avLst>
          </a:prstGeom>
          <a:solidFill>
            <a:srgbClr val="FCF2B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20" y="3475137"/>
            <a:ext cx="163339" cy="13067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82030" y="3431679"/>
            <a:ext cx="7673950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constructos abstractos en IS — "calidad", "mantenibilidad", "usabilidad", "satisfacción del usuario" — no tienen unidades físicas. Para medirlos necesitamos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operacionalizarlos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convertirlos en algo observable, cuantificable o codificable.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349" y="4343474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concreto: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mides si un equipo de desarrollo "colabora bien"? ¿Número de commits? ¿Respuestas en PR reviews? ¿Encuesta de satisfacción? ¿Etnografía? Cada opción es una decisión metodológica con consecuencias distintas.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48332"/>
            <a:ext cx="8167092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Antes de medir: ¿qué tipo de dato estás produciendo?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09638"/>
            <a:ext cx="810064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escalas de Stevens (1946)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definen qué operaciones matemáticas son válidas con cada tipo de dato. Usar una escala incorrecta invalida los resultados del análisis.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643" y="1362298"/>
            <a:ext cx="4001691" cy="17536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34456" y="144021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3281" y="182597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Nominal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3281" y="2067669"/>
            <a:ext cx="3738414" cy="916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Categorías sin orden. Ejemplos en IS: tipo de lenguaje (Python/Java/C++), tipo de bug (lógico/sintáctico/interfaz), metodología (Scrum/Kanban/XP).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válidas: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contar, modas, tablas de frecuencia.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puede calcular promedio ni mediana.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518" y="1362298"/>
            <a:ext cx="4001765" cy="17536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3331" y="144021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752156" y="182597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Ordinal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752156" y="2067669"/>
            <a:ext cx="3738488" cy="916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Categorías con orden, pero distancias no uniformes. Ejemplos: prioridad de requisito (alta/media/baja), severidad (crítico/mayor/menor), escala Likert (1–5).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válidas: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ordenar, mediana, percentiles. El "4" en Likert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el doble del "2".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43" y="3213125"/>
            <a:ext cx="4001691" cy="15819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34456" y="3291036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3281" y="367679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Intervalo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53281" y="3918496"/>
            <a:ext cx="3738414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Distancias uniformes, sin cero absoluto. Ejemplos: temperatura de un servidor, año de publicación de un paper.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válidas: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suma, resta, media aritmética.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0518" y="3213125"/>
            <a:ext cx="4001765" cy="15819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33331" y="3291036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752156" y="367679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Razón (Ratio)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752156" y="3918496"/>
            <a:ext cx="3738488" cy="7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Distancias uniformes + cero absoluto. Ejemplos en IS: LOC, número de defectos, tiempo de respuesta (ms), cobertura de tests (%).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válidas: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todas, incluyendo razones ("el sistema A tiene el doble de defectos que B").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86209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Cualitativa — codificar, categorizar, saturar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41871" y="1343918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cualitativamente no significa "sin rigor" — significa usar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procedimientos sistemáticos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analizar datos no numéricos: texto, observaciones, entrevistas, documentos.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41871" y="2085380"/>
            <a:ext cx="247464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Confiabilidad entre jueces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41871" y="2451274"/>
            <a:ext cx="483125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investigadores codifican el mismo material de forma independiente. El acuerdo se mide con el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coeficiente Kappa de Cohen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41871" y="2959671"/>
            <a:ext cx="4831259" cy="499244"/>
          </a:xfrm>
          <a:prstGeom prst="roundRect">
            <a:avLst>
              <a:gd name="adj" fmla="val 10622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77" y="3149873"/>
            <a:ext cx="157758" cy="1262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2041" y="3103662"/>
            <a:ext cx="47520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Kappa &gt; 0.70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considera aceptable en investigación de IS.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41871" y="3627537"/>
            <a:ext cx="296986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— Lectura 1 (Wardle, 2020)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41871" y="3993431"/>
            <a:ext cx="483125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Draft codificó cientos de casos de contenido en redes sociales, asignó cada caso a una categoría, agrupó en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tipos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validó con múltiples investigadores. Resultado: la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taxonomía del desorden informativo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medición cualitativa rigurosa.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438224"/>
            <a:ext cx="765274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Cuantitativa — métricas, validez y confiabilidad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042839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medición cuantitativa en IS se apoya en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validadas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permiten comparar, generalizar y probar hipótesis con rigor estadístico.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132" y="1350913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9872" y="135091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Métricas de Código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9872" y="1609874"/>
            <a:ext cx="3624262" cy="1006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tamaño, proxy de complejidad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Complejidad Ciclomática (McCabe, 1976):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caminos independientes → predice mantenibilidad y defectos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CK (1994):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acoplamiento, cohesión, herencia, respuesta de clase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791" y="1350913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5531" y="1350913"/>
            <a:ext cx="15525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Métricas de Proceso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85531" y="1609874"/>
            <a:ext cx="3624337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 de defectos (bugs por KLOC)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resolución de issues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 del equipo (story points/sprint)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132" y="2833018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9872" y="2833018"/>
            <a:ext cx="16228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Métricas de Producto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79872" y="3091979"/>
            <a:ext cx="3624262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respuesta (ms)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 (%)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errores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9791" y="2833018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85531" y="2833018"/>
            <a:ext cx="17334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Validez y Confiabilidad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085531" y="3091979"/>
            <a:ext cx="3624337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Validez interna: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¿la métrica mide lo que dice medir?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Validez externa: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¿los resultados se generalizan?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Confiabilidad: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¿resultados consistentes al repetir?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34132" y="3848026"/>
            <a:ext cx="8275737" cy="857176"/>
          </a:xfrm>
          <a:prstGeom prst="roundRect">
            <a:avLst>
              <a:gd name="adj" fmla="val 6078"/>
            </a:avLst>
          </a:prstGeom>
          <a:solidFill>
            <a:srgbClr val="B6D6F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05" y="4032572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7084" y="3987478"/>
            <a:ext cx="774881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— Lectura 2 (Hussain &amp; Soomro, 2023):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30.7 millones de tweets analizados, 10% clasificados como misinformación, 4.59 mil millones de usuarios en 2022 (Statista), 50 artículos de cáncer evaluados por dos especialistas independientes con medición del acuerdo entre jueces.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27868"/>
            <a:ext cx="7794947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integrado: midiendo la desinformación digital en dos dimensiones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213768"/>
            <a:ext cx="8252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fenómeno —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Hussain &amp; Soomro (2023)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analizado con dos enfoques complementarios que se refuerzan mutuamente.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74489" y="1511126"/>
            <a:ext cx="18695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 Cualitativa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202" y="1822624"/>
            <a:ext cx="2552626" cy="9720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4600" y="1949872"/>
            <a:ext cx="141855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Revisión sistemática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4600" y="2180332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Codificación de hallazgos por sector: salud, política, medio ambiente, economía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8506" y="1822624"/>
            <a:ext cx="2552626" cy="9720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2904" y="1949872"/>
            <a:ext cx="180387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 I — 7 características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72904" y="2180332"/>
            <a:ext cx="2240979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Precisa, accesible, completa, actualizada, relevante, confiable, comprensible — escala nominal/categórica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6811" y="1822624"/>
            <a:ext cx="2552626" cy="9720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01209" y="1949872"/>
            <a:ext cx="145077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 II — Taxonomía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101209" y="2180332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por naturaleza e intención — clasificación cualitativa rigurosa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74489" y="2929682"/>
            <a:ext cx="197085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 Cuantitativa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74489" y="3297659"/>
            <a:ext cx="2523306" cy="372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30.7M</a:t>
            </a:r>
            <a:endParaRPr lang="en-US" sz="2900" dirty="0"/>
          </a:p>
        </p:txBody>
      </p:sp>
      <p:sp>
        <p:nvSpPr>
          <p:cNvPr id="16" name="Text 11"/>
          <p:cNvSpPr/>
          <p:nvPr/>
        </p:nvSpPr>
        <p:spPr>
          <a:xfrm>
            <a:off x="1230064" y="379444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Tweets analizados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74489" y="4024908"/>
            <a:ext cx="25233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de razón: conteo con cero absoluto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3310310" y="3297659"/>
            <a:ext cx="2523306" cy="372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2900" dirty="0"/>
          </a:p>
        </p:txBody>
      </p:sp>
      <p:sp>
        <p:nvSpPr>
          <p:cNvPr id="19" name="Text 14"/>
          <p:cNvSpPr/>
          <p:nvPr/>
        </p:nvSpPr>
        <p:spPr>
          <a:xfrm>
            <a:off x="3865885" y="379444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Misinformación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10310" y="4024908"/>
            <a:ext cx="252330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elecciones EE.UU. 2016 — escala de razón (porcentaje)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946130" y="3297659"/>
            <a:ext cx="2523306" cy="372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4.59B</a:t>
            </a:r>
            <a:endParaRPr lang="en-US" sz="2900" dirty="0"/>
          </a:p>
        </p:txBody>
      </p:sp>
      <p:sp>
        <p:nvSpPr>
          <p:cNvPr id="22" name="Text 17"/>
          <p:cNvSpPr/>
          <p:nvPr/>
        </p:nvSpPr>
        <p:spPr>
          <a:xfrm>
            <a:off x="6501705" y="379444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Usuarios en redes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946130" y="4024908"/>
            <a:ext cx="25233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— fuente Statista, escala de razón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843930" y="4552057"/>
            <a:ext cx="808270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datos cualitativos explican el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el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los cuantitativos demuestran la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magnitud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 paper robusto combina ambos enfoques.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74489" y="4450854"/>
            <a:ext cx="14288" cy="364778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62992"/>
            <a:ext cx="7642101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Delphi — cuando no hay datos suficientes, estructuramos el juicio experto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1228204"/>
            <a:ext cx="764210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Desarrollado por la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 Corporation en la década de 1950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obtener estimaciones sobre fenómenos donde no existen datos empíricos directos. Hoy es ampliamente usado en IS, especialmente en áreas emergentes.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64782" y="1641053"/>
            <a:ext cx="14288" cy="2637011"/>
          </a:xfrm>
          <a:prstGeom prst="roundRect">
            <a:avLst>
              <a:gd name="adj" fmla="val 325570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129385" y="1758479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4447356" y="164105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8879" y="1661815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48979" y="1679079"/>
            <a:ext cx="206923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Ronda 0 — Selección del panel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0912" y="1903958"/>
            <a:ext cx="326729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Expertos en el dominio, participación </a:t>
            </a:r>
            <a:pPr algn="r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anónima entre sí</a:t>
            </a:r>
            <a:pPr algn="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evitar sesgo de autoridad y groupthink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82207" y="2374478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4447356" y="2257053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8879" y="2277814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5641" y="2295079"/>
            <a:ext cx="15223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Ronda 1 — Exploración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5641" y="2519958"/>
            <a:ext cx="32673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Cuestionario abierto: "¿Cuáles son los factores más críticos para X?" Cada experto responde de forma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independiente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29385" y="2922984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7356" y="2805559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8879" y="2826321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19350" y="2843585"/>
            <a:ext cx="159886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 rondas — Análisis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0912" y="3068464"/>
            <a:ext cx="326729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investigador sintetiza respuestas, identifica consensos y disensos, construye el cuestionario de la siguiente ronda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82207" y="3471490"/>
            <a:ext cx="332259" cy="14288"/>
          </a:xfrm>
          <a:prstGeom prst="roundRect">
            <a:avLst>
              <a:gd name="adj" fmla="val 325570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7356" y="3354065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8879" y="3374827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5641" y="3392091"/>
            <a:ext cx="186466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Rondas 2+ — Convergencia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5641" y="3616970"/>
            <a:ext cx="3267373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expertos reciben el resumen anónimo y pueden ajustar posiciones. Se repite hasta alcanzar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consenso estable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(3–4 rondas)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0912" y="4375398"/>
            <a:ext cx="7642101" cy="405110"/>
          </a:xfrm>
          <a:prstGeom prst="roundRect">
            <a:avLst>
              <a:gd name="adj" fmla="val 11483"/>
            </a:avLst>
          </a:prstGeom>
          <a:solidFill>
            <a:srgbClr val="C7C9E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40" y="4535984"/>
            <a:ext cx="138410" cy="11072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10779" y="4489549"/>
            <a:ext cx="76287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una lista priorizada de factores, riesgos o estimaciones con nivel de consenso documentado y trazable.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809587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Cuándo y cómo se usa Delphi en Ingeniería de Software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1016198"/>
            <a:ext cx="214074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destacado en 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1282675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Kitchenham et al.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usaron Delphi para identificar las mejores prácticas en Revisiones Sistemáticas de Literatura — consultaron a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expertos en 3 rondas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de publicar las guías que hoy son estándar en IS.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4503" y="1899196"/>
            <a:ext cx="3759622" cy="8409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14503" y="203701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Ventajas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14503" y="2303487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 el sesgo de autoridad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participación remota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consenso documentado y trazable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14503" y="2943523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Limitaciones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14503" y="3209999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expertos disponibles y comprometidos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Múltiples rondas toman tiempo considerable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resultado depende de la calidad del panel seleccionado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14503" y="3861271"/>
            <a:ext cx="3759622" cy="742727"/>
          </a:xfrm>
          <a:prstGeom prst="roundRect">
            <a:avLst>
              <a:gd name="adj" fmla="val 6388"/>
            </a:avLst>
          </a:prstGeom>
          <a:solidFill>
            <a:srgbClr val="B6D6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463" y="4022601"/>
            <a:ext cx="141163" cy="1129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1587" y="3979441"/>
            <a:ext cx="327957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Poker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Scrum es una versión ágil del Delphi: los desarrolladores estiman en rondas hasta converger en un consenso.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449163"/>
            <a:ext cx="8504411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Guía de referencia rápida: ¿cuándo usar cada enfoque?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5219" y="1024756"/>
            <a:ext cx="82534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tres enfoques no son excluyentes — los mejores estudios en IS los combinan estratégicamente según la pregunta de investigación y la disponibilidad de datos.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45219" y="1490960"/>
            <a:ext cx="8253487" cy="3203377"/>
          </a:xfrm>
          <a:prstGeom prst="roundRect">
            <a:avLst>
              <a:gd name="adj" fmla="val 156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9788" y="1560984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91159" y="1560984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Cualitativa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9409" y="1560984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Cuantitativa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07659" y="1560984"/>
            <a:ext cx="252390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Delphi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9788" y="1872630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de dato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91159" y="1872630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Texto, observaciones, artefactos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9409" y="1872630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Números, métricas, estadísticas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07659" y="1872630"/>
            <a:ext cx="252390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Juicios de expertos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9788" y="2184276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típica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91159" y="2184276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Nominal / categórica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99409" y="2184276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Ordinal / razón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07659" y="2184276"/>
            <a:ext cx="252390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Ordinal (ranking, ratings)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9788" y="2495922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91159" y="2495922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Profundidad, contexto, significado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99409" y="2495922"/>
            <a:ext cx="252152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Precisión, generalización estadística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07659" y="2495922"/>
            <a:ext cx="252390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Consenso cuando no hay datos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9788" y="2807568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91159" y="2807568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Difícil generalizar, sesgo del investigador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99409" y="2807568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Pierde el "por qué", requiere muestra grande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07659" y="2807568"/>
            <a:ext cx="252390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 del panel, proceso lento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9788" y="3295576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Cuándo usarla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91159" y="3295576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Explorar fenómenos nuevos, comprender motivaciones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99409" y="3295576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magnitud, comparar grupos, probar hipótesis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07659" y="3295576"/>
            <a:ext cx="206670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Áreas sin evidencia empírica, estimación, priorización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9788" y="3783583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en 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91159" y="3783583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Codificar entrevistas sobre deuda técnica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99409" y="3783583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cobertura de tests antes y después de TDD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07659" y="3783583"/>
            <a:ext cx="206670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Estimar esfuerzo de proyecto innovador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9788" y="4271590"/>
            <a:ext cx="153464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lecturas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91159" y="4271590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1: 7 tipos de desorden informativo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99409" y="4271590"/>
            <a:ext cx="206432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2: 30.7M tweets, 10% misinformación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07659" y="4271590"/>
            <a:ext cx="206670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Kitchenham: guías de revisión sistemática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75493"/>
            <a:ext cx="43957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Síntesis y próximos pasos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806425"/>
            <a:ext cx="22670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Conceptos clave de hoy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640" y="1166813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158" y="116301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Escalas de Stevens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37158" y="1421978"/>
            <a:ext cx="366697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Nominal, ordinal, intervalo y razón determinan qué análisis son válidos. Usar una escala incorrecta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invalida los resultados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1166813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42818" y="1163017"/>
            <a:ext cx="15508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 Cualitativa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42818" y="1421978"/>
            <a:ext cx="366705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Codificación sistemática + saturación teórica + acuerdo entre jueces (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Kappa &gt; 0.70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Lectura 1 (Wardle) como caso de referencia.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640" y="2200945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7158" y="2197150"/>
            <a:ext cx="166211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 Cuantitativa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37158" y="2456111"/>
            <a:ext cx="3666976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válidas y confiables: LOC, complejidad ciclomática, métricas CK, métricas de proceso. Lectura 2 (Hussain &amp; Soomro) combina ambos enfoques.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6300" y="2200945"/>
            <a:ext cx="186035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42818" y="21971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 Delphi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042818" y="2456111"/>
            <a:ext cx="3667051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Consenso experto iterativo y anónimo — ideal cuando faltan datos empíricos directos.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Poker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su versión ágil en Scrum.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34132" y="3136255"/>
            <a:ext cx="8275737" cy="978247"/>
          </a:xfrm>
          <a:prstGeom prst="roundRect">
            <a:avLst>
              <a:gd name="adj" fmla="val 5326"/>
            </a:avLst>
          </a:prstGeom>
          <a:solidFill>
            <a:srgbClr val="C7C9E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05" y="3292450"/>
            <a:ext cx="193774" cy="1550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5854" y="3275707"/>
            <a:ext cx="3408983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INVB8 — Investigación Bibliográfica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75854" y="3582814"/>
            <a:ext cx="771004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 un mini-instrumento de medición para tu INVB5. Define: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(1)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¿Qué variable medirías si replicaras el estudio?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¿Qué escala usarías (nominal/ordinal/razón)?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(3)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verificarías la validez de tu medición?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1 página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trae a clase para discusión.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34132" y="4236541"/>
            <a:ext cx="949003" cy="223317"/>
          </a:xfrm>
          <a:prstGeom prst="roundRect">
            <a:avLst>
              <a:gd name="adj" fmla="val 18664"/>
            </a:avLst>
          </a:prstGeom>
          <a:solidFill>
            <a:srgbClr val="DADBF1"/>
          </a:solidFill>
          <a:ln/>
        </p:spPr>
      </p:sp>
      <p:sp>
        <p:nvSpPr>
          <p:cNvPr id="21" name="Text 14"/>
          <p:cNvSpPr/>
          <p:nvPr/>
        </p:nvSpPr>
        <p:spPr>
          <a:xfrm>
            <a:off x="508546" y="4273748"/>
            <a:ext cx="1257374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CLASE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434132" y="4581897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Empíricos en IS — tipos, características y comparativa entre enfoques experimentales, cuasi-experimentales y observacionales.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2026-06-04T15:30:27Z</dcterms:created>
  <dcterms:modified xsi:type="dcterms:W3CDTF">2026-06-04T15:30:27Z</dcterms:modified>
</cp:coreProperties>
</file>