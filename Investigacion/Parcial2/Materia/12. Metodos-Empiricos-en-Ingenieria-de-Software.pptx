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0294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Empíricos en Ingeniería de Software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601516"/>
            <a:ext cx="1318543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2644006"/>
            <a:ext cx="160563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12 · UNIDAD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3027387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Marcelo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6623" y="313581"/>
            <a:ext cx="4038302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Debate que Cambió la IS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82715" y="886792"/>
            <a:ext cx="477366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software se puede probar matemáticamente. No necesitamos experimentos." — Pensamiento formal dominante en IS hasta los 90s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816623" y="1483444"/>
            <a:ext cx="194890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Realidad del Sector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2335" y="1753791"/>
            <a:ext cx="2349103" cy="8250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84501" y="1878806"/>
            <a:ext cx="163279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70% de proyectos fallan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984501" y="2138288"/>
            <a:ext cx="204192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se entregan tarde según el Standish Group (2020)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2335" y="2665288"/>
            <a:ext cx="2349103" cy="9980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84501" y="2790304"/>
            <a:ext cx="2041922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Técnicas "probadas" sin evidencia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984501" y="3222799"/>
            <a:ext cx="204192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obligatorio o CMM Level 5 no mostraban mejoras reproducibles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2335" y="3749799"/>
            <a:ext cx="2349103" cy="9827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84501" y="3874815"/>
            <a:ext cx="157705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Adopción por anécdota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3984501" y="4134296"/>
            <a:ext cx="204192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programming, TDD y metodologías ágiles adoptadas sin evidencia empírica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6426324" y="1483444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Giro Empírico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592416" y="1831628"/>
            <a:ext cx="2168723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"Necesitamos medir, observar y experimentar — no solo razonar formalmente sobre el software" — Basili, 1993; Wohlin et al., 2012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6426324" y="2637830"/>
            <a:ext cx="2334816" cy="842070"/>
          </a:xfrm>
          <a:prstGeom prst="roundRect">
            <a:avLst>
              <a:gd name="adj" fmla="val 5524"/>
            </a:avLst>
          </a:prstGeom>
          <a:solidFill>
            <a:srgbClr val="B6FCB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052" y="2798415"/>
            <a:ext cx="138410" cy="1107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86190" y="2743349"/>
            <a:ext cx="186422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métodos empíricos son la respuesta: estudiar el software y su desarrollo tal como ocurre en la práctica real.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22287"/>
            <a:ext cx="5106516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Método Empírico en IS?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69156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7336" y="1121718"/>
            <a:ext cx="361220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método empírico en IS es cualquier estrategia de investigación que basa sus conclusiones en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 sistemática, medición y evidencia recolectada del mundo real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solo en razonamiento formal o modelos teóricos.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7336" y="1828354"/>
            <a:ext cx="3612207" cy="816918"/>
          </a:xfrm>
          <a:prstGeom prst="roundRect">
            <a:avLst>
              <a:gd name="adj" fmla="val 5580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31" y="1983284"/>
            <a:ext cx="135657" cy="108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9984" y="1930226"/>
            <a:ext cx="3151063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 clave con métodos lógicos: el método empírico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mide lo que realmente ocurre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el desarrollo de software, mientras que los métodos deductivo/inductivo razonan desde o hacia principios generales.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09071" y="869156"/>
            <a:ext cx="355505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Esenciales (Wohlin et al., 2012)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071" y="1132136"/>
            <a:ext cx="1764581" cy="1194271"/>
          </a:xfrm>
          <a:prstGeom prst="roundRect">
            <a:avLst>
              <a:gd name="adj" fmla="val 381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2329" y="1245394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1849" y="1334914"/>
            <a:ext cx="146521" cy="1465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2329" y="165400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22329" y="1906563"/>
            <a:ext cx="153806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fenómenos reales o controlados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556697" y="1132136"/>
            <a:ext cx="1764581" cy="1194271"/>
          </a:xfrm>
          <a:prstGeom prst="roundRect">
            <a:avLst>
              <a:gd name="adj" fmla="val 381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69956" y="1245394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9476" y="1334914"/>
            <a:ext cx="146521" cy="1465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9956" y="165400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669956" y="1906563"/>
            <a:ext cx="153806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cuantificadas con instrumentos definidos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709071" y="2409453"/>
            <a:ext cx="1764581" cy="1194271"/>
          </a:xfrm>
          <a:prstGeom prst="roundRect">
            <a:avLst>
              <a:gd name="adj" fmla="val 381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22329" y="2522711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1849" y="2612231"/>
            <a:ext cx="146521" cy="1465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22329" y="293131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Sistematicidad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822329" y="3183880"/>
            <a:ext cx="153806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replicable, no improvisado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556697" y="2409453"/>
            <a:ext cx="1764581" cy="1194271"/>
          </a:xfrm>
          <a:prstGeom prst="roundRect">
            <a:avLst>
              <a:gd name="adj" fmla="val 381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69956" y="2522711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9476" y="2612231"/>
            <a:ext cx="146521" cy="1465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69956" y="293131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669956" y="3183880"/>
            <a:ext cx="153806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Amenazas a la validez explícitamente controladas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709071" y="3686770"/>
            <a:ext cx="3612207" cy="1040978"/>
          </a:xfrm>
          <a:prstGeom prst="roundRect">
            <a:avLst>
              <a:gd name="adj" fmla="val 437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822329" y="3800029"/>
            <a:ext cx="325562" cy="325562"/>
          </a:xfrm>
          <a:prstGeom prst="roundRect">
            <a:avLst>
              <a:gd name="adj" fmla="val 17552505"/>
            </a:avLst>
          </a:prstGeom>
          <a:solidFill>
            <a:srgbClr val="4950B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1849" y="3889549"/>
            <a:ext cx="146521" cy="1465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22329" y="420863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Replicabilidad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822329" y="4461197"/>
            <a:ext cx="338569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Otros investigadores pueden repetir el estudio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552703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Taxonomía de Métodos Empíricos en IS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según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Wohlin et al. (2012)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Easterbrook et al. (2007)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6392" y="2183829"/>
            <a:ext cx="206595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Criterio Clave para Elegir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865861" y="2511326"/>
            <a:ext cx="38361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pregunta de investigación determina el método — no al revés.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2104" y="2807271"/>
            <a:ext cx="1733699" cy="8869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1230" y="2821558"/>
            <a:ext cx="158457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Mayor control → Mayor validez interna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41230" y="3233440"/>
            <a:ext cx="158457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Experimentos controlados en laboratorio permiten establecer causalidad con precisión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1156" y="2807271"/>
            <a:ext cx="1733699" cy="8869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60282" y="2821558"/>
            <a:ext cx="158457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Menor control → Mayor validez externa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660282" y="3233440"/>
            <a:ext cx="158457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Estudios en contexto real permiten generalizar a situaciones del mundo real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7853" y="305023"/>
            <a:ext cx="5017294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Experimentos Controlados y Cuasi-Experimentos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777853" y="1103114"/>
            <a:ext cx="2387054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Estándar de Oro: Experimento Controlado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7853" y="1493267"/>
            <a:ext cx="2387054" cy="7251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14329" y="1762423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260875" y="160719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Nula (H₀)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260875" y="1832893"/>
            <a:ext cx="1790105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TDD no produce menos defectos que el desarrollo tradicional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7853" y="2288456"/>
            <a:ext cx="2387054" cy="7251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14329" y="2557611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260875" y="2402384"/>
            <a:ext cx="166315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Independiente (VI)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260875" y="2628081"/>
            <a:ext cx="1790105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 de desarrollo: TDD vs. tradicional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7853" y="3083644"/>
            <a:ext cx="2387054" cy="7251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14329" y="3352800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260875" y="3197572"/>
            <a:ext cx="161478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Dependiente (VD)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260875" y="3423270"/>
            <a:ext cx="1790105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 de defectos y tiempo de desarrollo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7853" y="3878833"/>
            <a:ext cx="2387054" cy="8808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14329" y="4225826"/>
            <a:ext cx="1494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260875" y="3992761"/>
            <a:ext cx="1790105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Grupos Asignados Aleatoriamente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4260875" y="4374133"/>
            <a:ext cx="1790105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control + grupo experimental con asignación aleatoria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6412855" y="1103114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Casos Clásicos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6412855" y="1337593"/>
            <a:ext cx="2387054" cy="583183"/>
          </a:xfrm>
          <a:prstGeom prst="roundRect">
            <a:avLst>
              <a:gd name="adj" fmla="val 7179"/>
            </a:avLst>
          </a:prstGeom>
          <a:solidFill>
            <a:srgbClr val="C7C9EA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2496" y="1474887"/>
            <a:ext cx="124569" cy="996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36705" y="1425476"/>
            <a:ext cx="196356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Müller &amp; Hagner (2002):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Experimento con 19 estudiantes — TDD no mejoró calidad pero sí cobertura de pruebas.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6412855" y="1999580"/>
            <a:ext cx="273114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Cuasi-Experimento: Sin Aleatorización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6412855" y="2225278"/>
            <a:ext cx="238705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Williams et al. (2000): pair programming en curso universitario → 15% más calidad, sin asignación aleatoria.</a:t>
            </a:r>
            <a:endParaRPr lang="en-US" sz="750" dirty="0"/>
          </a:p>
        </p:txBody>
      </p:sp>
      <p:sp>
        <p:nvSpPr>
          <p:cNvPr id="27" name="Shape 19"/>
          <p:cNvSpPr/>
          <p:nvPr/>
        </p:nvSpPr>
        <p:spPr>
          <a:xfrm>
            <a:off x="6412855" y="2711500"/>
            <a:ext cx="2387054" cy="583183"/>
          </a:xfrm>
          <a:prstGeom prst="roundRect">
            <a:avLst>
              <a:gd name="adj" fmla="val 7179"/>
            </a:avLst>
          </a:prstGeom>
          <a:solidFill>
            <a:srgbClr val="FCF2B5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2496" y="2848794"/>
            <a:ext cx="124569" cy="996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36705" y="2799383"/>
            <a:ext cx="196356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Limitación: factores de confusión no controlados como experiencia previa y motivación.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6412855" y="3373487"/>
            <a:ext cx="2186062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Usar Experimento?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6412855" y="3599185"/>
            <a:ext cx="238705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necesitas establecer </a:t>
            </a:r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causalidad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puedes controlar el entorno (laboratorio, ambiente académico).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04292"/>
            <a:ext cx="547188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Estudios de Caso y Encuestas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40" y="1099468"/>
            <a:ext cx="1517675" cy="937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640" y="2203698"/>
            <a:ext cx="2616696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 de Caso (Runeson &amp; Höst, 2009)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0640" y="2712541"/>
            <a:ext cx="2616696" cy="2026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Estudia un fenómeno IS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su contexto real</a:t>
            </a:r>
            <a:pPr algn="l" indent="0" marL="0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empresa, proyecto o equipo. Utiliza múltiples fuentes de evidencia: entrevistas, observación, documentos y métricas. No busca generalización estadística, sino comprensión profunda.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adoptan las empresas DevOps? → 5 empresas, análisis cruzado (Lwakatare et al., 2016)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578" y="1099468"/>
            <a:ext cx="1517675" cy="937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3578" y="220369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 (Survey)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63578" y="2498006"/>
            <a:ext cx="2616771" cy="2026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Recolecta datos de una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muestra representativa</a:t>
            </a:r>
            <a:pPr algn="l" indent="0" marL="0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población IS mediante cuestionario estructurado o semiestructurado. Permite generalizaciones estadísticas si el muestreo es riguroso.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Overflow Developer Survey 2023: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90,000 desarrolladores → referencia anual sobre tendencias IS.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589" y="1099468"/>
            <a:ext cx="1517675" cy="9379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589" y="2203698"/>
            <a:ext cx="2616696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Real — Lectura 2 (Hussain &amp; Soomro, 2023)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589" y="2712541"/>
            <a:ext cx="2616696" cy="159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30.7 millones de tweets</a:t>
            </a:r>
            <a:pPr algn="l" indent="0" marL="0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taxonomía de 4 tipos de contenido. Combina encuesta/survey con análisis cuantitativo de redes sociales.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mixto con base empírica: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observación + medición + categorización sistemática.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05991"/>
            <a:ext cx="4672161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Etnografía e Investigación-Acción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56605" y="1393180"/>
            <a:ext cx="1161604" cy="173013"/>
          </a:xfrm>
          <a:prstGeom prst="roundRect">
            <a:avLst>
              <a:gd name="adj" fmla="val 19789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1117699" y="1423690"/>
            <a:ext cx="1496616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 INMERSIVA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056605" y="1595438"/>
            <a:ext cx="17308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Etnografía en 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6605" y="1827907"/>
            <a:ext cx="2299171" cy="700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investigador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 in situ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cómo trabajan equipos de desarrollo. Implica inmersión en el contexto: reuniones, stand-ups, revisiones de código. Produce datos cualitativos ricos sobre comportamientos, cultura y fricción implícita.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6605" y="2610520"/>
            <a:ext cx="2299171" cy="742801"/>
          </a:xfrm>
          <a:prstGeom prst="roundRect">
            <a:avLst>
              <a:gd name="adj" fmla="val 576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478" y="2753469"/>
            <a:ext cx="127322" cy="1018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7673" y="2701826"/>
            <a:ext cx="186623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Sharp et al. (2009) — etnografía de equipos XP: el "planning game" no funcionaba como describían los libros.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056605" y="3435697"/>
            <a:ext cx="2299171" cy="742801"/>
          </a:xfrm>
          <a:prstGeom prst="roundRect">
            <a:avLst>
              <a:gd name="adj" fmla="val 5761"/>
            </a:avLst>
          </a:prstGeom>
          <a:solidFill>
            <a:srgbClr val="C7C9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78" y="3578647"/>
            <a:ext cx="127322" cy="1018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7673" y="3527003"/>
            <a:ext cx="186623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¿Cuándo usar etnografía?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Cuando la pregunta es </a:t>
            </a:r>
            <a:pPr algn="l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realmente trabajan?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la práctica real diverge del proceso documentado.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09082" y="816546"/>
            <a:ext cx="1054596" cy="173013"/>
          </a:xfrm>
          <a:prstGeom prst="roundRect">
            <a:avLst>
              <a:gd name="adj" fmla="val 19789"/>
            </a:avLst>
          </a:prstGeom>
          <a:solidFill>
            <a:srgbClr val="DADBF1"/>
          </a:solidFill>
          <a:ln/>
        </p:spPr>
      </p:sp>
      <p:sp>
        <p:nvSpPr>
          <p:cNvPr id="14" name="Text 10"/>
          <p:cNvSpPr/>
          <p:nvPr/>
        </p:nvSpPr>
        <p:spPr>
          <a:xfrm>
            <a:off x="3670176" y="847055"/>
            <a:ext cx="1389608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PARTICIPACIÓN ACTIVA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3609082" y="1018803"/>
            <a:ext cx="292759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Investigación-Acción (Action Research)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09082" y="1251272"/>
            <a:ext cx="448292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investigador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 activamente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la mejora del proceso, combinando rigor académico con impacto práctico inmediato.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082" y="1613743"/>
            <a:ext cx="4482926" cy="21912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48463" y="2367686"/>
            <a:ext cx="1045105" cy="13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Planificar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191956" y="1866036"/>
            <a:ext cx="1045105" cy="13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Actuar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707468" y="2897206"/>
            <a:ext cx="1045105" cy="13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Observar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459403" y="3408146"/>
            <a:ext cx="1045105" cy="13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Reflexionar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609082" y="3887391"/>
            <a:ext cx="4482926" cy="462707"/>
          </a:xfrm>
          <a:prstGeom prst="roundRect">
            <a:avLst>
              <a:gd name="adj" fmla="val 9249"/>
            </a:avLst>
          </a:prstGeom>
          <a:solidFill>
            <a:srgbClr val="B6D6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955" y="4030340"/>
            <a:ext cx="127322" cy="1018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940150" y="3978697"/>
            <a:ext cx="404998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consultor implementa Scrum en una empresa, mide resultados, ajusta y publica los hallazgos (Dick, 2002).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609082" y="4432474"/>
            <a:ext cx="4482926" cy="322659"/>
          </a:xfrm>
          <a:prstGeom prst="roundRect">
            <a:avLst>
              <a:gd name="adj" fmla="val 13264"/>
            </a:avLst>
          </a:prstGeom>
          <a:solidFill>
            <a:srgbClr val="C7C9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955" y="4575423"/>
            <a:ext cx="127322" cy="1018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40150" y="4523780"/>
            <a:ext cx="450718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¿Cuándo usar?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Cuando el objetivo es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una práctica, no solo describirla.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79437"/>
            <a:ext cx="7581677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en Acción: Métodos Empíricos Reales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4518" y="1184002"/>
            <a:ext cx="84715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 NASA: ninguna conclusión sin datos. Ningún dato sin protocolo. Ningún protocolo sin validación.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5162" y="1670224"/>
            <a:ext cx="4044553" cy="1587624"/>
          </a:xfrm>
          <a:prstGeom prst="roundRect">
            <a:avLst>
              <a:gd name="adj" fmla="val 351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2828" y="1807890"/>
            <a:ext cx="181458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GeneLab — Open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2828" y="2090291"/>
            <a:ext cx="3769221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Experimentos biológicos en microgravedad → datos empíricos de condiciones no reproducibles en Tierra.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experimento controlado con grupos en ISS vs. Tierra. Datos abiertos bajo licencia CC para replicación global.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4285" y="1670224"/>
            <a:ext cx="4044553" cy="1587624"/>
          </a:xfrm>
          <a:prstGeom prst="roundRect">
            <a:avLst>
              <a:gd name="adj" fmla="val 351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1951" y="1807890"/>
            <a:ext cx="1869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Tsunami Early Warning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1951" y="2090291"/>
            <a:ext cx="376922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sensores sísmicos + análisis de encuestas a comunidades costeras.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mixto: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cuantitativo (sensores) + cualitativo (respuesta comunitaria). Resultado: modelos predictivos validados empíricamente.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162" y="3382417"/>
            <a:ext cx="4044553" cy="1381646"/>
          </a:xfrm>
          <a:prstGeom prst="roundRect">
            <a:avLst>
              <a:gd name="adj" fmla="val 40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828" y="352008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Hurricane Ida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2828" y="3802484"/>
            <a:ext cx="376922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Observación satelital + mediciones in situ de inundaciones.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estudio observacional longitudinal (antes/durante/después del evento).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4285" y="3382417"/>
            <a:ext cx="4044553" cy="1381646"/>
          </a:xfrm>
          <a:prstGeom prst="roundRect">
            <a:avLst>
              <a:gd name="adj" fmla="val 40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951" y="3520083"/>
            <a:ext cx="21233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JWST CO₂ en Exoplanetas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1951" y="3802484"/>
            <a:ext cx="376922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 espectroscópica directa → primera detección empírica de CO₂ atmosférico. Publicado como preprint + paper revisado por pares + datos abiertos para la comunidad científica.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5292"/>
            <a:ext cx="6104855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Comparativa de Métodos Empíricos en 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48246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de decisión para investigadores IS — basada en Wohlin et al. (2012) y Easterbrook et al. (2007)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4489" y="1111821"/>
            <a:ext cx="7794947" cy="2970907"/>
          </a:xfrm>
          <a:prstGeom prst="roundRect">
            <a:avLst>
              <a:gd name="adj" fmla="val 15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435" y="1175296"/>
            <a:ext cx="1554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115889" y="1175296"/>
            <a:ext cx="163264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Clave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17255" y="1175296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 Principal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74295" y="1175296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Limitación Principal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31335" y="1175296"/>
            <a:ext cx="21775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92435" y="1459855"/>
            <a:ext cx="109753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controlado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15889" y="1459855"/>
            <a:ext cx="163264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¿X causa Y?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17255" y="1459855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Validez interna alta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4295" y="1459855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Validez externa baja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31335" y="1459855"/>
            <a:ext cx="17203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TDD vs. tradicional (Müller, 2002)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2435" y="1906786"/>
            <a:ext cx="1554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Cuasi-experimento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15889" y="1906786"/>
            <a:ext cx="117544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¿X y Y difieren en práctica?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17255" y="1906786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real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4295" y="1906786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Factores de confusión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31335" y="1906786"/>
            <a:ext cx="17203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programming (Williams, 2000)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2435" y="2353717"/>
            <a:ext cx="1554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15889" y="2353717"/>
            <a:ext cx="163264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ocurre X?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17255" y="2353717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Profundidad y contexto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4295" y="2353717"/>
            <a:ext cx="13311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generalizable estadísticamente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31335" y="2353717"/>
            <a:ext cx="17203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 DevOps (Lwakatare, 2016)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2435" y="2800648"/>
            <a:ext cx="1554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15889" y="2800648"/>
            <a:ext cx="117544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hace/piensa la comunidad?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17255" y="2800648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Generalización y escala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4295" y="2800648"/>
            <a:ext cx="13311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Superficialidad, sesgo respuesta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31335" y="2800648"/>
            <a:ext cx="17203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Overflow Survey; Lectura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92435" y="3247579"/>
            <a:ext cx="1554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Etnografía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15889" y="3247579"/>
            <a:ext cx="117544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trabajan realmente?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17255" y="3247579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Riqueza cualitativa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4295" y="3247579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Costosa, no replicable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31335" y="3247579"/>
            <a:ext cx="21775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Equipos XP (Sharp, 2009)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2435" y="3694509"/>
            <a:ext cx="109753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Investigación-acción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15889" y="3694509"/>
            <a:ext cx="163264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mejoramos X?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17255" y="3694509"/>
            <a:ext cx="17883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práctico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74295" y="3694509"/>
            <a:ext cx="13311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Subjetividad del investigador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31335" y="3694509"/>
            <a:ext cx="21775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 adoption (Dick, 2002)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4489" y="4183931"/>
            <a:ext cx="7794947" cy="543074"/>
          </a:xfrm>
          <a:prstGeom prst="roundRect">
            <a:avLst>
              <a:gd name="adj" fmla="val 8737"/>
            </a:avLst>
          </a:prstGeom>
          <a:solidFill>
            <a:srgbClr val="B6FCB8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50" y="4335735"/>
            <a:ext cx="141163" cy="112961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41574" y="4293096"/>
            <a:ext cx="731490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Triangulación: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combinar ≥2 métodos para compensar limitaciones individuales → Lectura 1 (Wardle) + Lectura 2 (Hussain) = cualitativo + cuantitativo sobre el mismo fenómeno de desinformación.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94754"/>
            <a:ext cx="3819227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 de Unidad 2 e INVB9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796156"/>
            <a:ext cx="293876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Unidad 2 — Lo que Aprendiste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6605" y="1037779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56605" y="1196578"/>
            <a:ext cx="3391049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056605" y="127605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6605" y="1508522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necesitamos conocimiento riguroso (EBSE, folklore en IS)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6605" y="1798141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56605" y="1956941"/>
            <a:ext cx="3391049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1056605" y="2036415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6605" y="2268885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Taxonomía de métodos (Easterbrook 2007)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6605" y="2558504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56605" y="2717304"/>
            <a:ext cx="3391049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6605" y="2796778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6605" y="3029248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Razonamiento lógico: deductivo, inductivo, hipotético-deductivo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6605" y="3318867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56605" y="3477667"/>
            <a:ext cx="3391049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6605" y="3557141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6605" y="3789611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 cualitativa, cuantitativa y Método Delphi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6605" y="4079230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6605" y="4238030"/>
            <a:ext cx="3391049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6605" y="431750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6605" y="4549973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empíricos — el cierre del ciclo de la Unidad 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0960" y="805309"/>
            <a:ext cx="1419448" cy="173013"/>
          </a:xfrm>
          <a:prstGeom prst="roundRect">
            <a:avLst>
              <a:gd name="adj" fmla="val 19789"/>
            </a:avLst>
          </a:prstGeom>
          <a:solidFill>
            <a:srgbClr val="DADBF1"/>
          </a:solidFill>
          <a:ln/>
        </p:spPr>
      </p:sp>
      <p:sp>
        <p:nvSpPr>
          <p:cNvPr id="25" name="Text 23"/>
          <p:cNvSpPr/>
          <p:nvPr/>
        </p:nvSpPr>
        <p:spPr>
          <a:xfrm>
            <a:off x="4762054" y="835819"/>
            <a:ext cx="1754460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INVB9 — TAREA FINAL UNIDAD 2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700960" y="1007566"/>
            <a:ext cx="211053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Investigación Bibliográfica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0960" y="1240036"/>
            <a:ext cx="339104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 el paper académico que identificaste en INVB5. Responde con evidencia textual: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0960" y="1585987"/>
            <a:ext cx="3391049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método empírico utiliza? (experimento, caso de estudio, encuesta, etnografía, otro) Cita la sección del paper donde lo describen.</a:t>
            </a:r>
            <a:endParaRPr lang="en-US" sz="800" dirty="0"/>
          </a:p>
          <a:p>
            <a:pPr algn="l" marL="342900" indent="-34290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amenazas a la validez reportan los autores? (interna, externa, constructo, conclusión)</a:t>
            </a:r>
            <a:endParaRPr lang="en-US" sz="800" dirty="0"/>
          </a:p>
          <a:p>
            <a:pPr algn="l" marL="342900" indent="-34290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¿Podrías haber usado un método empírico diferente para responder la misma pregunta de investigación? Justifica con argumentos de Wohlin et al. (2012).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0960" y="2839938"/>
            <a:ext cx="3391049" cy="462707"/>
          </a:xfrm>
          <a:prstGeom prst="roundRect">
            <a:avLst>
              <a:gd name="adj" fmla="val 9249"/>
            </a:avLst>
          </a:prstGeom>
          <a:solidFill>
            <a:srgbClr val="B6D6FC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2832" y="2982888"/>
            <a:ext cx="127322" cy="1018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32028" y="2931244"/>
            <a:ext cx="295810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página, APA 7ª edición ·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próxima clase ·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oral: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 minutos por estudiante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53732" y="3450878"/>
            <a:ext cx="323827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diferencia entre un ingeniero de software y un científico de la ingeniería de software es que el segundo puede demostrar lo que afirma." — Adaptado de Basili, 1993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2026-06-11T16:15:54Z</dcterms:created>
  <dcterms:modified xsi:type="dcterms:W3CDTF">2026-06-11T16:15:54Z</dcterms:modified>
</cp:coreProperties>
</file>