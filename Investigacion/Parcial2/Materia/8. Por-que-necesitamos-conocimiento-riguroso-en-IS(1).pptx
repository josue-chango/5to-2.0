
<file path=[Content_Types].xml><?xml version="1.0" encoding="utf-8"?>
<Types xmlns="http://schemas.openxmlformats.org/package/2006/content-types">
  <Default Extension="fntdata" ContentType="application/x-fontdata"/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notesMasterIdLst>
    <p:notesMasterId r:id="rId12"/>
  </p:notesMasterIdLst>
  <p:sldSz cx="9144000" cy="5143500"/>
  <p:notesSz cx="5143500" cy="9144000"/>
  <p:embeddedFontLst>
    <p:embeddedFont>
      <p:font typeface="Inter Bold"/>
      <p:regular r:id="rId17"/>
    </p:embeddedFont>
    <p:embeddedFont>
      <p:font typeface="Inter"/>
      <p:regular r:id="rId18"/>
    </p:embeddedFont>
  </p:embeddedFon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notesMaster" Target="notesMasters/notesMaster1.xml"/><Relationship Id="rId13" Type="http://schemas.openxmlformats.org/officeDocument/2006/relationships/presProps" Target="presProps.xml"/><Relationship Id="rId14" Type="http://schemas.openxmlformats.org/officeDocument/2006/relationships/viewProps" Target="viewProps.xml"/><Relationship Id="rId15" Type="http://schemas.openxmlformats.org/officeDocument/2006/relationships/theme" Target="theme/theme1.xml"/><Relationship Id="rId16" Type="http://schemas.openxmlformats.org/officeDocument/2006/relationships/tableStyles" Target="tableStyles.xml"/><Relationship Id="rId17" Type="http://schemas.openxmlformats.org/officeDocument/2006/relationships/font" Target="fonts/font1.fntdata"/><Relationship Id="rId18" Type="http://schemas.openxmlformats.org/officeDocument/2006/relationships/font" Target="fonts/font2.fntdata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2-1.png"/><Relationship Id="rId3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3-1.png"/><Relationship Id="rId3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4-1.png"/><Relationship Id="rId3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5-1.png"/><Relationship Id="rId3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6-1.png"/><Relationship Id="rId3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7-1.png"/><Relationship Id="rId3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8-1.png"/><Relationship Id="rId3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09-1.png"/><Relationship Id="rId3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0-1.png"/><Relationship Id="rId3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hyperlink" Target="https://gamma.app/?utm_source=made-with-gamma" TargetMode="External"/><Relationship Id="rId1" Type="http://schemas.openxmlformats.org/officeDocument/2006/relationships/image" Target="../media/image-1011-1.png"/><Relationship Id="rId3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2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3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4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5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6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7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8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9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lide 10 mast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rgbClr val="FFFFFF"/>
          </a:solidFill>
          <a:ln/>
        </p:spPr>
      </p:sp>
      <p:pic>
        <p:nvPicPr>
          <p:cNvPr id="3" name="Image 0" descr="preencoded.png">
            <a:hlinkClick r:id="rId2" tooltip=""/>
      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8029180" y="4844491"/>
            <a:ext cx="1071843" cy="256032"/>
          </a:xfrm>
          <a:prstGeom prst="rect">
            <a:avLst/>
          </a:prstGeom>
        </p:spPr>
      </p:pic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-1.png"/><Relationship Id="rId2" Type="http://schemas.openxmlformats.org/officeDocument/2006/relationships/slideLayout" Target="../slideLayouts/slideLayout2.xml"/><Relationship Id="rId3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image" Target="../media/image-2-1.png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image" Target="../media/image-3-1.png"/><Relationship Id="rId2" Type="http://schemas.openxmlformats.org/officeDocument/2006/relationships/image" Target="../media/image-3-2.svg"/><Relationship Id="rId3" Type="http://schemas.openxmlformats.org/officeDocument/2006/relationships/image" Target="../media/image-3-3.png"/><Relationship Id="rId4" Type="http://schemas.openxmlformats.org/officeDocument/2006/relationships/image" Target="../media/image-3-4.svg"/><Relationship Id="rId5" Type="http://schemas.openxmlformats.org/officeDocument/2006/relationships/image" Target="../media/image-3-5.png"/><Relationship Id="rId6" Type="http://schemas.openxmlformats.org/officeDocument/2006/relationships/image" Target="../media/image-3-6.svg"/><Relationship Id="rId7" Type="http://schemas.openxmlformats.org/officeDocument/2006/relationships/image" Target="../media/image-3-7.png"/><Relationship Id="rId8" Type="http://schemas.openxmlformats.org/officeDocument/2006/relationships/image" Target="../media/image-3-8.svg"/><Relationship Id="rId9" Type="http://schemas.openxmlformats.org/officeDocument/2006/relationships/image" Target="../media/image-3-9.png"/><Relationship Id="rId10" Type="http://schemas.openxmlformats.org/officeDocument/2006/relationships/slideLayout" Target="../slideLayouts/slideLayout4.xml"/><Relationship Id="rId11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image" Target="../media/image-4-1.png"/><Relationship Id="rId2" Type="http://schemas.openxmlformats.org/officeDocument/2006/relationships/image" Target="../media/image-4-2.svg"/><Relationship Id="rId3" Type="http://schemas.openxmlformats.org/officeDocument/2006/relationships/image" Target="../media/image-4-3.png"/><Relationship Id="rId4" Type="http://schemas.openxmlformats.org/officeDocument/2006/relationships/image" Target="../media/image-4-4.svg"/><Relationship Id="rId5" Type="http://schemas.openxmlformats.org/officeDocument/2006/relationships/image" Target="../media/image-4-5.png"/><Relationship Id="rId6" Type="http://schemas.openxmlformats.org/officeDocument/2006/relationships/image" Target="../media/image-4-6.svg"/><Relationship Id="rId7" Type="http://schemas.openxmlformats.org/officeDocument/2006/relationships/image" Target="../media/image-4-7.png"/><Relationship Id="rId8" Type="http://schemas.openxmlformats.org/officeDocument/2006/relationships/image" Target="../media/image-4-8.svg"/><Relationship Id="rId9" Type="http://schemas.openxmlformats.org/officeDocument/2006/relationships/image" Target="../media/image-4-9.png"/><Relationship Id="rId10" Type="http://schemas.openxmlformats.org/officeDocument/2006/relationships/image" Target="../media/image-4-10.svg"/><Relationship Id="rId11" Type="http://schemas.openxmlformats.org/officeDocument/2006/relationships/image" Target="../media/image-4-11.png"/><Relationship Id="rId12" Type="http://schemas.openxmlformats.org/officeDocument/2006/relationships/slideLayout" Target="../slideLayouts/slideLayout5.xml"/><Relationship Id="rId13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image" Target="../media/image-5-1.png"/><Relationship Id="rId2" Type="http://schemas.openxmlformats.org/officeDocument/2006/relationships/image" Target="../media/image-5-2.png"/><Relationship Id="rId3" Type="http://schemas.openxmlformats.org/officeDocument/2006/relationships/slideLayout" Target="../slideLayouts/slideLayout6.xml"/><Relationship Id="rId4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image" Target="../media/image-6-1.png"/><Relationship Id="rId2" Type="http://schemas.openxmlformats.org/officeDocument/2006/relationships/image" Target="../media/image-6-2.png"/><Relationship Id="rId3" Type="http://schemas.openxmlformats.org/officeDocument/2006/relationships/image" Target="../media/image-6-3.png"/><Relationship Id="rId4" Type="http://schemas.openxmlformats.org/officeDocument/2006/relationships/slideLayout" Target="../slideLayouts/slideLayout7.xml"/><Relationship Id="rId5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image" Target="../media/image-7-1.png"/><Relationship Id="rId2" Type="http://schemas.openxmlformats.org/officeDocument/2006/relationships/image" Target="../media/image-7-2.png"/><Relationship Id="rId3" Type="http://schemas.openxmlformats.org/officeDocument/2006/relationships/image" Target="../media/image-7-3.png"/><Relationship Id="rId4" Type="http://schemas.openxmlformats.org/officeDocument/2006/relationships/slideLayout" Target="../slideLayouts/slideLayout8.xml"/><Relationship Id="rId5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image" Target="../media/image-9-1.png"/><Relationship Id="rId2" Type="http://schemas.openxmlformats.org/officeDocument/2006/relationships/slideLayout" Target="../slideLayouts/slideLayout10.xml"/><Relationship Id="rId3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image" Target="../media/image-10-1.png"/><Relationship Id="rId2" Type="http://schemas.openxmlformats.org/officeDocument/2006/relationships/image" Target="../media/image-10-2.png"/><Relationship Id="rId3" Type="http://schemas.openxmlformats.org/officeDocument/2006/relationships/image" Target="../media/image-10-3.svg"/><Relationship Id="rId4" Type="http://schemas.openxmlformats.org/officeDocument/2006/relationships/slideLayout" Target="../slideLayouts/slideLayout11.xml"/><Relationship Id="rId5" Type="http://schemas.openxmlformats.org/officeDocument/2006/relationships/notesSlide" Target="../notesSlides/notesSlide10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496119" y="1244575"/>
            <a:ext cx="4722763" cy="1328961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¿Por qué necesitamos conocimiento riguroso en IS?</a:t>
            </a:r>
            <a:endParaRPr lang="en-US" sz="2750" dirty="0"/>
          </a:p>
        </p:txBody>
      </p:sp>
      <p:sp>
        <p:nvSpPr>
          <p:cNvPr id="4" name="Text 1"/>
          <p:cNvSpPr/>
          <p:nvPr/>
        </p:nvSpPr>
        <p:spPr>
          <a:xfrm>
            <a:off x="496119" y="2630239"/>
            <a:ext cx="4722763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Clase 8 — Unidad 2: Métodos de Investigación en Ingeniería de Software</a:t>
            </a:r>
            <a:endParaRPr lang="en-US" sz="1350" dirty="0"/>
          </a:p>
        </p:txBody>
      </p:sp>
      <p:sp>
        <p:nvSpPr>
          <p:cNvPr id="5" name="Text 2"/>
          <p:cNvSpPr/>
          <p:nvPr/>
        </p:nvSpPr>
        <p:spPr>
          <a:xfrm>
            <a:off x="496119" y="3285753"/>
            <a:ext cx="4722763" cy="613097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algn="l" indent="0" marL="0">
              <a:lnSpc>
                <a:spcPct val="133000"/>
              </a:lnSpc>
              <a:spcAft>
                <a:spcPts val="1250"/>
              </a:spcAft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Investigación en Ingeniería de Software </a:t>
            </a:r>
            <a:endParaRPr lang="en-US" sz="1100" dirty="0"/>
          </a:p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Ing. Ángel Rea Guamán, Ph.D.</a:t>
            </a:r>
            <a:endParaRPr lang="en-US" sz="11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96119" y="415751"/>
            <a:ext cx="6997526" cy="44298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7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Cuando el software falla sin evidencia</a:t>
            </a:r>
            <a:endParaRPr lang="en-US" sz="2750" dirty="0"/>
          </a:p>
        </p:txBody>
      </p:sp>
      <p:sp>
        <p:nvSpPr>
          <p:cNvPr id="3" name="Text 1"/>
          <p:cNvSpPr/>
          <p:nvPr/>
        </p:nvSpPr>
        <p:spPr>
          <a:xfrm>
            <a:off x="496119" y="1142256"/>
            <a:ext cx="8608963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Tres catástrofes reales donde la ausencia de conocimiento riguroso tuvo consecuencias devastadoras.</a:t>
            </a:r>
            <a:endParaRPr lang="en-US" sz="1100" dirty="0"/>
          </a:p>
        </p:txBody>
      </p:sp>
      <p:sp>
        <p:nvSpPr>
          <p:cNvPr id="4" name="Shape 2"/>
          <p:cNvSpPr/>
          <p:nvPr/>
        </p:nvSpPr>
        <p:spPr>
          <a:xfrm>
            <a:off x="496119" y="1528539"/>
            <a:ext cx="2622724" cy="2437284"/>
          </a:xfrm>
          <a:prstGeom prst="roundRect">
            <a:avLst>
              <a:gd name="adj" fmla="val 375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477069" y="1528539"/>
            <a:ext cx="76200" cy="243728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6" name="Text 4"/>
          <p:cNvSpPr/>
          <p:nvPr/>
        </p:nvSpPr>
        <p:spPr>
          <a:xfrm>
            <a:off x="714077" y="1689348"/>
            <a:ext cx="2001962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Therac-25 (1985–1987)</a:t>
            </a:r>
            <a:endParaRPr lang="en-US" sz="1350" dirty="0"/>
          </a:p>
        </p:txBody>
      </p:sp>
      <p:sp>
        <p:nvSpPr>
          <p:cNvPr id="7" name="Text 5"/>
          <p:cNvSpPr/>
          <p:nvPr/>
        </p:nvSpPr>
        <p:spPr>
          <a:xfrm>
            <a:off x="714077" y="1995860"/>
            <a:ext cx="22439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Máquina de radioterapia con bug de condición de carrera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6 pacientes muertos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por sobredosis de radiación. Decisión de diseño: eliminar hardware de seguridad sin validación empírica.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60601" y="1528539"/>
            <a:ext cx="2622724" cy="2437284"/>
          </a:xfrm>
          <a:prstGeom prst="roundRect">
            <a:avLst>
              <a:gd name="adj" fmla="val 375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9" name="Shape 7"/>
          <p:cNvSpPr/>
          <p:nvPr/>
        </p:nvSpPr>
        <p:spPr>
          <a:xfrm>
            <a:off x="3241551" y="1528539"/>
            <a:ext cx="76200" cy="243728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0" name="Text 8"/>
          <p:cNvSpPr/>
          <p:nvPr/>
        </p:nvSpPr>
        <p:spPr>
          <a:xfrm>
            <a:off x="3478560" y="1689348"/>
            <a:ext cx="2243956" cy="44291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Boeing 737 MAX (2018–2019)</a:t>
            </a:r>
            <a:endParaRPr lang="en-US" sz="1350" dirty="0"/>
          </a:p>
        </p:txBody>
      </p:sp>
      <p:sp>
        <p:nvSpPr>
          <p:cNvPr id="11" name="Text 9"/>
          <p:cNvSpPr/>
          <p:nvPr/>
        </p:nvSpPr>
        <p:spPr>
          <a:xfrm>
            <a:off x="3478560" y="2217316"/>
            <a:ext cx="2243956" cy="158769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Sistema MCAS diseñado sin pruebas rigurosas de comportamiento en condiciones reales →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346 muertos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dos accidentes. Falta de evidencia sistemática en el proceso de certificación.</a:t>
            </a:r>
            <a:endParaRPr lang="en-US" sz="1100" dirty="0"/>
          </a:p>
        </p:txBody>
      </p:sp>
      <p:sp>
        <p:nvSpPr>
          <p:cNvPr id="12" name="Shape 10"/>
          <p:cNvSpPr/>
          <p:nvPr/>
        </p:nvSpPr>
        <p:spPr>
          <a:xfrm>
            <a:off x="6025083" y="1528539"/>
            <a:ext cx="2622724" cy="2437284"/>
          </a:xfrm>
          <a:prstGeom prst="roundRect">
            <a:avLst>
              <a:gd name="adj" fmla="val 3752"/>
            </a:avLst>
          </a:prstGeom>
          <a:solidFill>
            <a:srgbClr val="FFFFFF"/>
          </a:solidFill>
          <a:ln w="19050">
            <a:solidFill>
              <a:srgbClr val="C0C1D7"/>
            </a:solidFill>
            <a:prstDash val="solid"/>
          </a:ln>
        </p:spPr>
      </p:sp>
      <p:sp>
        <p:nvSpPr>
          <p:cNvPr id="13" name="Shape 11"/>
          <p:cNvSpPr/>
          <p:nvPr/>
        </p:nvSpPr>
        <p:spPr>
          <a:xfrm>
            <a:off x="6006033" y="1528539"/>
            <a:ext cx="76200" cy="2437284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4" name="Text 12"/>
          <p:cNvSpPr/>
          <p:nvPr/>
        </p:nvSpPr>
        <p:spPr>
          <a:xfrm>
            <a:off x="6243042" y="1689348"/>
            <a:ext cx="1818977" cy="22145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3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Knight Capital (2012)</a:t>
            </a:r>
            <a:endParaRPr lang="en-US" sz="1350" dirty="0"/>
          </a:p>
        </p:txBody>
      </p:sp>
      <p:sp>
        <p:nvSpPr>
          <p:cNvPr id="15" name="Text 13"/>
          <p:cNvSpPr/>
          <p:nvPr/>
        </p:nvSpPr>
        <p:spPr>
          <a:xfrm>
            <a:off x="6243042" y="1995860"/>
            <a:ext cx="2243956" cy="13608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Bug de despliegue de software → pérdida de </a:t>
            </a:r>
            <a:pPr algn="l" indent="0" marL="0">
              <a:lnSpc>
                <a:spcPct val="133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USD 440 millones en 45 minutos</a:t>
            </a:r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Un error de ingeniería sin validación previa destruyó décadas de capital en menos de una hora.</a:t>
            </a:r>
            <a:endParaRPr lang="en-US" sz="1100" dirty="0"/>
          </a:p>
        </p:txBody>
      </p:sp>
      <p:sp>
        <p:nvSpPr>
          <p:cNvPr id="16" name="Shape 14"/>
          <p:cNvSpPr/>
          <p:nvPr/>
        </p:nvSpPr>
        <p:spPr>
          <a:xfrm>
            <a:off x="496119" y="4125292"/>
            <a:ext cx="8151763" cy="602382"/>
          </a:xfrm>
          <a:prstGeom prst="roundRect">
            <a:avLst>
              <a:gd name="adj" fmla="val 9884"/>
            </a:avLst>
          </a:prstGeom>
          <a:solidFill>
            <a:srgbClr val="D9D9D9"/>
          </a:solidFill>
          <a:ln/>
        </p:spPr>
      </p:sp>
      <p:pic>
        <p:nvPicPr>
          <p:cNvPr id="17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637877" y="4340349"/>
            <a:ext cx="177180" cy="141759"/>
          </a:xfrm>
          <a:prstGeom prst="rect">
            <a:avLst/>
          </a:prstGeom>
        </p:spPr>
      </p:pic>
      <p:sp>
        <p:nvSpPr>
          <p:cNvPr id="18" name="Text 15"/>
          <p:cNvSpPr/>
          <p:nvPr/>
        </p:nvSpPr>
        <p:spPr>
          <a:xfrm>
            <a:off x="956816" y="4302472"/>
            <a:ext cx="8006507" cy="226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33000"/>
              </a:lnSpc>
              <a:buNone/>
            </a:pPr>
            <a:r>
              <a:rPr lang="en-US" sz="11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¿Estas decisiones de ingeniería se basaron en evidencia sistemática o en intuición?</a:t>
            </a:r>
            <a:endParaRPr lang="en-US" sz="11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468362"/>
            <a:ext cx="6165428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IS está llena de creencias no validadas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609079" y="1176114"/>
            <a:ext cx="8534921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"Software engineering is riddled with folklore — beliefs that are widely held but rarely tested."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Robert Glass, 2002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6393" y="1058391"/>
            <a:ext cx="14288" cy="416644"/>
          </a:xfrm>
          <a:prstGeom prst="rect">
            <a:avLst/>
          </a:prstGeom>
          <a:solidFill>
            <a:srgbClr val="4950BC"/>
          </a:solidFill>
          <a:ln/>
        </p:spPr>
      </p:sp>
      <p:sp>
        <p:nvSpPr>
          <p:cNvPr id="5" name="Text 3"/>
          <p:cNvSpPr/>
          <p:nvPr/>
        </p:nvSpPr>
        <p:spPr>
          <a:xfrm>
            <a:off x="426393" y="1632049"/>
            <a:ext cx="2524125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Ejemplos de "folklore" en IS</a:t>
            </a:r>
            <a:endParaRPr lang="en-US" sz="1150" dirty="0"/>
          </a:p>
        </p:txBody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472083" y="1985479"/>
            <a:ext cx="182687" cy="182687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822275" y="1979414"/>
            <a:ext cx="36843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"Los comentarios hacen el código más legible"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creencia extendida, evidencia contradictoria</a:t>
            </a:r>
            <a:endParaRPr lang="en-US" sz="950" dirty="0"/>
          </a:p>
        </p:txBody>
      </p:sp>
      <p:pic>
        <p:nvPicPr>
          <p:cNvPr id="8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4683100" y="1985479"/>
            <a:ext cx="182687" cy="182687"/>
          </a:xfrm>
          <a:prstGeom prst="rect">
            <a:avLst/>
          </a:prstGeom>
        </p:spPr>
      </p:pic>
      <p:sp>
        <p:nvSpPr>
          <p:cNvPr id="9" name="Text 5"/>
          <p:cNvSpPr/>
          <p:nvPr/>
        </p:nvSpPr>
        <p:spPr>
          <a:xfrm>
            <a:off x="5033293" y="1979414"/>
            <a:ext cx="36843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"El pair programming duplica la productividad"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simplificación sin contexto</a:t>
            </a:r>
            <a:endParaRPr lang="en-US" sz="950" dirty="0"/>
          </a:p>
        </p:txBody>
      </p:sp>
      <p:pic>
        <p:nvPicPr>
          <p:cNvPr id="10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472083" y="2566281"/>
            <a:ext cx="182687" cy="182687"/>
          </a:xfrm>
          <a:prstGeom prst="rect">
            <a:avLst/>
          </a:prstGeom>
        </p:spPr>
      </p:pic>
      <p:sp>
        <p:nvSpPr>
          <p:cNvPr id="11" name="Text 6"/>
          <p:cNvSpPr/>
          <p:nvPr/>
        </p:nvSpPr>
        <p:spPr>
          <a:xfrm>
            <a:off x="822275" y="2560216"/>
            <a:ext cx="36843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"Las daily stand-ups mejoran la coordinación"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asumido, raramente medido</a:t>
            </a:r>
            <a:endParaRPr lang="en-US" sz="950" dirty="0"/>
          </a:p>
        </p:txBody>
      </p:sp>
      <p:pic>
        <p:nvPicPr>
          <p:cNvPr id="12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683100" y="2566281"/>
            <a:ext cx="182687" cy="182687"/>
          </a:xfrm>
          <a:prstGeom prst="rect">
            <a:avLst/>
          </a:prstGeom>
        </p:spPr>
      </p:pic>
      <p:sp>
        <p:nvSpPr>
          <p:cNvPr id="13" name="Text 7"/>
          <p:cNvSpPr/>
          <p:nvPr/>
        </p:nvSpPr>
        <p:spPr>
          <a:xfrm>
            <a:off x="5033293" y="2560216"/>
            <a:ext cx="3684315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"TDD siempre produce código de mejor calidad"</a:t>
            </a:r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depende del contexto y equipo</a:t>
            </a:r>
            <a:endParaRPr lang="en-US" sz="950" dirty="0"/>
          </a:p>
        </p:txBody>
      </p:sp>
      <p:sp>
        <p:nvSpPr>
          <p:cNvPr id="14" name="Text 8"/>
          <p:cNvSpPr/>
          <p:nvPr/>
        </p:nvSpPr>
        <p:spPr>
          <a:xfrm>
            <a:off x="426393" y="3110285"/>
            <a:ext cx="8291215" cy="4020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3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75%</a:t>
            </a:r>
            <a:endParaRPr lang="en-US" sz="3150" dirty="0"/>
          </a:p>
        </p:txBody>
      </p:sp>
      <p:sp>
        <p:nvSpPr>
          <p:cNvPr id="15" name="Text 9"/>
          <p:cNvSpPr/>
          <p:nvPr/>
        </p:nvSpPr>
        <p:spPr>
          <a:xfrm>
            <a:off x="3653582" y="3651721"/>
            <a:ext cx="1836762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Decisiones sin evidencia</a:t>
            </a:r>
            <a:endParaRPr lang="en-US" sz="1150" dirty="0"/>
          </a:p>
        </p:txBody>
      </p:sp>
      <p:sp>
        <p:nvSpPr>
          <p:cNvPr id="16" name="Text 10"/>
          <p:cNvSpPr/>
          <p:nvPr/>
        </p:nvSpPr>
        <p:spPr>
          <a:xfrm>
            <a:off x="426393" y="3904878"/>
            <a:ext cx="8291215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 los desarrolladores toman decisiones técnicas basadas en experiencia personal o en lo que "siempre ha funcionado", sin respaldo empírico.</a:t>
            </a:r>
            <a:endParaRPr lang="en-US" sz="950" dirty="0"/>
          </a:p>
        </p:txBody>
      </p:sp>
      <p:sp>
        <p:nvSpPr>
          <p:cNvPr id="17" name="Shape 11"/>
          <p:cNvSpPr/>
          <p:nvPr/>
        </p:nvSpPr>
        <p:spPr>
          <a:xfrm>
            <a:off x="426393" y="4203799"/>
            <a:ext cx="8291215" cy="471339"/>
          </a:xfrm>
          <a:prstGeom prst="roundRect">
            <a:avLst>
              <a:gd name="adj" fmla="val 10856"/>
            </a:avLst>
          </a:prstGeom>
          <a:solidFill>
            <a:srgbClr val="FCF2B5"/>
          </a:solidFill>
          <a:ln/>
        </p:spPr>
      </p:sp>
      <p:pic>
        <p:nvPicPr>
          <p:cNvPr id="18" name="Image 4" descr="preencoded.png">    </p:cNvPr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548208" y="4382765"/>
            <a:ext cx="152251" cy="121816"/>
          </a:xfrm>
          <a:prstGeom prst="rect">
            <a:avLst/>
          </a:prstGeom>
        </p:spPr>
      </p:pic>
      <p:sp>
        <p:nvSpPr>
          <p:cNvPr id="19" name="Text 12"/>
          <p:cNvSpPr/>
          <p:nvPr/>
        </p:nvSpPr>
        <p:spPr>
          <a:xfrm>
            <a:off x="822275" y="4338861"/>
            <a:ext cx="8230716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Consecuencia: Practicamos una ingeniería de suposiciones, no de conocimiento.</a:t>
            </a:r>
            <a:endParaRPr lang="en-US" sz="95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26393" y="351011"/>
            <a:ext cx="7387903" cy="3807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3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Cinco criterios del conocimiento riguroso en IS</a:t>
            </a:r>
            <a:endParaRPr lang="en-US" sz="2350" dirty="0"/>
          </a:p>
        </p:txBody>
      </p:sp>
      <p:sp>
        <p:nvSpPr>
          <p:cNvPr id="3" name="Text 1"/>
          <p:cNvSpPr/>
          <p:nvPr/>
        </p:nvSpPr>
        <p:spPr>
          <a:xfrm>
            <a:off x="426393" y="941040"/>
            <a:ext cx="8717607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Para que el conocimiento en Ingeniería de Software sea verdaderamente riguroso, debe cumplir con los siguientes criterios fundamentales.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26393" y="1239962"/>
            <a:ext cx="2693938" cy="1338783"/>
          </a:xfrm>
          <a:prstGeom prst="roundRect">
            <a:avLst>
              <a:gd name="adj" fmla="val 38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552971" y="1366540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</p:sp>
      <p:pic>
        <p:nvPicPr>
          <p:cNvPr id="6" name="Image 0" descr="preencoded.png">    </p:cNvPr>
          <p:cNvPicPr>
            <a:picLocks noChangeAspect="1"/>
          </p:cNvPicPr>
          <p:nvPr/>
        </p:nvPicPr>
        <p:blipFill>
          <a:blip r:embed="rId1"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653430" y="1466999"/>
            <a:ext cx="164455" cy="164455"/>
          </a:xfrm>
          <a:prstGeom prst="rect">
            <a:avLst/>
          </a:prstGeom>
        </p:spPr>
      </p:pic>
      <p:sp>
        <p:nvSpPr>
          <p:cNvPr id="7" name="Text 4"/>
          <p:cNvSpPr/>
          <p:nvPr/>
        </p:nvSpPr>
        <p:spPr>
          <a:xfrm>
            <a:off x="552971" y="183661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Válido</a:t>
            </a:r>
            <a:endParaRPr lang="en-US" sz="1150" dirty="0"/>
          </a:p>
        </p:txBody>
      </p:sp>
      <p:sp>
        <p:nvSpPr>
          <p:cNvPr id="8" name="Text 5"/>
          <p:cNvSpPr/>
          <p:nvPr/>
        </p:nvSpPr>
        <p:spPr>
          <a:xfrm>
            <a:off x="552971" y="2089770"/>
            <a:ext cx="2440781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Mide efectivamente lo que dice medir — validez interna y externa garantizadas.</a:t>
            </a:r>
            <a:endParaRPr lang="en-US" sz="950" dirty="0"/>
          </a:p>
        </p:txBody>
      </p:sp>
      <p:sp>
        <p:nvSpPr>
          <p:cNvPr id="9" name="Shape 6"/>
          <p:cNvSpPr/>
          <p:nvPr/>
        </p:nvSpPr>
        <p:spPr>
          <a:xfrm>
            <a:off x="3224957" y="1239962"/>
            <a:ext cx="2694012" cy="1338783"/>
          </a:xfrm>
          <a:prstGeom prst="roundRect">
            <a:avLst>
              <a:gd name="adj" fmla="val 38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Shape 7"/>
          <p:cNvSpPr/>
          <p:nvPr/>
        </p:nvSpPr>
        <p:spPr>
          <a:xfrm>
            <a:off x="3351535" y="1366540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</p:sp>
      <p:pic>
        <p:nvPicPr>
          <p:cNvPr id="11" name="Image 1" descr="preencoded.png">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3451994" y="1466999"/>
            <a:ext cx="164455" cy="164455"/>
          </a:xfrm>
          <a:prstGeom prst="rect">
            <a:avLst/>
          </a:prstGeom>
        </p:spPr>
      </p:pic>
      <p:sp>
        <p:nvSpPr>
          <p:cNvPr id="12" name="Text 8"/>
          <p:cNvSpPr/>
          <p:nvPr/>
        </p:nvSpPr>
        <p:spPr>
          <a:xfrm>
            <a:off x="3351535" y="183661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Reproducible</a:t>
            </a:r>
            <a:endParaRPr lang="en-US" sz="1150" dirty="0"/>
          </a:p>
        </p:txBody>
      </p:sp>
      <p:sp>
        <p:nvSpPr>
          <p:cNvPr id="13" name="Text 9"/>
          <p:cNvSpPr/>
          <p:nvPr/>
        </p:nvSpPr>
        <p:spPr>
          <a:xfrm>
            <a:off x="3351535" y="2089770"/>
            <a:ext cx="244085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Otro investigador, con los mismos datos y método, llega al mismo resultado.</a:t>
            </a:r>
            <a:endParaRPr lang="en-US" sz="950" dirty="0"/>
          </a:p>
        </p:txBody>
      </p:sp>
      <p:sp>
        <p:nvSpPr>
          <p:cNvPr id="14" name="Shape 10"/>
          <p:cNvSpPr/>
          <p:nvPr/>
        </p:nvSpPr>
        <p:spPr>
          <a:xfrm>
            <a:off x="6023595" y="1239962"/>
            <a:ext cx="2694012" cy="1338783"/>
          </a:xfrm>
          <a:prstGeom prst="roundRect">
            <a:avLst>
              <a:gd name="adj" fmla="val 38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5" name="Shape 11"/>
          <p:cNvSpPr/>
          <p:nvPr/>
        </p:nvSpPr>
        <p:spPr>
          <a:xfrm>
            <a:off x="6150173" y="1366540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</p:sp>
      <p:pic>
        <p:nvPicPr>
          <p:cNvPr id="16" name="Image 2" descr="preencoded.png">    </p:cNvPr>
          <p:cNvPicPr>
            <a:picLocks noChangeAspect="1"/>
          </p:cNvPicPr>
          <p:nvPr/>
        </p:nvPicPr>
        <p:blipFill>
          <a:blip r:embed="rId5"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250632" y="1466999"/>
            <a:ext cx="164455" cy="164455"/>
          </a:xfrm>
          <a:prstGeom prst="rect">
            <a:avLst/>
          </a:prstGeom>
        </p:spPr>
      </p:pic>
      <p:sp>
        <p:nvSpPr>
          <p:cNvPr id="17" name="Text 12"/>
          <p:cNvSpPr/>
          <p:nvPr/>
        </p:nvSpPr>
        <p:spPr>
          <a:xfrm>
            <a:off x="6150173" y="183661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Generalizable</a:t>
            </a:r>
            <a:endParaRPr lang="en-US" sz="1150" dirty="0"/>
          </a:p>
        </p:txBody>
      </p:sp>
      <p:sp>
        <p:nvSpPr>
          <p:cNvPr id="18" name="Text 13"/>
          <p:cNvSpPr/>
          <p:nvPr/>
        </p:nvSpPr>
        <p:spPr>
          <a:xfrm>
            <a:off x="6150173" y="2089770"/>
            <a:ext cx="244085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Las conclusiones aplican más allá del contexto específico del estudio original.</a:t>
            </a:r>
            <a:endParaRPr lang="en-US" sz="950" dirty="0"/>
          </a:p>
        </p:txBody>
      </p:sp>
      <p:sp>
        <p:nvSpPr>
          <p:cNvPr id="19" name="Shape 14"/>
          <p:cNvSpPr/>
          <p:nvPr/>
        </p:nvSpPr>
        <p:spPr>
          <a:xfrm>
            <a:off x="426393" y="2683371"/>
            <a:ext cx="4093294" cy="1338783"/>
          </a:xfrm>
          <a:prstGeom prst="roundRect">
            <a:avLst>
              <a:gd name="adj" fmla="val 38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0" name="Shape 15"/>
          <p:cNvSpPr/>
          <p:nvPr/>
        </p:nvSpPr>
        <p:spPr>
          <a:xfrm>
            <a:off x="552971" y="2809949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</p:sp>
      <p:pic>
        <p:nvPicPr>
          <p:cNvPr id="21" name="Image 3" descr="preencoded.png">    </p:cNvPr>
          <p:cNvPicPr>
            <a:picLocks noChangeAspect="1"/>
          </p:cNvPicPr>
          <p:nvPr/>
        </p:nvPicPr>
        <p:blipFill>
          <a:blip r:embed="rId7"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653430" y="2910408"/>
            <a:ext cx="164455" cy="164455"/>
          </a:xfrm>
          <a:prstGeom prst="rect">
            <a:avLst/>
          </a:prstGeom>
        </p:spPr>
      </p:pic>
      <p:sp>
        <p:nvSpPr>
          <p:cNvPr id="22" name="Text 16"/>
          <p:cNvSpPr/>
          <p:nvPr/>
        </p:nvSpPr>
        <p:spPr>
          <a:xfrm>
            <a:off x="552971" y="3280023"/>
            <a:ext cx="1522884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Revisado por pares</a:t>
            </a:r>
            <a:endParaRPr lang="en-US" sz="1150" dirty="0"/>
          </a:p>
        </p:txBody>
      </p:sp>
      <p:sp>
        <p:nvSpPr>
          <p:cNvPr id="23" name="Text 17"/>
          <p:cNvSpPr/>
          <p:nvPr/>
        </p:nvSpPr>
        <p:spPr>
          <a:xfrm>
            <a:off x="552971" y="3533180"/>
            <a:ext cx="3840138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comunidad científica ha evaluado y validado el proceso metodológico.</a:t>
            </a:r>
            <a:endParaRPr lang="en-US" sz="950" dirty="0"/>
          </a:p>
        </p:txBody>
      </p:sp>
      <p:sp>
        <p:nvSpPr>
          <p:cNvPr id="24" name="Shape 18"/>
          <p:cNvSpPr/>
          <p:nvPr/>
        </p:nvSpPr>
        <p:spPr>
          <a:xfrm>
            <a:off x="4624313" y="2683371"/>
            <a:ext cx="4093294" cy="1338783"/>
          </a:xfrm>
          <a:prstGeom prst="roundRect">
            <a:avLst>
              <a:gd name="adj" fmla="val 3822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5" name="Shape 19"/>
          <p:cNvSpPr/>
          <p:nvPr/>
        </p:nvSpPr>
        <p:spPr>
          <a:xfrm>
            <a:off x="4750891" y="2809949"/>
            <a:ext cx="365447" cy="365447"/>
          </a:xfrm>
          <a:prstGeom prst="roundRect">
            <a:avLst>
              <a:gd name="adj" fmla="val 15636819"/>
            </a:avLst>
          </a:prstGeom>
          <a:solidFill>
            <a:srgbClr val="4950BC"/>
          </a:solidFill>
          <a:ln/>
        </p:spPr>
      </p:sp>
      <p:pic>
        <p:nvPicPr>
          <p:cNvPr id="26" name="Image 4" descr="preencoded.png">    </p:cNvPr>
          <p:cNvPicPr>
            <a:picLocks noChangeAspect="1"/>
          </p:cNvPicPr>
          <p:nvPr/>
        </p:nvPicPr>
        <p:blipFill>
          <a:blip r:embed="rId9"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4851350" y="2910408"/>
            <a:ext cx="164455" cy="164455"/>
          </a:xfrm>
          <a:prstGeom prst="rect">
            <a:avLst/>
          </a:prstGeom>
        </p:spPr>
      </p:pic>
      <p:sp>
        <p:nvSpPr>
          <p:cNvPr id="27" name="Text 20"/>
          <p:cNvSpPr/>
          <p:nvPr/>
        </p:nvSpPr>
        <p:spPr>
          <a:xfrm>
            <a:off x="4750891" y="3280023"/>
            <a:ext cx="1530921" cy="1903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Basado en evidencia</a:t>
            </a:r>
            <a:endParaRPr lang="en-US" sz="1150" dirty="0"/>
          </a:p>
        </p:txBody>
      </p:sp>
      <p:sp>
        <p:nvSpPr>
          <p:cNvPr id="28" name="Text 21"/>
          <p:cNvSpPr/>
          <p:nvPr/>
        </p:nvSpPr>
        <p:spPr>
          <a:xfrm>
            <a:off x="4750891" y="3533180"/>
            <a:ext cx="3840138" cy="1811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Sustentado en datos reales, no en opinión o autoridad personal.</a:t>
            </a:r>
            <a:endParaRPr lang="en-US" sz="950" dirty="0"/>
          </a:p>
        </p:txBody>
      </p:sp>
      <p:sp>
        <p:nvSpPr>
          <p:cNvPr id="29" name="Shape 22"/>
          <p:cNvSpPr/>
          <p:nvPr/>
        </p:nvSpPr>
        <p:spPr>
          <a:xfrm>
            <a:off x="426393" y="4139878"/>
            <a:ext cx="8291215" cy="652537"/>
          </a:xfrm>
          <a:prstGeom prst="roundRect">
            <a:avLst>
              <a:gd name="adj" fmla="val 7842"/>
            </a:avLst>
          </a:prstGeom>
          <a:solidFill>
            <a:srgbClr val="B6D6FC"/>
          </a:solidFill>
          <a:ln/>
        </p:spPr>
      </p:sp>
      <p:pic>
        <p:nvPicPr>
          <p:cNvPr id="30" name="Image 5" descr="preencoded.png">    </p:cNvPr>
          <p:cNvPicPr>
            <a:picLocks noChangeAspect="1"/>
          </p:cNvPicPr>
          <p:nvPr/>
        </p:nvPicPr>
        <p:blipFill>
          <a:blip r:embed="rId11"/>
          <a:stretch>
            <a:fillRect/>
          </a:stretch>
        </p:blipFill>
        <p:spPr>
          <a:xfrm>
            <a:off x="548208" y="4318843"/>
            <a:ext cx="152251" cy="121816"/>
          </a:xfrm>
          <a:prstGeom prst="rect">
            <a:avLst/>
          </a:prstGeom>
        </p:spPr>
      </p:pic>
      <p:sp>
        <p:nvSpPr>
          <p:cNvPr id="31" name="Text 23"/>
          <p:cNvSpPr/>
          <p:nvPr/>
        </p:nvSpPr>
        <p:spPr>
          <a:xfrm>
            <a:off x="822275" y="4274939"/>
            <a:ext cx="7773516" cy="36239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4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Analogía NASA: Antes de lanzar una misión, la NASA valida cada componente con miles de horas de pruebas documentadas. ¿Por qué el software debería ser diferente?</a:t>
            </a:r>
            <a:endParaRPr lang="en-US" sz="95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674489" y="314027"/>
            <a:ext cx="7540303" cy="352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 rigor, no podemos distinguir verdad de falsedad</a:t>
            </a:r>
            <a:endParaRPr lang="en-US" sz="2200" dirty="0"/>
          </a:p>
        </p:txBody>
      </p:sp>
      <p:sp>
        <p:nvSpPr>
          <p:cNvPr id="3" name="Text 1"/>
          <p:cNvSpPr/>
          <p:nvPr/>
        </p:nvSpPr>
        <p:spPr>
          <a:xfrm>
            <a:off x="674489" y="846981"/>
            <a:ext cx="8252147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Fuente: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Hussain &amp; Soomro (2023), </a:t>
            </a:r>
            <a:pPr algn="l" indent="0" marL="0">
              <a:lnSpc>
                <a:spcPct val="120000"/>
              </a:lnSpc>
              <a:buNone/>
            </a:pPr>
            <a:r>
              <a:rPr lang="en-US" sz="850" i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Applied Computer Systems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vol. 28, no. 1 — estudio exploratorio peer-reviewed sobre desinformación digital.</a:t>
            </a:r>
            <a:endParaRPr lang="en-US" sz="850" dirty="0"/>
          </a:p>
        </p:txBody>
      </p:sp>
      <p:sp>
        <p:nvSpPr>
          <p:cNvPr id="4" name="Text 2"/>
          <p:cNvSpPr/>
          <p:nvPr/>
        </p:nvSpPr>
        <p:spPr>
          <a:xfrm>
            <a:off x="674489" y="1167036"/>
            <a:ext cx="3841179" cy="29825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3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4.59B</a:t>
            </a:r>
            <a:endParaRPr lang="en-US" sz="2300" dirty="0"/>
          </a:p>
        </p:txBody>
      </p:sp>
      <p:sp>
        <p:nvSpPr>
          <p:cNvPr id="5" name="Text 3"/>
          <p:cNvSpPr/>
          <p:nvPr/>
        </p:nvSpPr>
        <p:spPr>
          <a:xfrm>
            <a:off x="1671489" y="1589261"/>
            <a:ext cx="1847106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Usuarios en redes sociales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674489" y="1819721"/>
            <a:ext cx="3841179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En 2022, con proyección de 5.85B para 2027.</a:t>
            </a:r>
            <a:endParaRPr lang="en-US" sz="850" dirty="0"/>
          </a:p>
        </p:txBody>
      </p:sp>
      <p:sp>
        <p:nvSpPr>
          <p:cNvPr id="7" name="Text 5"/>
          <p:cNvSpPr/>
          <p:nvPr/>
        </p:nvSpPr>
        <p:spPr>
          <a:xfrm>
            <a:off x="4628183" y="1167036"/>
            <a:ext cx="3841254" cy="372814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83000"/>
              </a:lnSpc>
              <a:buNone/>
            </a:pPr>
            <a:r>
              <a:rPr lang="en-US" sz="29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10%</a:t>
            </a:r>
            <a:endParaRPr lang="en-US" sz="2900" dirty="0"/>
          </a:p>
        </p:txBody>
      </p:sp>
      <p:sp>
        <p:nvSpPr>
          <p:cNvPr id="8" name="Text 6"/>
          <p:cNvSpPr/>
          <p:nvPr/>
        </p:nvSpPr>
        <p:spPr>
          <a:xfrm>
            <a:off x="5597351" y="1663824"/>
            <a:ext cx="1902842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Tweets con misinformación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4628183" y="1894284"/>
            <a:ext cx="3841254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Del análisis de 30.7 millones de tweets en las elecciones EE.UU. 2016.</a:t>
            </a:r>
            <a:endParaRPr lang="en-US" sz="850" dirty="0"/>
          </a:p>
        </p:txBody>
      </p:sp>
      <p:sp>
        <p:nvSpPr>
          <p:cNvPr id="10" name="Shape 8"/>
          <p:cNvSpPr/>
          <p:nvPr/>
        </p:nvSpPr>
        <p:spPr>
          <a:xfrm>
            <a:off x="674489" y="2157859"/>
            <a:ext cx="7794947" cy="417984"/>
          </a:xfrm>
          <a:prstGeom prst="roundRect">
            <a:avLst>
              <a:gd name="adj" fmla="val 11352"/>
            </a:avLst>
          </a:prstGeom>
          <a:solidFill>
            <a:srgbClr val="FFB3B4"/>
          </a:solidFill>
          <a:ln/>
        </p:spPr>
      </p:sp>
      <p:pic>
        <p:nvPicPr>
          <p:cNvPr id="11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787450" y="2319189"/>
            <a:ext cx="141163" cy="112961"/>
          </a:xfrm>
          <a:prstGeom prst="rect">
            <a:avLst/>
          </a:prstGeom>
        </p:spPr>
      </p:pic>
      <p:sp>
        <p:nvSpPr>
          <p:cNvPr id="12" name="Text 9"/>
          <p:cNvSpPr/>
          <p:nvPr/>
        </p:nvSpPr>
        <p:spPr>
          <a:xfrm>
            <a:off x="1041574" y="2276029"/>
            <a:ext cx="7772102" cy="16237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Artículos con misinformación sobre cáncer recibían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más engagement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que los verídicos — evidencia empírica de salud digital.</a:t>
            </a:r>
            <a:endParaRPr lang="en-US" sz="850" dirty="0"/>
          </a:p>
        </p:txBody>
      </p:sp>
      <p:sp>
        <p:nvSpPr>
          <p:cNvPr id="13" name="Text 10"/>
          <p:cNvSpPr/>
          <p:nvPr/>
        </p:nvSpPr>
        <p:spPr>
          <a:xfrm>
            <a:off x="674489" y="2710830"/>
            <a:ext cx="3663479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Taxonomía validada por investigación rigurosa</a:t>
            </a:r>
            <a:endParaRPr lang="en-US" sz="1100" dirty="0"/>
          </a:p>
        </p:txBody>
      </p:sp>
      <p:sp>
        <p:nvSpPr>
          <p:cNvPr id="14" name="Shape 11"/>
          <p:cNvSpPr/>
          <p:nvPr/>
        </p:nvSpPr>
        <p:spPr>
          <a:xfrm>
            <a:off x="674489" y="3022327"/>
            <a:ext cx="2538338" cy="1125587"/>
          </a:xfrm>
          <a:prstGeom prst="roundRect">
            <a:avLst>
              <a:gd name="adj" fmla="val 421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5" name="Shape 12"/>
          <p:cNvSpPr/>
          <p:nvPr/>
        </p:nvSpPr>
        <p:spPr>
          <a:xfrm>
            <a:off x="688777" y="3036615"/>
            <a:ext cx="2509763" cy="338882"/>
          </a:xfrm>
          <a:prstGeom prst="roundRect">
            <a:avLst>
              <a:gd name="adj" fmla="val 8942"/>
            </a:avLst>
          </a:prstGeom>
          <a:solidFill>
            <a:srgbClr val="DADBF1"/>
          </a:solidFill>
          <a:ln/>
        </p:spPr>
      </p:sp>
      <p:sp>
        <p:nvSpPr>
          <p:cNvPr id="16" name="Text 13"/>
          <p:cNvSpPr/>
          <p:nvPr/>
        </p:nvSpPr>
        <p:spPr>
          <a:xfrm>
            <a:off x="801737" y="34654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Misinformación</a:t>
            </a:r>
            <a:endParaRPr lang="en-US" sz="1100" dirty="0"/>
          </a:p>
        </p:txBody>
      </p:sp>
      <p:sp>
        <p:nvSpPr>
          <p:cNvPr id="17" name="Text 14"/>
          <p:cNvSpPr/>
          <p:nvPr/>
        </p:nvSpPr>
        <p:spPr>
          <a:xfrm>
            <a:off x="801737" y="3695923"/>
            <a:ext cx="228384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falsa,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sin intención de daño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Error no deliberado.</a:t>
            </a:r>
            <a:endParaRPr lang="en-US" sz="850" dirty="0"/>
          </a:p>
        </p:txBody>
      </p:sp>
      <p:sp>
        <p:nvSpPr>
          <p:cNvPr id="18" name="Shape 15"/>
          <p:cNvSpPr/>
          <p:nvPr/>
        </p:nvSpPr>
        <p:spPr>
          <a:xfrm>
            <a:off x="3302794" y="3022327"/>
            <a:ext cx="2538338" cy="1125587"/>
          </a:xfrm>
          <a:prstGeom prst="roundRect">
            <a:avLst>
              <a:gd name="adj" fmla="val 421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9" name="Shape 16"/>
          <p:cNvSpPr/>
          <p:nvPr/>
        </p:nvSpPr>
        <p:spPr>
          <a:xfrm>
            <a:off x="3317081" y="3036615"/>
            <a:ext cx="2509763" cy="338882"/>
          </a:xfrm>
          <a:prstGeom prst="roundRect">
            <a:avLst>
              <a:gd name="adj" fmla="val 8942"/>
            </a:avLst>
          </a:prstGeom>
          <a:solidFill>
            <a:srgbClr val="DADBF1"/>
          </a:solidFill>
          <a:ln/>
        </p:spPr>
      </p:sp>
      <p:sp>
        <p:nvSpPr>
          <p:cNvPr id="20" name="Text 17"/>
          <p:cNvSpPr/>
          <p:nvPr/>
        </p:nvSpPr>
        <p:spPr>
          <a:xfrm>
            <a:off x="3430042" y="34654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Desinformación</a:t>
            </a:r>
            <a:endParaRPr lang="en-US" sz="1100" dirty="0"/>
          </a:p>
        </p:txBody>
      </p:sp>
      <p:sp>
        <p:nvSpPr>
          <p:cNvPr id="21" name="Text 18"/>
          <p:cNvSpPr/>
          <p:nvPr/>
        </p:nvSpPr>
        <p:spPr>
          <a:xfrm>
            <a:off x="3430042" y="3695923"/>
            <a:ext cx="228384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falsa,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 intención de daño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Manipulación deliberada.</a:t>
            </a:r>
            <a:endParaRPr lang="en-US" sz="850" dirty="0"/>
          </a:p>
        </p:txBody>
      </p:sp>
      <p:sp>
        <p:nvSpPr>
          <p:cNvPr id="22" name="Shape 19"/>
          <p:cNvSpPr/>
          <p:nvPr/>
        </p:nvSpPr>
        <p:spPr>
          <a:xfrm>
            <a:off x="5931098" y="3022327"/>
            <a:ext cx="2538338" cy="1125587"/>
          </a:xfrm>
          <a:prstGeom prst="roundRect">
            <a:avLst>
              <a:gd name="adj" fmla="val 4215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23" name="Shape 20"/>
          <p:cNvSpPr/>
          <p:nvPr/>
        </p:nvSpPr>
        <p:spPr>
          <a:xfrm>
            <a:off x="5945386" y="3036615"/>
            <a:ext cx="2509763" cy="338882"/>
          </a:xfrm>
          <a:prstGeom prst="roundRect">
            <a:avLst>
              <a:gd name="adj" fmla="val 8942"/>
            </a:avLst>
          </a:prstGeom>
          <a:solidFill>
            <a:srgbClr val="DADBF1"/>
          </a:solidFill>
          <a:ln/>
        </p:spPr>
      </p:sp>
      <p:sp>
        <p:nvSpPr>
          <p:cNvPr id="24" name="Text 21"/>
          <p:cNvSpPr/>
          <p:nvPr/>
        </p:nvSpPr>
        <p:spPr>
          <a:xfrm>
            <a:off x="6058346" y="3465463"/>
            <a:ext cx="1412081" cy="176510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1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Malinformación</a:t>
            </a:r>
            <a:endParaRPr lang="en-US" sz="1100" dirty="0"/>
          </a:p>
        </p:txBody>
      </p:sp>
      <p:sp>
        <p:nvSpPr>
          <p:cNvPr id="25" name="Text 22"/>
          <p:cNvSpPr/>
          <p:nvPr/>
        </p:nvSpPr>
        <p:spPr>
          <a:xfrm>
            <a:off x="6058346" y="3695923"/>
            <a:ext cx="228384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Información verdadera, </a:t>
            </a:r>
            <a:pPr algn="l" indent="0" marL="0">
              <a:lnSpc>
                <a:spcPct val="120000"/>
              </a:lnSpc>
              <a:buNone/>
            </a:pPr>
            <a:r>
              <a:rPr lang="en-US" sz="8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usada para dañar</a:t>
            </a:r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. Contexto malicioso.</a:t>
            </a:r>
            <a:endParaRPr lang="en-US" sz="850" dirty="0"/>
          </a:p>
        </p:txBody>
      </p:sp>
      <p:sp>
        <p:nvSpPr>
          <p:cNvPr id="26" name="Shape 23"/>
          <p:cNvSpPr/>
          <p:nvPr/>
        </p:nvSpPr>
        <p:spPr>
          <a:xfrm>
            <a:off x="674489" y="4249117"/>
            <a:ext cx="7794947" cy="580355"/>
          </a:xfrm>
          <a:prstGeom prst="roundRect">
            <a:avLst>
              <a:gd name="adj" fmla="val 8176"/>
            </a:avLst>
          </a:prstGeom>
          <a:solidFill>
            <a:srgbClr val="C7C9EA"/>
          </a:solidFill>
          <a:ln/>
        </p:spPr>
      </p:sp>
      <p:pic>
        <p:nvPicPr>
          <p:cNvPr id="27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87450" y="4410447"/>
            <a:ext cx="141163" cy="112961"/>
          </a:xfrm>
          <a:prstGeom prst="rect">
            <a:avLst/>
          </a:prstGeom>
        </p:spPr>
      </p:pic>
      <p:sp>
        <p:nvSpPr>
          <p:cNvPr id="28" name="Text 24"/>
          <p:cNvSpPr/>
          <p:nvPr/>
        </p:nvSpPr>
        <p:spPr>
          <a:xfrm>
            <a:off x="1041574" y="4367287"/>
            <a:ext cx="7314902" cy="32474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0000"/>
              </a:lnSpc>
              <a:buNone/>
            </a:pPr>
            <a:r>
              <a:rPr lang="en-US" sz="8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Lección para IS: Sin métodos rigurosos, no podemos construir sistemas que detecten, filtren ni gestionen información de manera confiable.</a:t>
            </a:r>
            <a:endParaRPr lang="en-US" sz="85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715000" y="0"/>
            <a:ext cx="3429000" cy="5143500"/>
          </a:xfrm>
          <a:prstGeom prst="rect">
            <a:avLst/>
          </a:prstGeom>
        </p:spPr>
      </p:pic>
      <p:sp>
        <p:nvSpPr>
          <p:cNvPr id="3" name="Text 0"/>
          <p:cNvSpPr/>
          <p:nvPr/>
        </p:nvSpPr>
        <p:spPr>
          <a:xfrm>
            <a:off x="310083" y="255538"/>
            <a:ext cx="4286027" cy="276895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7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La solución: IS basada en evidencia</a:t>
            </a:r>
            <a:endParaRPr lang="en-US" sz="1700" dirty="0"/>
          </a:p>
        </p:txBody>
      </p:sp>
      <p:sp>
        <p:nvSpPr>
          <p:cNvPr id="4" name="Text 1"/>
          <p:cNvSpPr/>
          <p:nvPr/>
        </p:nvSpPr>
        <p:spPr>
          <a:xfrm>
            <a:off x="310083" y="615479"/>
            <a:ext cx="509483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Origen: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Kitchenham et al. (2004) proponen aplicar el modelo de la </a:t>
            </a:r>
            <a:pPr algn="l" indent="0" marL="0">
              <a:lnSpc>
                <a:spcPct val="108000"/>
              </a:lnSpc>
              <a:buNone/>
            </a:pPr>
            <a:r>
              <a:rPr lang="en-US" sz="6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medicina basada en evidencia</a:t>
            </a:r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a la Ingeniería de Software — el marco EBSE.</a:t>
            </a:r>
            <a:endParaRPr lang="en-US" sz="650" dirty="0"/>
          </a:p>
        </p:txBody>
      </p:sp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10083" y="908149"/>
            <a:ext cx="5094833" cy="3107754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204175" y="1515712"/>
            <a:ext cx="1389724" cy="15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Formular pregunta</a:t>
            </a:r>
            <a:endParaRPr lang="en-US" sz="950" dirty="0"/>
          </a:p>
        </p:txBody>
      </p:sp>
      <p:sp>
        <p:nvSpPr>
          <p:cNvPr id="7" name="Text 3"/>
          <p:cNvSpPr/>
          <p:nvPr/>
        </p:nvSpPr>
        <p:spPr>
          <a:xfrm>
            <a:off x="1017468" y="2893457"/>
            <a:ext cx="1389724" cy="15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Buscar evidencia</a:t>
            </a:r>
            <a:endParaRPr lang="en-US" sz="950" dirty="0"/>
          </a:p>
        </p:txBody>
      </p:sp>
      <p:sp>
        <p:nvSpPr>
          <p:cNvPr id="8" name="Text 4"/>
          <p:cNvSpPr/>
          <p:nvPr/>
        </p:nvSpPr>
        <p:spPr>
          <a:xfrm>
            <a:off x="2006911" y="1663935"/>
            <a:ext cx="1427446" cy="15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Evaluar evidencia</a:t>
            </a:r>
            <a:endParaRPr lang="en-US" sz="950" dirty="0"/>
          </a:p>
        </p:txBody>
      </p:sp>
      <p:sp>
        <p:nvSpPr>
          <p:cNvPr id="9" name="Text 5"/>
          <p:cNvSpPr/>
          <p:nvPr/>
        </p:nvSpPr>
        <p:spPr>
          <a:xfrm>
            <a:off x="2811784" y="3253574"/>
            <a:ext cx="1389724" cy="154667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Aplicar resultados</a:t>
            </a:r>
            <a:endParaRPr lang="en-US" sz="950" dirty="0"/>
          </a:p>
        </p:txBody>
      </p:sp>
      <p:sp>
        <p:nvSpPr>
          <p:cNvPr id="10" name="Text 6"/>
          <p:cNvSpPr/>
          <p:nvPr/>
        </p:nvSpPr>
        <p:spPr>
          <a:xfrm>
            <a:off x="3842385" y="1987620"/>
            <a:ext cx="1389723" cy="15466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ct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Evaluar impacto</a:t>
            </a:r>
            <a:endParaRPr lang="en-US" sz="950" dirty="0"/>
          </a:p>
        </p:txBody>
      </p:sp>
      <p:sp>
        <p:nvSpPr>
          <p:cNvPr id="11" name="Text 7"/>
          <p:cNvSpPr/>
          <p:nvPr/>
        </p:nvSpPr>
        <p:spPr>
          <a:xfrm>
            <a:off x="310083" y="4078188"/>
            <a:ext cx="5094833" cy="2303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ciclo EBSE transforma la práctica de IS: cada decisión de diseño pasa por un proceso sistemático de búsqueda, evaluación y aplicación de evidencia — igual que en la medicina clínica moderna.</a:t>
            </a:r>
            <a:endParaRPr lang="en-US" sz="650" dirty="0"/>
          </a:p>
        </p:txBody>
      </p:sp>
      <p:sp>
        <p:nvSpPr>
          <p:cNvPr id="12" name="Shape 8"/>
          <p:cNvSpPr/>
          <p:nvPr/>
        </p:nvSpPr>
        <p:spPr>
          <a:xfrm>
            <a:off x="310083" y="4370859"/>
            <a:ext cx="5094833" cy="517103"/>
          </a:xfrm>
          <a:prstGeom prst="roundRect">
            <a:avLst>
              <a:gd name="adj" fmla="val 7197"/>
            </a:avLst>
          </a:prstGeom>
          <a:solidFill>
            <a:srgbClr val="B6FCB8"/>
          </a:solidFill>
          <a:ln/>
        </p:spPr>
      </p:sp>
      <p:pic>
        <p:nvPicPr>
          <p:cNvPr id="13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98636" y="4494461"/>
            <a:ext cx="110728" cy="88553"/>
          </a:xfrm>
          <a:prstGeom prst="rect">
            <a:avLst/>
          </a:prstGeom>
        </p:spPr>
      </p:pic>
      <p:sp>
        <p:nvSpPr>
          <p:cNvPr id="14" name="Text 9"/>
          <p:cNvSpPr/>
          <p:nvPr/>
        </p:nvSpPr>
        <p:spPr>
          <a:xfrm>
            <a:off x="597917" y="4448324"/>
            <a:ext cx="4718447" cy="345579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08000"/>
              </a:lnSpc>
              <a:buNone/>
            </a:pPr>
            <a:r>
              <a:rPr lang="en-US" sz="6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Conexión NASA — Open Science: La NASA aplica exactamente este ciclo. Cada misión genera datos abiertos, revisados por pares y reproducibles — disponibles para que cualquier investigador valide o refute los hallazgos. Resultado: decisiones de diseño respaldadas por datos, no por intuición.</a:t>
            </a:r>
            <a:endParaRPr lang="en-US" sz="65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903759" y="347737"/>
            <a:ext cx="6615113" cy="332259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0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Sin datos FAIR, el conocimiento queda atrapado</a:t>
            </a:r>
            <a:endParaRPr lang="en-US" sz="2050" dirty="0"/>
          </a:p>
        </p:txBody>
      </p:sp>
      <p:sp>
        <p:nvSpPr>
          <p:cNvPr id="3" name="Text 1"/>
          <p:cNvSpPr/>
          <p:nvPr/>
        </p:nvSpPr>
        <p:spPr>
          <a:xfrm>
            <a:off x="903759" y="839465"/>
            <a:ext cx="7793608" cy="14882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Principios FAIR</a:t>
            </a:r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Wilkinson et al. (2016): el estándar internacional de rigor para datos de investigación científica y de ingeniería.</a:t>
            </a:r>
            <a:endParaRPr lang="en-US" sz="800" dirty="0"/>
          </a:p>
        </p:txBody>
      </p:sp>
      <p:pic>
        <p:nvPicPr>
          <p:cNvPr id="4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pic>
        <p:nvPicPr>
          <p:cNvPr id="5" name="Image 1" descr="preencoded.png">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3759" y="1167631"/>
            <a:ext cx="3538463" cy="3538463"/>
          </a:xfrm>
          <a:prstGeom prst="rect">
            <a:avLst/>
          </a:prstGeom>
        </p:spPr>
      </p:pic>
      <p:sp>
        <p:nvSpPr>
          <p:cNvPr id="6" name="Text 2"/>
          <p:cNvSpPr/>
          <p:nvPr/>
        </p:nvSpPr>
        <p:spPr>
          <a:xfrm>
            <a:off x="4706392" y="1163836"/>
            <a:ext cx="3296096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Impacto en IS cuando los datos NO son FAIR</a:t>
            </a:r>
            <a:endParaRPr lang="en-US" sz="1000" dirty="0"/>
          </a:p>
        </p:txBody>
      </p:sp>
      <p:sp>
        <p:nvSpPr>
          <p:cNvPr id="7" name="Shape 3"/>
          <p:cNvSpPr/>
          <p:nvPr/>
        </p:nvSpPr>
        <p:spPr>
          <a:xfrm>
            <a:off x="4706392" y="1419597"/>
            <a:ext cx="3538463" cy="784547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8" name="Shape 4"/>
          <p:cNvSpPr/>
          <p:nvPr/>
        </p:nvSpPr>
        <p:spPr>
          <a:xfrm>
            <a:off x="4692104" y="1419597"/>
            <a:ext cx="57150" cy="78454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9" name="Text 5"/>
          <p:cNvSpPr/>
          <p:nvPr/>
        </p:nvSpPr>
        <p:spPr>
          <a:xfrm>
            <a:off x="4869805" y="1540148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replicable</a:t>
            </a:r>
            <a:endParaRPr lang="en-US" sz="1000" dirty="0"/>
          </a:p>
        </p:txBody>
      </p:sp>
      <p:sp>
        <p:nvSpPr>
          <p:cNvPr id="10" name="Text 6"/>
          <p:cNvSpPr/>
          <p:nvPr/>
        </p:nvSpPr>
        <p:spPr>
          <a:xfrm>
            <a:off x="4869805" y="1785938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puede replicar el estudio → no sabemos si el resultado es real o un artefacto del contexto.</a:t>
            </a:r>
            <a:endParaRPr lang="en-US" sz="800" dirty="0"/>
          </a:p>
        </p:txBody>
      </p:sp>
      <p:sp>
        <p:nvSpPr>
          <p:cNvPr id="11" name="Shape 7"/>
          <p:cNvSpPr/>
          <p:nvPr/>
        </p:nvSpPr>
        <p:spPr>
          <a:xfrm>
            <a:off x="4706392" y="2283842"/>
            <a:ext cx="3538463" cy="784547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2" name="Shape 8"/>
          <p:cNvSpPr/>
          <p:nvPr/>
        </p:nvSpPr>
        <p:spPr>
          <a:xfrm>
            <a:off x="4692104" y="2283842"/>
            <a:ext cx="57150" cy="78454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3" name="Text 9"/>
          <p:cNvSpPr/>
          <p:nvPr/>
        </p:nvSpPr>
        <p:spPr>
          <a:xfrm>
            <a:off x="4869805" y="2404393"/>
            <a:ext cx="1329035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No acumulable</a:t>
            </a:r>
            <a:endParaRPr lang="en-US" sz="1000" dirty="0"/>
          </a:p>
        </p:txBody>
      </p:sp>
      <p:sp>
        <p:nvSpPr>
          <p:cNvPr id="14" name="Text 10"/>
          <p:cNvSpPr/>
          <p:nvPr/>
        </p:nvSpPr>
        <p:spPr>
          <a:xfrm>
            <a:off x="4869805" y="2650182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No se puede comparar con otros estudios → no acumulamos conocimiento colectivo en la disciplina.</a:t>
            </a:r>
            <a:endParaRPr lang="en-US" sz="800" dirty="0"/>
          </a:p>
        </p:txBody>
      </p:sp>
      <p:sp>
        <p:nvSpPr>
          <p:cNvPr id="15" name="Shape 11"/>
          <p:cNvSpPr/>
          <p:nvPr/>
        </p:nvSpPr>
        <p:spPr>
          <a:xfrm>
            <a:off x="4706392" y="3148087"/>
            <a:ext cx="3538463" cy="784547"/>
          </a:xfrm>
          <a:prstGeom prst="roundRect">
            <a:avLst>
              <a:gd name="adj" fmla="val 8741"/>
            </a:avLst>
          </a:prstGeom>
          <a:solidFill>
            <a:srgbClr val="FFFFFF"/>
          </a:solidFill>
          <a:ln w="14288">
            <a:solidFill>
              <a:srgbClr val="C0C1D7"/>
            </a:solidFill>
            <a:prstDash val="solid"/>
          </a:ln>
        </p:spPr>
      </p:sp>
      <p:sp>
        <p:nvSpPr>
          <p:cNvPr id="16" name="Shape 12"/>
          <p:cNvSpPr/>
          <p:nvPr/>
        </p:nvSpPr>
        <p:spPr>
          <a:xfrm>
            <a:off x="4692104" y="3148087"/>
            <a:ext cx="57150" cy="784547"/>
          </a:xfrm>
          <a:prstGeom prst="roundRect">
            <a:avLst>
              <a:gd name="adj" fmla="val 78140"/>
            </a:avLst>
          </a:prstGeom>
          <a:solidFill>
            <a:srgbClr val="4950BC"/>
          </a:solidFill>
          <a:ln/>
        </p:spPr>
      </p:sp>
      <p:sp>
        <p:nvSpPr>
          <p:cNvPr id="17" name="Text 13"/>
          <p:cNvSpPr/>
          <p:nvPr/>
        </p:nvSpPr>
        <p:spPr>
          <a:xfrm>
            <a:off x="4869805" y="3268638"/>
            <a:ext cx="1439094" cy="16609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0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Conocimiento efímero</a:t>
            </a:r>
            <a:endParaRPr lang="en-US" sz="1000" dirty="0"/>
          </a:p>
        </p:txBody>
      </p:sp>
      <p:sp>
        <p:nvSpPr>
          <p:cNvPr id="18" name="Text 14"/>
          <p:cNvSpPr/>
          <p:nvPr/>
        </p:nvSpPr>
        <p:spPr>
          <a:xfrm>
            <a:off x="4869805" y="3514427"/>
            <a:ext cx="3254499" cy="29765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El "conocimiento" generado muere con el paper — no trasciende ni transforma la práctica.</a:t>
            </a:r>
            <a:endParaRPr lang="en-US" sz="800" dirty="0"/>
          </a:p>
        </p:txBody>
      </p:sp>
      <p:sp>
        <p:nvSpPr>
          <p:cNvPr id="19" name="Shape 15"/>
          <p:cNvSpPr/>
          <p:nvPr/>
        </p:nvSpPr>
        <p:spPr>
          <a:xfrm>
            <a:off x="4706392" y="4022303"/>
            <a:ext cx="3538463" cy="677614"/>
          </a:xfrm>
          <a:prstGeom prst="roundRect">
            <a:avLst>
              <a:gd name="adj" fmla="val 6590"/>
            </a:avLst>
          </a:prstGeom>
          <a:solidFill>
            <a:srgbClr val="B6D6FC"/>
          </a:solidFill>
          <a:ln/>
        </p:spPr>
      </p:sp>
      <p:pic>
        <p:nvPicPr>
          <p:cNvPr id="20" name="Image 2" descr="preencoded.png">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812655" y="4176415"/>
            <a:ext cx="132904" cy="106263"/>
          </a:xfrm>
          <a:prstGeom prst="rect">
            <a:avLst/>
          </a:prstGeom>
        </p:spPr>
      </p:pic>
      <p:sp>
        <p:nvSpPr>
          <p:cNvPr id="21" name="Text 16"/>
          <p:cNvSpPr/>
          <p:nvPr/>
        </p:nvSpPr>
        <p:spPr>
          <a:xfrm>
            <a:off x="5051822" y="4128567"/>
            <a:ext cx="3086770" cy="446484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7000"/>
              </a:lnSpc>
              <a:buNone/>
            </a:pPr>
            <a:r>
              <a:rPr lang="en-US" sz="80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Caso NASA: Los datos de GeneLab, JunoCam y el Telescopio James Webb son públicos, con DOI, en formatos abiertos — cualquier equipo del mundo puede verificarlos.</a:t>
            </a:r>
            <a:endParaRPr lang="en-US" sz="80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1209452" y="330845"/>
            <a:ext cx="6317605" cy="30450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9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De artesanía a ciencia: la evolución del rigor en IS</a:t>
            </a:r>
            <a:endParaRPr lang="en-US" sz="1900" dirty="0"/>
          </a:p>
        </p:txBody>
      </p:sp>
      <p:sp>
        <p:nvSpPr>
          <p:cNvPr id="3" name="Text 1"/>
          <p:cNvSpPr/>
          <p:nvPr/>
        </p:nvSpPr>
        <p:spPr>
          <a:xfrm>
            <a:off x="1209452" y="769293"/>
            <a:ext cx="6725022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Ingeniería de Software tardó décadas en reconocer que necesita su propia ciencia rigurosa. Hoy ese reconocimiento es el núcleo de la disciplina.</a:t>
            </a:r>
            <a:endParaRPr lang="en-US" sz="750" dirty="0"/>
          </a:p>
        </p:txBody>
      </p:sp>
      <p:sp>
        <p:nvSpPr>
          <p:cNvPr id="4" name="Shape 2"/>
          <p:cNvSpPr/>
          <p:nvPr/>
        </p:nvSpPr>
        <p:spPr>
          <a:xfrm>
            <a:off x="4564782" y="1107802"/>
            <a:ext cx="14288" cy="3704853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5" name="Shape 3"/>
          <p:cNvSpPr/>
          <p:nvPr/>
        </p:nvSpPr>
        <p:spPr>
          <a:xfrm>
            <a:off x="4184228" y="1210270"/>
            <a:ext cx="292373" cy="14288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6" name="Shape 4"/>
          <p:cNvSpPr/>
          <p:nvPr/>
        </p:nvSpPr>
        <p:spPr>
          <a:xfrm>
            <a:off x="4462314" y="1107802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498851" y="1126071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</a:t>
            </a:r>
            <a:endParaRPr lang="en-US" sz="1150" dirty="0"/>
          </a:p>
        </p:txBody>
      </p:sp>
      <p:sp>
        <p:nvSpPr>
          <p:cNvPr id="8" name="Text 6"/>
          <p:cNvSpPr/>
          <p:nvPr/>
        </p:nvSpPr>
        <p:spPr>
          <a:xfrm>
            <a:off x="2866355" y="1141288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1968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1209452" y="1333723"/>
            <a:ext cx="2875211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Conferencia OTAN — se nombra por primera vez la </a:t>
            </a:r>
            <a:pPr algn="r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"crisis del software"</a:t>
            </a:r>
            <a:endParaRPr lang="en-US" sz="750" dirty="0"/>
          </a:p>
        </p:txBody>
      </p:sp>
      <p:sp>
        <p:nvSpPr>
          <p:cNvPr id="10" name="Shape 8"/>
          <p:cNvSpPr/>
          <p:nvPr/>
        </p:nvSpPr>
        <p:spPr>
          <a:xfrm>
            <a:off x="4667250" y="1734071"/>
            <a:ext cx="292373" cy="14288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11" name="Shape 9"/>
          <p:cNvSpPr/>
          <p:nvPr/>
        </p:nvSpPr>
        <p:spPr>
          <a:xfrm>
            <a:off x="4462314" y="1631603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498851" y="1649871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</a:t>
            </a:r>
            <a:endParaRPr lang="en-US" sz="1150" dirty="0"/>
          </a:p>
        </p:txBody>
      </p:sp>
      <p:sp>
        <p:nvSpPr>
          <p:cNvPr id="13" name="Text 11"/>
          <p:cNvSpPr/>
          <p:nvPr/>
        </p:nvSpPr>
        <p:spPr>
          <a:xfrm>
            <a:off x="5059189" y="1665089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1996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5059189" y="1857524"/>
            <a:ext cx="287528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Basili &amp; Weiss — IS experimental: medir, analizar, mejorar. Paradigma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GQM</a:t>
            </a:r>
            <a:endParaRPr lang="en-US" sz="750" dirty="0"/>
          </a:p>
        </p:txBody>
      </p:sp>
      <p:sp>
        <p:nvSpPr>
          <p:cNvPr id="15" name="Shape 13"/>
          <p:cNvSpPr/>
          <p:nvPr/>
        </p:nvSpPr>
        <p:spPr>
          <a:xfrm>
            <a:off x="4184228" y="2207642"/>
            <a:ext cx="292373" cy="14288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16" name="Shape 14"/>
          <p:cNvSpPr/>
          <p:nvPr/>
        </p:nvSpPr>
        <p:spPr>
          <a:xfrm>
            <a:off x="4462314" y="2105174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4498851" y="2123442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3</a:t>
            </a:r>
            <a:endParaRPr lang="en-US" sz="1150" dirty="0"/>
          </a:p>
        </p:txBody>
      </p:sp>
      <p:sp>
        <p:nvSpPr>
          <p:cNvPr id="18" name="Text 16"/>
          <p:cNvSpPr/>
          <p:nvPr/>
        </p:nvSpPr>
        <p:spPr>
          <a:xfrm>
            <a:off x="2866355" y="2138660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2002</a:t>
            </a:r>
            <a:endParaRPr lang="en-US" sz="950" dirty="0"/>
          </a:p>
        </p:txBody>
      </p:sp>
      <p:sp>
        <p:nvSpPr>
          <p:cNvPr id="19" name="Text 17"/>
          <p:cNvSpPr/>
          <p:nvPr/>
        </p:nvSpPr>
        <p:spPr>
          <a:xfrm>
            <a:off x="1209452" y="2331095"/>
            <a:ext cx="2875211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Glass denuncia el </a:t>
            </a:r>
            <a:pPr algn="r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"folklore"</a:t>
            </a:r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en IS — llamado urgente a la evidencia empírica</a:t>
            </a:r>
            <a:endParaRPr lang="en-US" sz="750" dirty="0"/>
          </a:p>
        </p:txBody>
      </p:sp>
      <p:sp>
        <p:nvSpPr>
          <p:cNvPr id="20" name="Shape 18"/>
          <p:cNvSpPr/>
          <p:nvPr/>
        </p:nvSpPr>
        <p:spPr>
          <a:xfrm>
            <a:off x="4667250" y="2681213"/>
            <a:ext cx="292373" cy="14288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21" name="Shape 19"/>
          <p:cNvSpPr/>
          <p:nvPr/>
        </p:nvSpPr>
        <p:spPr>
          <a:xfrm>
            <a:off x="4462314" y="2578745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2" name="Text 20"/>
          <p:cNvSpPr/>
          <p:nvPr/>
        </p:nvSpPr>
        <p:spPr>
          <a:xfrm>
            <a:off x="4498851" y="2597014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4</a:t>
            </a:r>
            <a:endParaRPr lang="en-US" sz="1150" dirty="0"/>
          </a:p>
        </p:txBody>
      </p:sp>
      <p:sp>
        <p:nvSpPr>
          <p:cNvPr id="23" name="Text 21"/>
          <p:cNvSpPr/>
          <p:nvPr/>
        </p:nvSpPr>
        <p:spPr>
          <a:xfrm>
            <a:off x="5059189" y="2612231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2004</a:t>
            </a:r>
            <a:endParaRPr lang="en-US" sz="950" dirty="0"/>
          </a:p>
        </p:txBody>
      </p:sp>
      <p:sp>
        <p:nvSpPr>
          <p:cNvPr id="24" name="Text 22"/>
          <p:cNvSpPr/>
          <p:nvPr/>
        </p:nvSpPr>
        <p:spPr>
          <a:xfrm>
            <a:off x="5059189" y="2804666"/>
            <a:ext cx="287528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Kitchenham et al. — </a:t>
            </a:r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Software Engineering (EBSE)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como marco formal</a:t>
            </a:r>
            <a:endParaRPr lang="en-US" sz="750" dirty="0"/>
          </a:p>
        </p:txBody>
      </p:sp>
      <p:sp>
        <p:nvSpPr>
          <p:cNvPr id="25" name="Shape 23"/>
          <p:cNvSpPr/>
          <p:nvPr/>
        </p:nvSpPr>
        <p:spPr>
          <a:xfrm>
            <a:off x="4184228" y="3154784"/>
            <a:ext cx="292373" cy="14288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26" name="Shape 24"/>
          <p:cNvSpPr/>
          <p:nvPr/>
        </p:nvSpPr>
        <p:spPr>
          <a:xfrm>
            <a:off x="4462314" y="3052316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27" name="Text 25"/>
          <p:cNvSpPr/>
          <p:nvPr/>
        </p:nvSpPr>
        <p:spPr>
          <a:xfrm>
            <a:off x="4498851" y="3070585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5</a:t>
            </a:r>
            <a:endParaRPr lang="en-US" sz="1150" dirty="0"/>
          </a:p>
        </p:txBody>
      </p:sp>
      <p:sp>
        <p:nvSpPr>
          <p:cNvPr id="28" name="Text 26"/>
          <p:cNvSpPr/>
          <p:nvPr/>
        </p:nvSpPr>
        <p:spPr>
          <a:xfrm>
            <a:off x="2866355" y="3085802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2007</a:t>
            </a:r>
            <a:endParaRPr lang="en-US" sz="950" dirty="0"/>
          </a:p>
        </p:txBody>
      </p:sp>
      <p:sp>
        <p:nvSpPr>
          <p:cNvPr id="29" name="Text 27"/>
          <p:cNvSpPr/>
          <p:nvPr/>
        </p:nvSpPr>
        <p:spPr>
          <a:xfrm>
            <a:off x="1209452" y="3278237"/>
            <a:ext cx="2875211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Easterbrook et al. — guía de </a:t>
            </a:r>
            <a:pPr algn="r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métodos de investigación</a:t>
            </a:r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para IS</a:t>
            </a:r>
            <a:endParaRPr lang="en-US" sz="750" dirty="0"/>
          </a:p>
        </p:txBody>
      </p:sp>
      <p:sp>
        <p:nvSpPr>
          <p:cNvPr id="30" name="Shape 28"/>
          <p:cNvSpPr/>
          <p:nvPr/>
        </p:nvSpPr>
        <p:spPr>
          <a:xfrm>
            <a:off x="4667250" y="3628355"/>
            <a:ext cx="292373" cy="14288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31" name="Shape 29"/>
          <p:cNvSpPr/>
          <p:nvPr/>
        </p:nvSpPr>
        <p:spPr>
          <a:xfrm>
            <a:off x="4462314" y="3525887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2" name="Text 30"/>
          <p:cNvSpPr/>
          <p:nvPr/>
        </p:nvSpPr>
        <p:spPr>
          <a:xfrm>
            <a:off x="4498851" y="3544156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6</a:t>
            </a:r>
            <a:endParaRPr lang="en-US" sz="1150" dirty="0"/>
          </a:p>
        </p:txBody>
      </p:sp>
      <p:sp>
        <p:nvSpPr>
          <p:cNvPr id="33" name="Text 31"/>
          <p:cNvSpPr/>
          <p:nvPr/>
        </p:nvSpPr>
        <p:spPr>
          <a:xfrm>
            <a:off x="5059189" y="3559373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2008+</a:t>
            </a:r>
            <a:endParaRPr lang="en-US" sz="950" dirty="0"/>
          </a:p>
        </p:txBody>
      </p:sp>
      <p:sp>
        <p:nvSpPr>
          <p:cNvPr id="34" name="Text 32"/>
          <p:cNvSpPr/>
          <p:nvPr/>
        </p:nvSpPr>
        <p:spPr>
          <a:xfrm>
            <a:off x="5059189" y="3751808"/>
            <a:ext cx="2875285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Mining Software Repositories (MSR)</a:t>
            </a:r>
            <a:pPr algn="l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— análisis masivo de GitHub, Stack Overflow, Jira</a:t>
            </a:r>
            <a:endParaRPr lang="en-US" sz="750" dirty="0"/>
          </a:p>
        </p:txBody>
      </p:sp>
      <p:sp>
        <p:nvSpPr>
          <p:cNvPr id="35" name="Shape 33"/>
          <p:cNvSpPr/>
          <p:nvPr/>
        </p:nvSpPr>
        <p:spPr>
          <a:xfrm>
            <a:off x="4184228" y="4101926"/>
            <a:ext cx="292373" cy="14288"/>
          </a:xfrm>
          <a:prstGeom prst="roundRect">
            <a:avLst>
              <a:gd name="adj" fmla="val 286502"/>
            </a:avLst>
          </a:prstGeom>
          <a:solidFill>
            <a:srgbClr val="C0C1D7"/>
          </a:solidFill>
          <a:ln/>
        </p:spPr>
      </p:sp>
      <p:sp>
        <p:nvSpPr>
          <p:cNvPr id="36" name="Shape 34"/>
          <p:cNvSpPr/>
          <p:nvPr/>
        </p:nvSpPr>
        <p:spPr>
          <a:xfrm>
            <a:off x="4462314" y="3999458"/>
            <a:ext cx="219224" cy="219224"/>
          </a:xfrm>
          <a:prstGeom prst="roundRect">
            <a:avLst>
              <a:gd name="adj" fmla="val 18673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37" name="Text 35"/>
          <p:cNvSpPr/>
          <p:nvPr/>
        </p:nvSpPr>
        <p:spPr>
          <a:xfrm>
            <a:off x="4498851" y="4017727"/>
            <a:ext cx="146149" cy="182687"/>
          </a:xfrm>
          <a:prstGeom prst="rect">
            <a:avLst/>
          </a:prstGeom>
          <a:noFill/>
          <a:ln/>
        </p:spPr>
        <p:txBody>
          <a:bodyPr wrap="none" lIns="0" tIns="0" rIns="0" bIns="0" rtlCol="0" anchor="ctr"/>
          <a:lstStyle/>
          <a:p>
            <a:pPr algn="ctr" indent="0" marL="0">
              <a:lnSpc>
                <a:spcPct val="100000"/>
              </a:lnSpc>
              <a:buNone/>
            </a:pPr>
            <a:r>
              <a:rPr lang="en-US" sz="11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7</a:t>
            </a:r>
            <a:endParaRPr lang="en-US" sz="1150" dirty="0"/>
          </a:p>
        </p:txBody>
      </p:sp>
      <p:sp>
        <p:nvSpPr>
          <p:cNvPr id="38" name="Text 36"/>
          <p:cNvSpPr/>
          <p:nvPr/>
        </p:nvSpPr>
        <p:spPr>
          <a:xfrm>
            <a:off x="2866355" y="4032945"/>
            <a:ext cx="1218307" cy="152251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r" indent="0" marL="0">
              <a:lnSpc>
                <a:spcPct val="104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Hoy</a:t>
            </a:r>
            <a:endParaRPr lang="en-US" sz="950" dirty="0"/>
          </a:p>
        </p:txBody>
      </p:sp>
      <p:sp>
        <p:nvSpPr>
          <p:cNvPr id="39" name="Text 37"/>
          <p:cNvSpPr/>
          <p:nvPr/>
        </p:nvSpPr>
        <p:spPr>
          <a:xfrm>
            <a:off x="1209452" y="4225379"/>
            <a:ext cx="2875211" cy="263128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Estudios con millones de repositorios, </a:t>
            </a:r>
            <a:pPr algn="r" indent="0" marL="0">
              <a:lnSpc>
                <a:spcPct val="113000"/>
              </a:lnSpc>
              <a:buNone/>
            </a:pPr>
            <a:r>
              <a:rPr lang="en-US" sz="7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datasets abiertos</a:t>
            </a:r>
            <a:pPr algn="r" indent="0" marL="0">
              <a:lnSpc>
                <a:spcPct val="113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, reproducibilidad como requisito editorial</a:t>
            </a:r>
            <a:endParaRPr lang="en-US" sz="75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85911"/>
            <a:ext cx="6359277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¿Qué creemos vs. qué sabemos en IS?</a:t>
            </a:r>
            <a:endParaRPr lang="en-US" sz="2450" dirty="0"/>
          </a:p>
        </p:txBody>
      </p:sp>
      <p:sp>
        <p:nvSpPr>
          <p:cNvPr id="3" name="Text 1"/>
          <p:cNvSpPr/>
          <p:nvPr/>
        </p:nvSpPr>
        <p:spPr>
          <a:xfrm>
            <a:off x="441871" y="1005334"/>
            <a:ext cx="8702129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ejercicio de reflexión crítica: contrastando el folklore extendido con lo que la investigación empírica realmente nos dice.</a:t>
            </a:r>
            <a:endParaRPr lang="en-US" sz="950" dirty="0"/>
          </a:p>
        </p:txBody>
      </p:sp>
      <p:sp>
        <p:nvSpPr>
          <p:cNvPr id="4" name="Shape 2"/>
          <p:cNvSpPr/>
          <p:nvPr/>
        </p:nvSpPr>
        <p:spPr>
          <a:xfrm>
            <a:off x="441871" y="1322784"/>
            <a:ext cx="8260259" cy="2808982"/>
          </a:xfrm>
          <a:prstGeom prst="roundRect">
            <a:avLst>
              <a:gd name="adj" fmla="val 1888"/>
            </a:avLst>
          </a:prstGeom>
          <a:noFill/>
          <a:ln w="4763">
            <a:solidFill>
              <a:srgbClr val="000000">
                <a:alpha val="8000"/>
              </a:srgbClr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572914" y="1399729"/>
            <a:ext cx="39152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Creencia común ("folklore")</a:t>
            </a:r>
            <a:endParaRPr lang="en-US" sz="950" dirty="0"/>
          </a:p>
        </p:txBody>
      </p:sp>
      <p:sp>
        <p:nvSpPr>
          <p:cNvPr id="6" name="Text 4"/>
          <p:cNvSpPr/>
          <p:nvPr/>
        </p:nvSpPr>
        <p:spPr>
          <a:xfrm>
            <a:off x="4288110" y="1399729"/>
            <a:ext cx="474025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¿Qué dice la evidencia?</a:t>
            </a:r>
            <a:endParaRPr lang="en-US" sz="950" dirty="0"/>
          </a:p>
        </p:txBody>
      </p:sp>
      <p:sp>
        <p:nvSpPr>
          <p:cNvPr id="7" name="Text 5"/>
          <p:cNvSpPr/>
          <p:nvPr/>
        </p:nvSpPr>
        <p:spPr>
          <a:xfrm>
            <a:off x="572914" y="1739801"/>
            <a:ext cx="39152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"Más horas de trabajo = mejor software"</a:t>
            </a:r>
            <a:endParaRPr lang="en-US" sz="950" dirty="0"/>
          </a:p>
        </p:txBody>
      </p:sp>
      <p:sp>
        <p:nvSpPr>
          <p:cNvPr id="8" name="Text 6"/>
          <p:cNvSpPr/>
          <p:nvPr/>
        </p:nvSpPr>
        <p:spPr>
          <a:xfrm>
            <a:off x="4288110" y="1739801"/>
            <a:ext cx="428305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Estudio NASA: productividad cae después de 50h/semana; los errores aumentan significativamente</a:t>
            </a:r>
            <a:endParaRPr lang="en-US" sz="950" dirty="0"/>
          </a:p>
        </p:txBody>
      </p:sp>
      <p:sp>
        <p:nvSpPr>
          <p:cNvPr id="9" name="Text 7"/>
          <p:cNvSpPr/>
          <p:nvPr/>
        </p:nvSpPr>
        <p:spPr>
          <a:xfrm>
            <a:off x="572914" y="2270820"/>
            <a:ext cx="39152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"El pair programming es una pérdida de tiempo"</a:t>
            </a:r>
            <a:endParaRPr lang="en-US" sz="950" dirty="0"/>
          </a:p>
        </p:txBody>
      </p:sp>
      <p:sp>
        <p:nvSpPr>
          <p:cNvPr id="10" name="Text 8"/>
          <p:cNvSpPr/>
          <p:nvPr/>
        </p:nvSpPr>
        <p:spPr>
          <a:xfrm>
            <a:off x="4288110" y="2270820"/>
            <a:ext cx="4740250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Williams et al. (2000): mejora la calidad y reduce defectos en un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15%</a:t>
            </a:r>
            <a:endParaRPr lang="en-US" sz="950" dirty="0"/>
          </a:p>
        </p:txBody>
      </p:sp>
      <p:sp>
        <p:nvSpPr>
          <p:cNvPr id="11" name="Text 9"/>
          <p:cNvSpPr/>
          <p:nvPr/>
        </p:nvSpPr>
        <p:spPr>
          <a:xfrm>
            <a:off x="572914" y="2610892"/>
            <a:ext cx="39152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"Los comentarios mejoran la comprensión del código"</a:t>
            </a:r>
            <a:endParaRPr lang="en-US" sz="950" dirty="0"/>
          </a:p>
        </p:txBody>
      </p:sp>
      <p:sp>
        <p:nvSpPr>
          <p:cNvPr id="12" name="Text 10"/>
          <p:cNvSpPr/>
          <p:nvPr/>
        </p:nvSpPr>
        <p:spPr>
          <a:xfrm>
            <a:off x="4288110" y="2610892"/>
            <a:ext cx="428305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Ifflaender et al. (2021): los comentarios desactualizados confunden más de lo que ayudan</a:t>
            </a:r>
            <a:endParaRPr lang="en-US" sz="950" dirty="0"/>
          </a:p>
        </p:txBody>
      </p:sp>
      <p:sp>
        <p:nvSpPr>
          <p:cNvPr id="13" name="Text 11"/>
          <p:cNvSpPr/>
          <p:nvPr/>
        </p:nvSpPr>
        <p:spPr>
          <a:xfrm>
            <a:off x="572914" y="3141911"/>
            <a:ext cx="39152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"Ágil siempre es mejor que cascada"</a:t>
            </a:r>
            <a:endParaRPr lang="en-US" sz="950" dirty="0"/>
          </a:p>
        </p:txBody>
      </p:sp>
      <p:sp>
        <p:nvSpPr>
          <p:cNvPr id="14" name="Text 12"/>
          <p:cNvSpPr/>
          <p:nvPr/>
        </p:nvSpPr>
        <p:spPr>
          <a:xfrm>
            <a:off x="4288110" y="3141911"/>
            <a:ext cx="428305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La evidencia muestra que depende del contexto, tamaño del equipo y tipo de producto</a:t>
            </a:r>
            <a:endParaRPr lang="en-US" sz="950" dirty="0"/>
          </a:p>
        </p:txBody>
      </p:sp>
      <p:sp>
        <p:nvSpPr>
          <p:cNvPr id="15" name="Text 13"/>
          <p:cNvSpPr/>
          <p:nvPr/>
        </p:nvSpPr>
        <p:spPr>
          <a:xfrm>
            <a:off x="572914" y="3672929"/>
            <a:ext cx="3915221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"TDD siempre produce código de mejor calidad"</a:t>
            </a:r>
            <a:endParaRPr lang="en-US" sz="950" dirty="0"/>
          </a:p>
        </p:txBody>
      </p:sp>
      <p:sp>
        <p:nvSpPr>
          <p:cNvPr id="16" name="Text 14"/>
          <p:cNvSpPr/>
          <p:nvPr/>
        </p:nvSpPr>
        <p:spPr>
          <a:xfrm>
            <a:off x="4288110" y="3672929"/>
            <a:ext cx="4283050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Resultados mixtos: beneficios dependen de la experiencia del equipo y la complejidad del dominio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441871" y="4258270"/>
            <a:ext cx="8260259" cy="499244"/>
          </a:xfrm>
          <a:prstGeom prst="roundRect">
            <a:avLst>
              <a:gd name="adj" fmla="val 10622"/>
            </a:avLst>
          </a:prstGeom>
          <a:solidFill>
            <a:srgbClr val="D9D9D9"/>
          </a:solidFill>
          <a:ln/>
        </p:spPr>
      </p:sp>
      <p:pic>
        <p:nvPicPr>
          <p:cNvPr id="18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77" y="4448473"/>
            <a:ext cx="157758" cy="126206"/>
          </a:xfrm>
          <a:prstGeom prst="rect">
            <a:avLst/>
          </a:prstGeom>
        </p:spPr>
      </p:pic>
      <p:sp>
        <p:nvSpPr>
          <p:cNvPr id="19" name="Text 16"/>
          <p:cNvSpPr/>
          <p:nvPr/>
        </p:nvSpPr>
        <p:spPr>
          <a:xfrm>
            <a:off x="852041" y="4402262"/>
            <a:ext cx="8181082" cy="190946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Reflexión para el aula: ¿Cuántas de sus decisiones técnicas actuales están basadas en folklore no validado?</a:t>
            </a:r>
            <a:endParaRPr lang="en-US" sz="950" dirty="0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41871" y="365671"/>
            <a:ext cx="4465737" cy="394543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245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Síntesis y próximos pasos</a:t>
            </a:r>
            <a:endParaRPr lang="en-US" sz="2450" dirty="0"/>
          </a:p>
        </p:txBody>
      </p:sp>
      <p:sp>
        <p:nvSpPr>
          <p:cNvPr id="3" name="Shape 1"/>
          <p:cNvSpPr/>
          <p:nvPr/>
        </p:nvSpPr>
        <p:spPr>
          <a:xfrm>
            <a:off x="441871" y="985093"/>
            <a:ext cx="4073872" cy="908521"/>
          </a:xfrm>
          <a:prstGeom prst="roundRect">
            <a:avLst>
              <a:gd name="adj" fmla="val 583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572839" y="1116062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Folklore en IS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572839" y="1380753"/>
            <a:ext cx="38119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IS está llena de creencias no validadas que pueden tener consecuencias graves en sistemas reales.</a:t>
            </a:r>
            <a:endParaRPr lang="en-US" sz="950" dirty="0"/>
          </a:p>
        </p:txBody>
      </p:sp>
      <p:sp>
        <p:nvSpPr>
          <p:cNvPr id="6" name="Shape 4"/>
          <p:cNvSpPr/>
          <p:nvPr/>
        </p:nvSpPr>
        <p:spPr>
          <a:xfrm>
            <a:off x="4628183" y="985093"/>
            <a:ext cx="4073947" cy="908521"/>
          </a:xfrm>
          <a:prstGeom prst="roundRect">
            <a:avLst>
              <a:gd name="adj" fmla="val 583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4759151" y="1116062"/>
            <a:ext cx="1761083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Conocimiento riguroso</a:t>
            </a:r>
            <a:endParaRPr lang="en-US" sz="1200" dirty="0"/>
          </a:p>
        </p:txBody>
      </p:sp>
      <p:sp>
        <p:nvSpPr>
          <p:cNvPr id="8" name="Text 6"/>
          <p:cNvSpPr/>
          <p:nvPr/>
        </p:nvSpPr>
        <p:spPr>
          <a:xfrm>
            <a:off x="4759151" y="1380753"/>
            <a:ext cx="38120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Requiere: validez, reproducibilidad, generalización, revisión por pares y evidencia empírica.</a:t>
            </a:r>
            <a:endParaRPr lang="en-US" sz="950" dirty="0"/>
          </a:p>
        </p:txBody>
      </p:sp>
      <p:sp>
        <p:nvSpPr>
          <p:cNvPr id="9" name="Shape 7"/>
          <p:cNvSpPr/>
          <p:nvPr/>
        </p:nvSpPr>
        <p:spPr>
          <a:xfrm>
            <a:off x="441871" y="2006054"/>
            <a:ext cx="4073872" cy="908521"/>
          </a:xfrm>
          <a:prstGeom prst="roundRect">
            <a:avLst>
              <a:gd name="adj" fmla="val 583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572839" y="213702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Marco EBSE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572839" y="2401714"/>
            <a:ext cx="3811935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Evidence-Based Software Engineering transforma IS en una disciplina científica acumulable.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4628183" y="2006054"/>
            <a:ext cx="4073947" cy="908521"/>
          </a:xfrm>
          <a:prstGeom prst="roundRect">
            <a:avLst>
              <a:gd name="adj" fmla="val 5837"/>
            </a:avLst>
          </a:prstGeom>
          <a:solidFill>
            <a:srgbClr val="DADBF1"/>
          </a:solidFill>
          <a:ln w="4763">
            <a:solidFill>
              <a:srgbClr val="C0C1D7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4759151" y="2137023"/>
            <a:ext cx="1578248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272525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Principios FAIR</a:t>
            </a:r>
            <a:endParaRPr lang="en-US" sz="1200" dirty="0"/>
          </a:p>
        </p:txBody>
      </p:sp>
      <p:sp>
        <p:nvSpPr>
          <p:cNvPr id="14" name="Text 12"/>
          <p:cNvSpPr/>
          <p:nvPr/>
        </p:nvSpPr>
        <p:spPr>
          <a:xfrm>
            <a:off x="4759151" y="2401714"/>
            <a:ext cx="3812009" cy="381893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Garantizan que el conocimiento generado sea reproducible, comparable y acumulable.</a:t>
            </a:r>
            <a:endParaRPr lang="en-US" sz="950" dirty="0"/>
          </a:p>
        </p:txBody>
      </p:sp>
      <p:sp>
        <p:nvSpPr>
          <p:cNvPr id="15" name="Shape 13"/>
          <p:cNvSpPr/>
          <p:nvPr/>
        </p:nvSpPr>
        <p:spPr>
          <a:xfrm>
            <a:off x="441871" y="3041079"/>
            <a:ext cx="8260259" cy="1381795"/>
          </a:xfrm>
          <a:prstGeom prst="roundRect">
            <a:avLst>
              <a:gd name="adj" fmla="val 3838"/>
            </a:avLst>
          </a:prstGeom>
          <a:solidFill>
            <a:srgbClr val="C7C9EA"/>
          </a:solidFill>
          <a:ln/>
        </p:spPr>
      </p:sp>
      <p:pic>
        <p:nvPicPr>
          <p:cNvPr id="16" name="Image 0" descr="preencoded.png">    </p:cNvPr>
          <p:cNvPicPr>
            <a:picLocks noChangeAspect="1"/>
          </p:cNvPicPr>
          <p:nvPr/>
        </p:nvPicPr>
        <p:blipFill>
          <a:blip r:embed="rId1"/>
          <a:stretch>
            <a:fillRect/>
          </a:stretch>
        </p:blipFill>
        <p:spPr>
          <a:xfrm>
            <a:off x="568077" y="3199433"/>
            <a:ext cx="197272" cy="157758"/>
          </a:xfrm>
          <a:prstGeom prst="rect">
            <a:avLst/>
          </a:prstGeom>
        </p:spPr>
      </p:pic>
      <p:sp>
        <p:nvSpPr>
          <p:cNvPr id="17" name="Text 14"/>
          <p:cNvSpPr/>
          <p:nvPr/>
        </p:nvSpPr>
        <p:spPr>
          <a:xfrm>
            <a:off x="891555" y="3185071"/>
            <a:ext cx="3223096" cy="197272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04000"/>
              </a:lnSpc>
              <a:buNone/>
            </a:pPr>
            <a:r>
              <a:rPr lang="en-US" sz="1200" b="1" dirty="0">
                <a:solidFill>
                  <a:srgbClr val="000000"/>
                </a:solidFill>
                <a:latin typeface="Inter Bold" pitchFamily="34" charset="0"/>
                <a:ea typeface="Inter Bold" pitchFamily="34" charset="-122"/>
                <a:cs typeface="Inter Bold" pitchFamily="34" charset="-120"/>
              </a:rPr>
              <a:t>INVB5 — Investigación Bibliográfica</a:t>
            </a:r>
            <a:endParaRPr lang="en-US" sz="1200" dirty="0"/>
          </a:p>
        </p:txBody>
      </p:sp>
      <p:sp>
        <p:nvSpPr>
          <p:cNvPr id="18" name="Text 15"/>
          <p:cNvSpPr/>
          <p:nvPr/>
        </p:nvSpPr>
        <p:spPr>
          <a:xfrm>
            <a:off x="891555" y="3494782"/>
            <a:ext cx="7684368" cy="763786"/>
          </a:xfrm>
          <a:prstGeom prst="rect">
            <a:avLst/>
          </a:prstGeom>
          <a:noFill/>
          <a:ln/>
        </p:spPr>
        <p:txBody>
          <a:bodyPr wrap="square" lIns="0" tIns="0" rIns="0" bIns="0" rtlCol="0" anchor="t">
            <a:normAutofit/>
          </a:bodyPr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Identifica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UN mito o creencia común en IS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(ej: "pair programming mejora la productividad", "TDD reduce bugs", "stand-ups diarios mejoran la coordinación"). Busca en </a:t>
            </a:r>
            <a:pPr algn="l" indent="0" marL="0">
              <a:lnSpc>
                <a:spcPct val="126000"/>
              </a:lnSpc>
              <a:buNone/>
            </a:pPr>
            <a:r>
              <a:rPr lang="en-US" sz="950" b="1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IEEE Xplore o ACM Digital Library</a:t>
            </a:r>
            <a:pPr algn="l" indent="0" marL="0">
              <a:lnSpc>
                <a:spcPct val="126000"/>
              </a:lnSpc>
              <a:buNone/>
            </a:pPr>
            <a:r>
              <a:rPr lang="en-US" sz="950" dirty="0">
                <a:solidFill>
                  <a:srgbClr val="000000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 UN artículo científico que lo valide o refute. Responde: ¿qué tipo de estudio usaron?, ¿cuál fue su conclusión principal?, ¿consideras que la evidencia es suficiente para cambiar la práctica?</a:t>
            </a:r>
            <a:endParaRPr lang="en-US" sz="950" dirty="0"/>
          </a:p>
        </p:txBody>
      </p:sp>
      <p:sp>
        <p:nvSpPr>
          <p:cNvPr id="19" name="Shape 16"/>
          <p:cNvSpPr/>
          <p:nvPr/>
        </p:nvSpPr>
        <p:spPr>
          <a:xfrm>
            <a:off x="441871" y="4549378"/>
            <a:ext cx="3427512" cy="228451"/>
          </a:xfrm>
          <a:prstGeom prst="roundRect">
            <a:avLst>
              <a:gd name="adj" fmla="val 18570"/>
            </a:avLst>
          </a:prstGeom>
          <a:solidFill>
            <a:srgbClr val="DADBF1"/>
          </a:solidFill>
          <a:ln/>
        </p:spPr>
      </p:sp>
      <p:pic>
        <p:nvPicPr>
          <p:cNvPr id="20" name="Image 1" descr="preencoded.png">    </p:cNvPr>
          <p:cNvPicPr>
            <a:picLocks noChangeAspect="1"/>
          </p:cNvPicPr>
          <p:nvPr/>
        </p:nvPicPr>
        <p:blipFill>
          <a:blip r:embed="rId2"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517624" y="4613077"/>
            <a:ext cx="100980" cy="100980"/>
          </a:xfrm>
          <a:prstGeom prst="rect">
            <a:avLst/>
          </a:prstGeom>
        </p:spPr>
      </p:pic>
      <p:sp>
        <p:nvSpPr>
          <p:cNvPr id="21" name="Text 17"/>
          <p:cNvSpPr/>
          <p:nvPr/>
        </p:nvSpPr>
        <p:spPr>
          <a:xfrm>
            <a:off x="669057" y="4587255"/>
            <a:ext cx="3581772" cy="152698"/>
          </a:xfrm>
          <a:prstGeom prst="rect">
            <a:avLst/>
          </a:prstGeom>
          <a:noFill/>
          <a:ln/>
        </p:spPr>
        <p:txBody>
          <a:bodyPr wrap="none" lIns="0" tIns="0" rIns="0" bIns="0" rtlCol="0" anchor="t"/>
          <a:lstStyle/>
          <a:p>
            <a:pPr algn="l" indent="0" marL="0">
              <a:lnSpc>
                <a:spcPct val="126000"/>
              </a:lnSpc>
              <a:buNone/>
            </a:pPr>
            <a:r>
              <a:rPr lang="en-US" sz="750" dirty="0">
                <a:solidFill>
                  <a:srgbClr val="272525"/>
                </a:solidFill>
                <a:latin typeface="Inter" pitchFamily="34" charset="0"/>
                <a:ea typeface="Inter" pitchFamily="34" charset="-122"/>
                <a:cs typeface="Inter" pitchFamily="34" charset="-120"/>
              </a:rPr>
              <a:t>PRÓXIMA CLASE: TIPOS DE MÉTODOS DE INVESTIGACIÓN EN IS</a:t>
            </a:r>
            <a:endParaRPr lang="en-US" sz="75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10</Slides>
  <Notes>10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10</vt:i4>
      </vt:variant>
    </vt:vector>
  </HeadingPairs>
  <TitlesOfParts>
    <vt:vector size="13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lastModifiedBy/>
  <cp:revision>1</cp:revision>
  <dcterms:created xsi:type="dcterms:W3CDTF">2026-05-26T17:01:09Z</dcterms:created>
  <dcterms:modified xsi:type="dcterms:W3CDTF">2026-05-26T17:01:09Z</dcterms:modified>
</cp:coreProperties>
</file>