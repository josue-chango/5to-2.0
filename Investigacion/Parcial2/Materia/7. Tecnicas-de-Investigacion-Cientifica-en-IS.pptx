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7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Técnicas de Investigación Científica en 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54053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7 — Del laboratorio al repositorio: cómo se investiga concretamente en 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028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Ing. Ángel Marcelo Rea Guamán, Ph.D.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Asignatura: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Investigación en Ingeniería de Software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814" y="688658"/>
            <a:ext cx="7928372" cy="108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"No basta saber qué investigar — hay que saber </a:t>
            </a:r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cómo</a:t>
            </a:r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7814" y="2106335"/>
            <a:ext cx="3752374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laboratorio en IS vs. otras ciencias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7814" y="2781657"/>
            <a:ext cx="3752374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física: laboratorio con variables controladas y equipo de medición preciso. En IS: el "laboratorio" es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una empresa de software, o un equipo de desarrollo humano.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07814" y="4157543"/>
            <a:ext cx="3752374" cy="1854279"/>
          </a:xfrm>
          <a:prstGeom prst="roundRect">
            <a:avLst>
              <a:gd name="adj" fmla="val 3934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07" y="4405432"/>
            <a:ext cx="217051" cy="173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2051" y="4333756"/>
            <a:ext cx="3014543" cy="147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sujetos son humanos (desarrolladores, testers, arquitectos), los artefactos evolucionan constantemente y no se pueden repetir exactamente las mismas condiciones.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791432" y="210633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reto de IS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791432" y="2527102"/>
            <a:ext cx="3752374" cy="1287542"/>
          </a:xfrm>
          <a:prstGeom prst="roundRect">
            <a:avLst>
              <a:gd name="adj" fmla="val 852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68572" y="2527102"/>
            <a:ext cx="91440" cy="1287542"/>
          </a:xfrm>
          <a:prstGeom prst="roundRect">
            <a:avLst>
              <a:gd name="adj" fmla="val 79767"/>
            </a:avLst>
          </a:prstGeom>
          <a:solidFill>
            <a:srgbClr val="4950BC"/>
          </a:solidFill>
          <a:ln/>
        </p:spPr>
      </p:sp>
      <p:sp>
        <p:nvSpPr>
          <p:cNvPr id="12" name="Text 8"/>
          <p:cNvSpPr/>
          <p:nvPr/>
        </p:nvSpPr>
        <p:spPr>
          <a:xfrm>
            <a:off x="5056465" y="272355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Sujetos humanos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56465" y="3127653"/>
            <a:ext cx="329088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Desarrolladores, testers y arquitectos como participantes de investigación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791432" y="3947517"/>
            <a:ext cx="3752374" cy="1532811"/>
          </a:xfrm>
          <a:prstGeom prst="roundRect">
            <a:avLst>
              <a:gd name="adj" fmla="val 715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68572" y="3947517"/>
            <a:ext cx="91440" cy="1532811"/>
          </a:xfrm>
          <a:prstGeom prst="roundRect">
            <a:avLst>
              <a:gd name="adj" fmla="val 79767"/>
            </a:avLst>
          </a:prstGeom>
          <a:solidFill>
            <a:srgbClr val="4950BC"/>
          </a:solidFill>
          <a:ln/>
        </p:spPr>
      </p:sp>
      <p:sp>
        <p:nvSpPr>
          <p:cNvPr id="16" name="Text 12"/>
          <p:cNvSpPr/>
          <p:nvPr/>
        </p:nvSpPr>
        <p:spPr>
          <a:xfrm>
            <a:off x="5056465" y="4143970"/>
            <a:ext cx="227552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Artefactos dinámicos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056465" y="4548068"/>
            <a:ext cx="329088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código cambia cada hora — el contexto industrial importa tanto como el experimento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791432" y="5613202"/>
            <a:ext cx="3752374" cy="1778079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68572" y="5613202"/>
            <a:ext cx="91440" cy="1778079"/>
          </a:xfrm>
          <a:prstGeom prst="roundRect">
            <a:avLst>
              <a:gd name="adj" fmla="val 79767"/>
            </a:avLst>
          </a:prstGeom>
          <a:solidFill>
            <a:srgbClr val="4950B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465" y="5809655"/>
            <a:ext cx="2366486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NASA Sungrazer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056465" y="6213753"/>
            <a:ext cx="329088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75% de todos los cometas conocidos fueron descubiertos por voluntarios analizando imágenes del satélite SOHO desde sus computadoras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62094"/>
            <a:ext cx="7802999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arsenal del investigador de IS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1553170"/>
            <a:ext cx="3511748" cy="365522"/>
          </a:xfrm>
          <a:prstGeom prst="roundRect">
            <a:avLst>
              <a:gd name="adj" fmla="val 18570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828199" y="1613773"/>
            <a:ext cx="3269337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 EN EASTERBROOK ET AL. (2008)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06993" y="2121098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Taxonomía de técnicas empíricas para Ingeniería de Software según </a:t>
            </a:r>
            <a:pPr algn="l" indent="0" marL="0">
              <a:lnSpc>
                <a:spcPts val="2400"/>
              </a:lnSpc>
              <a:buNone/>
            </a:pP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Selecting Empirical Methods for Software Engineering Research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06993" y="2629019"/>
            <a:ext cx="13216414" cy="5038487"/>
          </a:xfrm>
          <a:prstGeom prst="roundRect">
            <a:avLst>
              <a:gd name="adj" fmla="val 168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6662" y="2752130"/>
            <a:ext cx="22325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60683" y="2752130"/>
            <a:ext cx="354877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20940" y="2752130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821233" y="2752130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6662" y="3296245"/>
            <a:ext cx="223254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controlado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60683" y="3296245"/>
            <a:ext cx="3548777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VI/VD, grupo control vs. experimental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20940" y="3296245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Causalidad fuerte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821233" y="3296245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Artificial, costoso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6662" y="4145875"/>
            <a:ext cx="22325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 (Survey)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560683" y="4145875"/>
            <a:ext cx="354877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 Likert a desarrolladores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20940" y="4145875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grande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821233" y="4145875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Correlación, no causa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6662" y="4689991"/>
            <a:ext cx="22325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560683" y="4689991"/>
            <a:ext cx="3548777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empresa/proyecto real en profundidad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20940" y="4689991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real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821233" y="4689991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generalizable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6662" y="5539621"/>
            <a:ext cx="22325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Etnografía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560683" y="5539621"/>
            <a:ext cx="354877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 participante en campo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20940" y="5539621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Riqueza contextual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821233" y="5539621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Tiempo, subjetividad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16662" y="6083737"/>
            <a:ext cx="22325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Research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560683" y="6083737"/>
            <a:ext cx="3548777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Investigador como participante activo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520940" y="6083737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real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821233" y="6083737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dual problemático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16662" y="6933367"/>
            <a:ext cx="22325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560683" y="6933367"/>
            <a:ext cx="3548777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masivo de repositorios de código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520940" y="6933367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data, escala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821233" y="6933367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sin intención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0151" y="408742"/>
            <a:ext cx="8176498" cy="86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como el </a:t>
            </a:r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telescopio</a:t>
            </a:r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la Ingeniería de Software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970151" y="1398746"/>
            <a:ext cx="2396728" cy="240506"/>
          </a:xfrm>
          <a:prstGeom prst="roundRect">
            <a:avLst>
              <a:gd name="adj" fmla="val 1931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60638" y="1447800"/>
            <a:ext cx="2215753" cy="14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MINING SOFTWARE REPOSITORIES (MSR)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70151" y="1733907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 = extraer conocimiento del histórico de desarrollo de software a escala masiva.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70151" y="2090618"/>
            <a:ext cx="1873091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se puede minar?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70151" y="2401133"/>
            <a:ext cx="3919657" cy="1268135"/>
          </a:xfrm>
          <a:prstGeom prst="roundRect">
            <a:avLst>
              <a:gd name="adj" fmla="val 457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15883" y="2546866"/>
            <a:ext cx="414576" cy="414576"/>
          </a:xfrm>
          <a:prstGeom prst="roundRect">
            <a:avLst>
              <a:gd name="adj" fmla="val 22054064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9826" y="2660809"/>
            <a:ext cx="186571" cy="1865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15883" y="3045619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Commits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115883" y="3345656"/>
            <a:ext cx="3628192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Frecuencia, tamaño, autores, mensajes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70151" y="3753445"/>
            <a:ext cx="3919657" cy="1268135"/>
          </a:xfrm>
          <a:prstGeom prst="roundRect">
            <a:avLst>
              <a:gd name="adj" fmla="val 457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15883" y="3899178"/>
            <a:ext cx="414576" cy="414576"/>
          </a:xfrm>
          <a:prstGeom prst="roundRect">
            <a:avLst>
              <a:gd name="adj" fmla="val 22054064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9826" y="4013121"/>
            <a:ext cx="186571" cy="1865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15883" y="4397931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Issues &amp; PRs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15883" y="4697968"/>
            <a:ext cx="3628192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resolución, churn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70151" y="5105757"/>
            <a:ext cx="3919657" cy="1268135"/>
          </a:xfrm>
          <a:prstGeom prst="roundRect">
            <a:avLst>
              <a:gd name="adj" fmla="val 457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15883" y="5251490"/>
            <a:ext cx="414576" cy="414576"/>
          </a:xfrm>
          <a:prstGeom prst="roundRect">
            <a:avLst>
              <a:gd name="adj" fmla="val 22054064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9826" y="5365432"/>
            <a:ext cx="186571" cy="1865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15883" y="5750243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fuente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115883" y="6050280"/>
            <a:ext cx="3628192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Complejidad ciclomática, deuda técnica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970151" y="6458069"/>
            <a:ext cx="3919657" cy="1268135"/>
          </a:xfrm>
          <a:prstGeom prst="roundRect">
            <a:avLst>
              <a:gd name="adj" fmla="val 457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115883" y="6603802"/>
            <a:ext cx="414576" cy="414576"/>
          </a:xfrm>
          <a:prstGeom prst="roundRect">
            <a:avLst>
              <a:gd name="adj" fmla="val 22054064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9826" y="6717744"/>
            <a:ext cx="186571" cy="18657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15883" y="7102554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Historial de bugs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115883" y="7402592"/>
            <a:ext cx="3628192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 de defectos por módulo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0234612" y="2090618"/>
            <a:ext cx="3159800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Open Source como fuente MSR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10234612" y="2401133"/>
            <a:ext cx="3919657" cy="1140381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219373" y="2401133"/>
            <a:ext cx="60960" cy="1140381"/>
          </a:xfrm>
          <a:prstGeom prst="roundRect">
            <a:avLst>
              <a:gd name="adj" fmla="val 95233"/>
            </a:avLst>
          </a:prstGeom>
          <a:solidFill>
            <a:srgbClr val="4950BC"/>
          </a:solidFill>
          <a:ln/>
        </p:spPr>
      </p:sp>
      <p:sp>
        <p:nvSpPr>
          <p:cNvPr id="31" name="Text 24"/>
          <p:cNvSpPr/>
          <p:nvPr/>
        </p:nvSpPr>
        <p:spPr>
          <a:xfrm>
            <a:off x="10433685" y="2554486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10433685" y="2854523"/>
            <a:ext cx="3567232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2,700+ contribuidores, 25+ años de historial — mineable para estudiar evolución de software científico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10234612" y="3625691"/>
            <a:ext cx="3919657" cy="962501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0219373" y="3625691"/>
            <a:ext cx="60960" cy="962501"/>
          </a:xfrm>
          <a:prstGeom prst="roundRect">
            <a:avLst>
              <a:gd name="adj" fmla="val 95233"/>
            </a:avLst>
          </a:prstGeom>
          <a:solidFill>
            <a:srgbClr val="4950BC"/>
          </a:solidFill>
          <a:ln/>
        </p:spPr>
      </p:sp>
      <p:sp>
        <p:nvSpPr>
          <p:cNvPr id="35" name="Text 28"/>
          <p:cNvSpPr/>
          <p:nvPr/>
        </p:nvSpPr>
        <p:spPr>
          <a:xfrm>
            <a:off x="10433685" y="3779044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 Prime (JPL)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10433685" y="4079081"/>
            <a:ext cx="3567232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de misiones espaciales, open source en GitHub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10234612" y="4682847"/>
            <a:ext cx="3919657" cy="797123"/>
          </a:xfrm>
          <a:prstGeom prst="roundRect">
            <a:avLst>
              <a:gd name="adj" fmla="val 7283"/>
            </a:avLst>
          </a:prstGeom>
          <a:solidFill>
            <a:srgbClr val="B6D6FC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2725" y="4871799"/>
            <a:ext cx="172760" cy="1381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683597" y="4801553"/>
            <a:ext cx="3332559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MSR ejemplo: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"¿Los proyectos con CI/CD continuo tienen menos bugs reportados por versión?"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0234612" y="5574625"/>
            <a:ext cx="391965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PyDriller, GrimoireLab, CodeFace, GitHub API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79120"/>
            <a:ext cx="7764899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Técnicas cuantitativas clásicas en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3737" y="1454110"/>
            <a:ext cx="4155400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controlado — ejemplo real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3737" y="1874877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23737" y="2147054"/>
            <a:ext cx="577953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323737" y="2279571"/>
            <a:ext cx="2757964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de investigación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3737" y="2683669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¿TDD produce código con menos defectos que desarrollo sin pruebas?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3737" y="3437215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23737" y="3709392"/>
            <a:ext cx="577953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1323737" y="3841909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3737" y="4246007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VI: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tipo de práctica (TDD vs. sin TDD) —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VD: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densidad de defectos, tiempo de desarrollo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23737" y="4999553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23737" y="5271730"/>
            <a:ext cx="577953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323737" y="540424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Estadística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3737" y="5808345"/>
            <a:ext cx="577953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Mann-Whitney U, effect size (Cohen's d)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23737" y="6316623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23737" y="6588800"/>
            <a:ext cx="577953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323737" y="672131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3737" y="7125414"/>
            <a:ext cx="577953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Wohlin et al. (2012) — guía estándar para experimentos en 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34513" y="1454110"/>
            <a:ext cx="296501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 — ejemplo masivo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534513" y="1874877"/>
            <a:ext cx="5779532" cy="1363742"/>
          </a:xfrm>
          <a:prstGeom prst="roundRect">
            <a:avLst>
              <a:gd name="adj" fmla="val 5348"/>
            </a:avLst>
          </a:prstGeom>
          <a:solidFill>
            <a:srgbClr val="C7C9E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106" y="2122765"/>
            <a:ext cx="217051" cy="17359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098750" y="2051090"/>
            <a:ext cx="504170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Overflow Developer Survey: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~90,000 desarrolladores/año con escala Likert (1–5 o 1–7) para percepción, actitud y satisfacción. Análisis: correlación de Spearman, regresión logística.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534513" y="3388162"/>
            <a:ext cx="2675215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 (M2 NASA)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534513" y="3808928"/>
            <a:ext cx="2823329" cy="1011793"/>
          </a:xfrm>
          <a:prstGeom prst="roundRect">
            <a:avLst>
              <a:gd name="adj" fmla="val 72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15726" y="399014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715726" y="4394240"/>
            <a:ext cx="246090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pandas, scipy, statsmodels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0490716" y="3808928"/>
            <a:ext cx="2823329" cy="1011793"/>
          </a:xfrm>
          <a:prstGeom prst="roundRect">
            <a:avLst>
              <a:gd name="adj" fmla="val 72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71929" y="399014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0671929" y="4394240"/>
            <a:ext cx="246090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tidyverse, ggplot2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7534513" y="4953595"/>
            <a:ext cx="5779532" cy="1011793"/>
          </a:xfrm>
          <a:prstGeom prst="roundRect">
            <a:avLst>
              <a:gd name="adj" fmla="val 72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15726" y="513480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Jupyter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715726" y="5538907"/>
            <a:ext cx="541710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reproducible y documentado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34352"/>
            <a:ext cx="13205579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 herramientas que hacen posible la </a:t>
            </a:r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investigación moderna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2053352"/>
            <a:ext cx="3614976" cy="340519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827127" y="2110740"/>
            <a:ext cx="3385423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OPEN SCIENCE 101 — M4 (OPEN CODE)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2351" y="2575441"/>
            <a:ext cx="13205579" cy="3034665"/>
          </a:xfrm>
          <a:prstGeom prst="roundRect">
            <a:avLst>
              <a:gd name="adj" fmla="val 26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9971" y="2583061"/>
            <a:ext cx="13190339" cy="491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1304" y="2687479"/>
            <a:ext cx="225159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53182" y="2687479"/>
            <a:ext cx="224778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1250" y="2687479"/>
            <a:ext cx="75277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Relevancia en 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9971" y="3074075"/>
            <a:ext cx="13190339" cy="77319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1304" y="3178493"/>
            <a:ext cx="225159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Prime (JPL)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53182" y="3178493"/>
            <a:ext cx="224778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C++ para sistemas embebidos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91250" y="3178493"/>
            <a:ext cx="75277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arquitecturas de software crítico en misiones espaciales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9971" y="3847267"/>
            <a:ext cx="13190339" cy="7731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1304" y="3951684"/>
            <a:ext cx="225159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3182" y="3951684"/>
            <a:ext cx="224778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científico Python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1250" y="3951684"/>
            <a:ext cx="75277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para análisis estadístico de datos en IS empírica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9971" y="4620458"/>
            <a:ext cx="13190339" cy="4910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1304" y="4724876"/>
            <a:ext cx="225159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53182" y="4724876"/>
            <a:ext cx="224778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 Python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91250" y="4724876"/>
            <a:ext cx="75277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 en papers de Nature/JWST — estándar de visualización científica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9971" y="5111472"/>
            <a:ext cx="13190339" cy="491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1304" y="5215890"/>
            <a:ext cx="225159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OpenFOAM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53182" y="5215890"/>
            <a:ext cx="224778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Simulaciones CFD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91250" y="5215890"/>
            <a:ext cx="75277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de software open source de alta fiabilidad y reproducibilidad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4477" y="5791676"/>
            <a:ext cx="6644997" cy="1903452"/>
          </a:xfrm>
          <a:prstGeom prst="roundRect">
            <a:avLst>
              <a:gd name="adj" fmla="val 7239"/>
            </a:avLst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765810" y="595312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Principio M4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5810" y="6413540"/>
            <a:ext cx="626233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"Without open software tools, reproducibility in computational science is impossible."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56183" y="5953125"/>
            <a:ext cx="35207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Stack mínimo para IS empírica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7556183" y="6413540"/>
            <a:ext cx="6369248" cy="113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+ pandas + scipy + statsmodels + matplotlib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laboratorio portátil y reproducible. La apertura del código garantiza que otro investigador pueda reproducir exactamente el mismo análisis — principio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aplicado al software.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468154"/>
            <a:ext cx="7472363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Combinar técnicas para resultados </a:t>
            </a:r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546509" y="1068348"/>
            <a:ext cx="2606873" cy="240506"/>
          </a:xfrm>
          <a:prstGeom prst="roundRect">
            <a:avLst>
              <a:gd name="adj" fmla="val 1931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36996" y="1117402"/>
            <a:ext cx="2425898" cy="14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TRIANGULACIÓN Y AMENAZAS A LA VALIDEZ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546509" y="1487686"/>
            <a:ext cx="3922395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real: Burnout en equipos de desarrollo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908" y="1798201"/>
            <a:ext cx="5796439" cy="54369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17672" y="2703883"/>
            <a:ext cx="173891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MSR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978763" y="5746974"/>
            <a:ext cx="173890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 Likert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56582" y="5746974"/>
            <a:ext cx="173890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Entrevistas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55451" y="3971838"/>
            <a:ext cx="1162171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MSR + Encuesta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56632" y="3971838"/>
            <a:ext cx="1162171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MSR + Entrevistas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59632" y="5420928"/>
            <a:ext cx="654989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Convergencia Cual./Cuant.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187178" y="4551474"/>
            <a:ext cx="799898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 robusto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546509" y="7329845"/>
            <a:ext cx="6081236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los tres métodos convergen → hallazgo más sólido y validado. Paralelo NASA: múltiples instrumentos redundantes para validación cruzada.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72550" y="2173724"/>
            <a:ext cx="3118842" cy="431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Amenazas a la validez (Wohlin et al., 2012)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972550" y="2700099"/>
            <a:ext cx="3118842" cy="1140381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87790" y="2715339"/>
            <a:ext cx="552807" cy="1109901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/>
        </p:spPr>
      </p:sp>
      <p:sp>
        <p:nvSpPr>
          <p:cNvPr id="18" name="Text 15"/>
          <p:cNvSpPr/>
          <p:nvPr/>
        </p:nvSpPr>
        <p:spPr>
          <a:xfrm>
            <a:off x="9156740" y="3140750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24774" y="2853452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Validez interna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624774" y="3153489"/>
            <a:ext cx="2313265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¿Hay variables de confusión no controladas que afecten los resultados?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972550" y="3924657"/>
            <a:ext cx="3118842" cy="962501"/>
          </a:xfrm>
          <a:prstGeom prst="roundRect">
            <a:avLst>
              <a:gd name="adj" fmla="val 603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87790" y="3939897"/>
            <a:ext cx="552807" cy="932021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/>
        </p:spPr>
      </p:sp>
      <p:sp>
        <p:nvSpPr>
          <p:cNvPr id="23" name="Text 20"/>
          <p:cNvSpPr/>
          <p:nvPr/>
        </p:nvSpPr>
        <p:spPr>
          <a:xfrm>
            <a:off x="9156740" y="4276368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24774" y="4078010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Validez externa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624774" y="4378047"/>
            <a:ext cx="2313265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¿Los resultados se generalizan fuera del contexto estudiado?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972550" y="4971336"/>
            <a:ext cx="3118842" cy="962501"/>
          </a:xfrm>
          <a:prstGeom prst="roundRect">
            <a:avLst>
              <a:gd name="adj" fmla="val 603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87790" y="4986576"/>
            <a:ext cx="552807" cy="932021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/>
        </p:spPr>
      </p:sp>
      <p:sp>
        <p:nvSpPr>
          <p:cNvPr id="28" name="Text 25"/>
          <p:cNvSpPr/>
          <p:nvPr/>
        </p:nvSpPr>
        <p:spPr>
          <a:xfrm>
            <a:off x="9156740" y="5323046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24774" y="5124688"/>
            <a:ext cx="1834753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Validez de constructo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9624774" y="5424726"/>
            <a:ext cx="2313265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¿Estamos midiendo realmente lo que decimos medir?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972550" y="6018014"/>
            <a:ext cx="3118842" cy="962501"/>
          </a:xfrm>
          <a:prstGeom prst="roundRect">
            <a:avLst>
              <a:gd name="adj" fmla="val 603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987790" y="6033254"/>
            <a:ext cx="552807" cy="932021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/>
        </p:spPr>
      </p:sp>
      <p:sp>
        <p:nvSpPr>
          <p:cNvPr id="33" name="Text 30"/>
          <p:cNvSpPr/>
          <p:nvPr/>
        </p:nvSpPr>
        <p:spPr>
          <a:xfrm>
            <a:off x="9156740" y="6369725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624774" y="6171367"/>
            <a:ext cx="184070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Validez de conclusión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9624774" y="6471404"/>
            <a:ext cx="2313265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¿El análisis estadístico aplicado es correcto y apropiado?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15315"/>
            <a:ext cx="7034689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Referencias clave — Clase 7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9376" y="1630204"/>
            <a:ext cx="1611868" cy="373856"/>
          </a:xfrm>
          <a:prstGeom prst="roundRect">
            <a:avLst>
              <a:gd name="adj" fmla="val 18475"/>
            </a:avLst>
          </a:prstGeom>
          <a:solidFill>
            <a:srgbClr val="DADB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605" y="1734860"/>
            <a:ext cx="164425" cy="1644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9184" y="1691759"/>
            <a:ext cx="111883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BIBLIOGRAFÍA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9376" y="2213610"/>
            <a:ext cx="4273034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6516" y="2213610"/>
            <a:ext cx="91440" cy="3063240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016317" y="2441972"/>
            <a:ext cx="312265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Easterbrook et al. (2008)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16317" y="2874764"/>
            <a:ext cx="3747730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Selecting empirical methods for software engineering research. En </a:t>
            </a:r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to Advanced Empirical Software Engineering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Springer.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317" y="4338280"/>
            <a:ext cx="3273862" cy="389096"/>
          </a:xfrm>
          <a:prstGeom prst="roundRect">
            <a:avLst>
              <a:gd name="adj" fmla="val 1775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7167" y="4407456"/>
            <a:ext cx="3012162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CANÓNICO DE TÉCNICAS EN 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78623" y="2213610"/>
            <a:ext cx="4273034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55763" y="2213610"/>
            <a:ext cx="91440" cy="3063240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5475565" y="244197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Wohlin et al. (2012)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75565" y="2874764"/>
            <a:ext cx="37477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Experimentation in Software Engineering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Springer.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75565" y="3711297"/>
            <a:ext cx="2802493" cy="389096"/>
          </a:xfrm>
          <a:prstGeom prst="roundRect">
            <a:avLst>
              <a:gd name="adj" fmla="val 1775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06415" y="3780473"/>
            <a:ext cx="2540794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BIBLIA DEL EXPERIMENTO EN IS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637871" y="2213610"/>
            <a:ext cx="4273034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15011" y="2213610"/>
            <a:ext cx="91440" cy="3063240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9934813" y="2441972"/>
            <a:ext cx="3747730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Kitchenham &amp; Charters (2007)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934813" y="3195876"/>
            <a:ext cx="3747730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Guidelines for performing systematic literature reviews in software engineering. </a:t>
            </a:r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EBSE Technical Report EBSE-2007-01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934813" y="4659392"/>
            <a:ext cx="1949410" cy="389096"/>
          </a:xfrm>
          <a:prstGeom prst="roundRect">
            <a:avLst>
              <a:gd name="adj" fmla="val 1775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65663" y="4728567"/>
            <a:ext cx="1687711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ESTÁNDAR PARA SLR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19376" y="5463064"/>
            <a:ext cx="4273034" cy="2151102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6516" y="5463064"/>
            <a:ext cx="91440" cy="2151102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26" name="Text 23"/>
          <p:cNvSpPr/>
          <p:nvPr/>
        </p:nvSpPr>
        <p:spPr>
          <a:xfrm>
            <a:off x="1016317" y="5691426"/>
            <a:ext cx="3747730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Lethbridge, Singer &amp; Forward (2005)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016317" y="6445329"/>
            <a:ext cx="3747730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software engineers use documentation: The state of the practice. </a:t>
            </a:r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Software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20(6), 35–39.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178623" y="5463064"/>
            <a:ext cx="4273034" cy="2151102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55763" y="5463064"/>
            <a:ext cx="91440" cy="2151102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30" name="Text 27"/>
          <p:cNvSpPr/>
          <p:nvPr/>
        </p:nvSpPr>
        <p:spPr>
          <a:xfrm>
            <a:off x="5475565" y="5691426"/>
            <a:ext cx="299656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Open Science 101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475565" y="6124218"/>
            <a:ext cx="3747730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4 (Open Code), Módulo 2 (Open Tools) y Módulo 1 (Citizen Science).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17565"/>
            <a:ext cx="1099863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Diseña tu primer protocolo de recolección de datos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01460" y="1348145"/>
            <a:ext cx="3327916" cy="308253"/>
          </a:xfrm>
          <a:prstGeom prst="roundRect">
            <a:avLst>
              <a:gd name="adj" fmla="val 19316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1307783" y="1401247"/>
            <a:ext cx="3115270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INVB4 — ENTREGA PARA LA PRÓXIMA CLASE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1460" y="1812131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Elige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técnica de investigación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(MSR, encuesta, experimento controlado, o estudio de caso) y diseña un mini-protocolo que incluya los siguientes elementos: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01460" y="2472690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01460" y="2750939"/>
            <a:ext cx="398347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1201460" y="2885242"/>
            <a:ext cx="28140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de investigación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1460" y="3245048"/>
            <a:ext cx="398347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PICOC (Población, Intervención, Comparación, Resultado, Contexto)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23284" y="2472690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23284" y="2750939"/>
            <a:ext cx="398359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5323284" y="2885242"/>
            <a:ext cx="32706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Técnica elegida y justificación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23284" y="3245048"/>
            <a:ext cx="39835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esta técnica es la más adecuada para tu pregunta?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445228" y="2472690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445228" y="2750939"/>
            <a:ext cx="398347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9445228" y="2885242"/>
            <a:ext cx="307717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Población / muestra objetivo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45228" y="3245048"/>
            <a:ext cx="398347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¿A quiénes o qué repositorios/sistemas vas a estudiar?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01460" y="4021098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01460" y="4299347"/>
            <a:ext cx="604444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1460" y="4433649"/>
            <a:ext cx="296382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Instrumento de recolección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01460" y="4793456"/>
            <a:ext cx="604444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Cuestionario, script de entrevista, o query de API según la técnica elegida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84256" y="4021098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84256" y="4299347"/>
            <a:ext cx="604444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7384256" y="4433649"/>
            <a:ext cx="327636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 y método de análisis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84256" y="4793456"/>
            <a:ext cx="604444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independientes, dependientes y método estadístico previsto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73944" y="5586889"/>
            <a:ext cx="6152555" cy="2125028"/>
          </a:xfrm>
          <a:prstGeom prst="roundRect">
            <a:avLst>
              <a:gd name="adj" fmla="val 6004"/>
            </a:avLst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1251109" y="572523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 de entrega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51109" y="6140410"/>
            <a:ext cx="579822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página en PDF — antes de la Clase 8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804547" y="5742623"/>
            <a:ext cx="56317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investigador de IS no improvisa — diseña su instrumento antes de tocar el primer dato."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538799" y="5742623"/>
            <a:ext cx="22860" cy="5048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1" name="Shape 29"/>
          <p:cNvSpPr/>
          <p:nvPr/>
        </p:nvSpPr>
        <p:spPr>
          <a:xfrm>
            <a:off x="7538799" y="6403181"/>
            <a:ext cx="5897523" cy="1153001"/>
          </a:xfrm>
          <a:prstGeom prst="roundRect">
            <a:avLst>
              <a:gd name="adj" fmla="val 6455"/>
            </a:avLst>
          </a:prstGeom>
          <a:solidFill>
            <a:srgbClr val="B6D6FC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964" y="6660118"/>
            <a:ext cx="221456" cy="17716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114586" y="6585823"/>
            <a:ext cx="5144572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Próximo: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Unidad 2 — Métodos de Investigación en IS: del conocimiento empírico al conocimiento riguroso y formalizado.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2026-04-21T15:39:21Z</dcterms:created>
  <dcterms:modified xsi:type="dcterms:W3CDTF">2026-04-21T15:39:21Z</dcterms:modified>
</cp:coreProperties>
</file>