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9827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Lógicos en IS: Deductivo, Inductivo e Hipotético-Deductivo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1138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de Investigación en Ingeniería de Software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97672"/>
            <a:ext cx="213374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936" y="3444925"/>
            <a:ext cx="24113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IS · ESPE ·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00710" y="3397672"/>
            <a:ext cx="1981944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90527" y="3444925"/>
            <a:ext cx="225950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REA GUAMÁN, PH.D.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5393" y="385093"/>
            <a:ext cx="4862215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Todo argumento científico sigue una lógica — ¿sabes cuál usas?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855393" y="1303511"/>
            <a:ext cx="4862215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un investigador dice "llegué a esta conclusión", hay una estructura lógica detrás que determina qué tan válida es esa conclusión y bajo qué condiciones puede fallar.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55393" y="1964829"/>
            <a:ext cx="2378794" cy="868710"/>
          </a:xfrm>
          <a:prstGeom prst="roundRect">
            <a:avLst>
              <a:gd name="adj" fmla="val 58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81971" y="209140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Deductivo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81971" y="2344564"/>
            <a:ext cx="212563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Tengo una ley general — la aplico a este caso específico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38813" y="1964829"/>
            <a:ext cx="2378794" cy="868710"/>
          </a:xfrm>
          <a:prstGeom prst="roundRect">
            <a:avLst>
              <a:gd name="adj" fmla="val 58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5391" y="209140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Inductivo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65391" y="2344564"/>
            <a:ext cx="212563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Observé muchos casos específicos — generalizo una ley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55393" y="2938165"/>
            <a:ext cx="4862215" cy="687512"/>
          </a:xfrm>
          <a:prstGeom prst="roundRect">
            <a:avLst>
              <a:gd name="adj" fmla="val 74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81971" y="3064743"/>
            <a:ext cx="160042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Hipotético-Deductivo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81971" y="3317900"/>
            <a:ext cx="46090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Tengo una hipótesis — diseño una prueba — la confronto con datos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55393" y="3743399"/>
            <a:ext cx="4862215" cy="1014933"/>
          </a:xfrm>
          <a:prstGeom prst="roundRect">
            <a:avLst>
              <a:gd name="adj" fmla="val 5042"/>
            </a:avLst>
          </a:prstGeom>
          <a:solidFill>
            <a:srgbClr val="FCF2B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208" y="3922365"/>
            <a:ext cx="152251" cy="1218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275" y="3878461"/>
            <a:ext cx="4344516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provocador: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"Implementamos Agile y mejoró nuestra productividad, entonces Agile mejora la productividad." ¿Qué tipo de razonamiento es este? ¿Es válido? Confundir estos métodos lleva a conclusiones inválidas aunque los datos sean correctos.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0199"/>
            <a:ext cx="725901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Deductivo — la teoría guía la observación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144414"/>
            <a:ext cx="325100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 lógica (modus ponens)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2901" y="1500411"/>
            <a:ext cx="3934271" cy="1070297"/>
          </a:xfrm>
          <a:prstGeom prst="roundRect">
            <a:avLst>
              <a:gd name="adj" fmla="val 8543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3851" y="1500411"/>
            <a:ext cx="76200" cy="1070297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84163" y="165452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Premisa 1 (general)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4163" y="1994371"/>
            <a:ext cx="356889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 un sistema aplica los principios FAIR, sus datos son reproducibles"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2901" y="2699445"/>
            <a:ext cx="3934271" cy="859185"/>
          </a:xfrm>
          <a:prstGeom prst="roundRect">
            <a:avLst>
              <a:gd name="adj" fmla="val 10643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851" y="2699445"/>
            <a:ext cx="76200" cy="859185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684163" y="285355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Premisa 2 (caso)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4163" y="3193405"/>
            <a:ext cx="35688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NASA aplica los principios FAIR en GeneLab"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901" y="3687366"/>
            <a:ext cx="3934271" cy="859185"/>
          </a:xfrm>
          <a:prstGeom prst="roundRect">
            <a:avLst>
              <a:gd name="adj" fmla="val 10643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851" y="3687366"/>
            <a:ext cx="76200" cy="859185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84163" y="3841477"/>
            <a:ext cx="190589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Conclusión (particular)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4163" y="4181326"/>
            <a:ext cx="35688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"Los datos de GeneLab son reproducibles"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41590" y="1144414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Aplicaciones en 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41590" y="1484263"/>
            <a:ext cx="3934271" cy="1567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Tomar la teoría de complejidad ciclomática de McCabe → aplicarla a un proyecto específico para predecir zonas de riesgo</a:t>
            </a:r>
            <a:endParaRPr lang="en-US" sz="10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Partir de la teoría de Wohlin sobre amenazas a la validez → identificarlas en el diseño de un experimento propio</a:t>
            </a:r>
            <a:endParaRPr lang="en-US" sz="10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Tomar un framework como EBSE → deducir qué pasos seguir en una investigación concreta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1590" y="3196977"/>
            <a:ext cx="3934271" cy="1401366"/>
          </a:xfrm>
          <a:prstGeom prst="roundRect">
            <a:avLst>
              <a:gd name="adj" fmla="val 4050"/>
            </a:avLst>
          </a:prstGeom>
          <a:solidFill>
            <a:srgbClr val="FFB3B4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51" y="3399904"/>
            <a:ext cx="168846" cy="13506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80558" y="3359423"/>
            <a:ext cx="3360241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clave: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alguna premisa general es falsa, toda la cadena de conclusiones colapsa. El método deductivo no puede descubrir que sus premisas están equivocadas — solo puede verificar dentro de lo que ya se acepta como verdad.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71847"/>
            <a:ext cx="6164387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Inductivo — los casos construyen la teoría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1322487"/>
            <a:ext cx="4872782" cy="25809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8386" y="3167052"/>
            <a:ext cx="1204778" cy="15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339913" y="3360486"/>
            <a:ext cx="1290451" cy="21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con CI muestra menos defectos.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97184" y="1650705"/>
            <a:ext cx="1204778" cy="15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711" y="1844139"/>
            <a:ext cx="1290451" cy="21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Otro proyecto con CI presenta menos errores.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760178" y="1650705"/>
            <a:ext cx="1661978" cy="15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60178" y="1844139"/>
            <a:ext cx="1290451" cy="21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Tercer proyecto confirma menor tasa de fallos.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215317" y="3167136"/>
            <a:ext cx="1661978" cy="15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Generalización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15317" y="3360569"/>
            <a:ext cx="1290451" cy="21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integración continua reduce los defectos.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50912" y="4000723"/>
            <a:ext cx="487278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inducción acumula evidencia caso a caso hasta construir una ley general — pero ninguna cantidad de casos la confirma definitivamente (problema de Hume).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898579" y="934194"/>
            <a:ext cx="294783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real — Lectura 1 (Wardle, 2020)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98579" y="1193676"/>
            <a:ext cx="2499122" cy="165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Draft observó caso a caso: sátira en elecciones francesas 2017, contexto falso en ataque de Westminster 2017, contenido impostor en elecciones de Kenia 2017, contenido manipulado en EE.UU. 2016...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caso individual va de acumulación a generalización: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tipos de desorden informativo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aplicables a cualquier contexto. Método inductivo puro que construyó un framework usado globalmente.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898579" y="2935560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Otros ejemplos en IS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98579" y="3195042"/>
            <a:ext cx="2499122" cy="661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500 repositorios en GitHub: inferir patrones de deuda técnica</a:t>
            </a:r>
            <a:endParaRPr lang="en-US" sz="85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Entrevistas a 30 equipos ágiles: teoría emergente sobre adopción de Scrum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98579" y="3953619"/>
            <a:ext cx="2499122" cy="720626"/>
          </a:xfrm>
          <a:prstGeom prst="roundRect">
            <a:avLst>
              <a:gd name="adj" fmla="val 6455"/>
            </a:avLst>
          </a:prstGeom>
          <a:solidFill>
            <a:srgbClr val="B6D6F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308" y="4114205"/>
            <a:ext cx="138410" cy="1107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58446" y="4067770"/>
            <a:ext cx="2028527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solo caso contrario puede refutar una ley inductiva — la generalización siempre es provisional.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5145" y="282997"/>
            <a:ext cx="6302648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Hipotético-Deductivo — hipótesis, prueba, conclusión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1515145" y="670620"/>
            <a:ext cx="354360" cy="531614"/>
          </a:xfrm>
          <a:prstGeom prst="roundRect">
            <a:avLst>
              <a:gd name="adj" fmla="val 36006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5873" y="853380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4869" y="759172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4869" y="930771"/>
            <a:ext cx="5703987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un problema o fenómeno que no tiene explicación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515145" y="1257598"/>
            <a:ext cx="354360" cy="531614"/>
          </a:xfrm>
          <a:prstGeom prst="roundRect">
            <a:avLst>
              <a:gd name="adj" fmla="val 36006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5873" y="1440359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4869" y="1346150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24869" y="1517749"/>
            <a:ext cx="5703987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Propongo una explicación tentativa y falseable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515145" y="1844576"/>
            <a:ext cx="354360" cy="531614"/>
          </a:xfrm>
          <a:prstGeom prst="roundRect">
            <a:avLst>
              <a:gd name="adj" fmla="val 36006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5873" y="2027337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4869" y="1933129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Predicción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4869" y="2104727"/>
            <a:ext cx="5703987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mi hipótesis es correcta, debería observar X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515145" y="2431554"/>
            <a:ext cx="354360" cy="531614"/>
          </a:xfrm>
          <a:prstGeom prst="roundRect">
            <a:avLst>
              <a:gd name="adj" fmla="val 36006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5873" y="2614315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4869" y="2520107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empírico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24869" y="2691705"/>
            <a:ext cx="5703987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un experimento o recolecto datos para verificar X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515145" y="3018532"/>
            <a:ext cx="354360" cy="531614"/>
          </a:xfrm>
          <a:prstGeom prst="roundRect">
            <a:avLst>
              <a:gd name="adj" fmla="val 36006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5873" y="3201293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4869" y="3107085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Conclusión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4869" y="3278684"/>
            <a:ext cx="5703987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Confirmo (provisionalmente) o refuto la hipótesis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515145" y="3674715"/>
            <a:ext cx="2948806" cy="517103"/>
          </a:xfrm>
          <a:prstGeom prst="roundRect">
            <a:avLst>
              <a:gd name="adj" fmla="val 7197"/>
            </a:avLst>
          </a:prstGeom>
          <a:solidFill>
            <a:srgbClr val="C7C9EA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697" y="3798317"/>
            <a:ext cx="110728" cy="8855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802978" y="3752180"/>
            <a:ext cx="2572420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clave de Popper: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Una hipótesis científica debe ser </a:t>
            </a:r>
            <a:pPr algn="l" indent="0" marL="0">
              <a:lnSpc>
                <a:spcPct val="108000"/>
              </a:lnSpc>
              <a:buNone/>
            </a:pPr>
            <a:r>
              <a:rPr lang="en-US" sz="6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falseable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si no existe ninguna evidencia posible que pueda refutarla, no es científica.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4684812" y="3667795"/>
            <a:ext cx="307605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real — Lectura 2 (Hussain &amp; Soomro, 2023)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684812" y="3861569"/>
            <a:ext cx="2948806" cy="97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Observación: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misinformación en redes sociales carece de clasificación sistemática</a:t>
            </a:r>
            <a:endParaRPr lang="en-US" sz="65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posible construir una taxonomía que permita detección algorítmica</a:t>
            </a:r>
            <a:endParaRPr lang="en-US" sz="65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Test: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Revisión sistemática + análisis de datos empíricos (tweets, artículos de salud)</a:t>
            </a:r>
            <a:endParaRPr lang="en-US" sz="65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Conclusión: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Taxonomía validada + propuesta de algoritmo de detección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85465"/>
            <a:ext cx="6391647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Comparativa: cuándo usar cada método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26393" y="975494"/>
            <a:ext cx="8291215" cy="2977232"/>
          </a:xfrm>
          <a:prstGeom prst="roundRect">
            <a:avLst>
              <a:gd name="adj" fmla="val 17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3194" y="1047824"/>
            <a:ext cx="18674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Dimensión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11884" y="1047824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Deductivo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47877" y="1047824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Inductivo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83871" y="1047824"/>
            <a:ext cx="23643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Hipotético-Deductivo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3194" y="1368921"/>
            <a:ext cx="18674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Dirección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11884" y="1368921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→ Particular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7877" y="1368921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Particular → General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83871" y="1368921"/>
            <a:ext cx="190715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Circular: observación → hipótesis → test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3194" y="1871216"/>
            <a:ext cx="18674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de partida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11884" y="1871216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Teoría/ley existente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47877" y="1871216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Observaciones empíricas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83871" y="1871216"/>
            <a:ext cx="23643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no explicado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3194" y="2192313"/>
            <a:ext cx="18674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11884" y="2192313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en nuevo contexto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47877" y="2192313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 teoría o patrón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83871" y="2192313"/>
            <a:ext cx="190715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Teoría provisional validada o refutada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3194" y="2694608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 conocimiento nuevo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11884" y="2694608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(confirma existente)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47877" y="2694608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83871" y="2694608"/>
            <a:ext cx="23643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3194" y="3196903"/>
            <a:ext cx="18674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principal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11884" y="3196903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Premisas falsas contaminan todo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47877" y="3196903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Generalización prematura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83871" y="3196903"/>
            <a:ext cx="23643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Sesgo de confirmación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3194" y="3517999"/>
            <a:ext cx="18674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11884" y="3517999"/>
            <a:ext cx="198760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marcos teóricos conocidos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47877" y="3517999"/>
            <a:ext cx="244480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Explorar fenómenos nuevos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83871" y="3517999"/>
            <a:ext cx="23643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Probar causas y relaciones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6393" y="4070449"/>
            <a:ext cx="8291215" cy="687512"/>
          </a:xfrm>
          <a:prstGeom prst="roundRect">
            <a:avLst>
              <a:gd name="adj" fmla="val 74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1155" y="4075212"/>
            <a:ext cx="2760538" cy="677987"/>
          </a:xfrm>
          <a:prstGeom prst="roundRect">
            <a:avLst>
              <a:gd name="adj" fmla="val 7547"/>
            </a:avLst>
          </a:prstGeom>
          <a:solidFill>
            <a:srgbClr val="DADBF1"/>
          </a:solidFill>
          <a:ln/>
        </p:spPr>
      </p:sp>
      <p:sp>
        <p:nvSpPr>
          <p:cNvPr id="34" name="Text 32"/>
          <p:cNvSpPr/>
          <p:nvPr/>
        </p:nvSpPr>
        <p:spPr>
          <a:xfrm>
            <a:off x="552971" y="4197028"/>
            <a:ext cx="162989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¿Ya tienes una teoría?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2971" y="4450184"/>
            <a:ext cx="25169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el método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Deductivo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91694" y="4075212"/>
            <a:ext cx="2760538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37" name="Shape 35"/>
          <p:cNvSpPr/>
          <p:nvPr/>
        </p:nvSpPr>
        <p:spPr>
          <a:xfrm>
            <a:off x="3191694" y="4075212"/>
            <a:ext cx="14288" cy="677987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38" name="Text 36"/>
          <p:cNvSpPr/>
          <p:nvPr/>
        </p:nvSpPr>
        <p:spPr>
          <a:xfrm>
            <a:off x="3313509" y="4197028"/>
            <a:ext cx="186504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¿Explorando algo nuevo?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313509" y="4450184"/>
            <a:ext cx="25169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el método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Inductivo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52232" y="4075212"/>
            <a:ext cx="2760538" cy="67798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52232" y="4075212"/>
            <a:ext cx="14288" cy="677987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42" name="Text 40"/>
          <p:cNvSpPr/>
          <p:nvPr/>
        </p:nvSpPr>
        <p:spPr>
          <a:xfrm>
            <a:off x="6074048" y="4197028"/>
            <a:ext cx="169664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¿Tienes una hipótesis?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074048" y="4450184"/>
            <a:ext cx="25169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el método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Hipotético-Deductivo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7325"/>
            <a:ext cx="8213675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Cómo razona la NASA — los tres métodos en acción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162" y="1467073"/>
            <a:ext cx="332259" cy="33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3170" y="1467073"/>
            <a:ext cx="243162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Deductivo — Mecánica orbital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53170" y="1749475"/>
            <a:ext cx="3540919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NASA usa las leyes de Newton (teoría general) → calcula con precisión dónde estará Júpiter en 2016 → Juno llega exactamente ahí. La conclusión orbital está </a:t>
            </a:r>
            <a:pPr algn="l" indent="0" marL="0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deducida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teoría gravitacional, no descubierta empíricamente.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837" y="1467073"/>
            <a:ext cx="332259" cy="3322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37845" y="1467073"/>
            <a:ext cx="3540993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Inductivo — Descubrimiento de exoplanetas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137845" y="1957164"/>
            <a:ext cx="3540993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telescopio Kepler observó miles de </a:t>
            </a:r>
            <a:pPr algn="l" indent="0" marL="0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dimming events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estrellas → patrón recurrente → se indujo la presencia de planetas en tránsito → nueva teoría de detección. Galileo observó 4 lunas de Júpiter → indujo que no todo orbita la Tierra.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62" y="3236193"/>
            <a:ext cx="332259" cy="3322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3170" y="3236193"/>
            <a:ext cx="3540919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Hipotético-Deductivo — JWST y CO₂ en exoplanetas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953170" y="3726284"/>
            <a:ext cx="3540919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WASP-39b tiene CO₂ en su atmósfera.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Predicción: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firma espectral a 4.3 micrómetros.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observación espectroscópica.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Primera detección confirmada de CO₂ fuera del sistema solar (2022) — publicada en </a:t>
            </a:r>
            <a:pPr algn="l" indent="0" marL="0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Nature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9837" y="3236193"/>
            <a:ext cx="332259" cy="3322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37845" y="3236193"/>
            <a:ext cx="317859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Science — Inductivo distribuido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137845" y="3518595"/>
            <a:ext cx="354099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Sungrazer: 75% de cometas nuevos son descubiertos por ciudadanos que observan imágenes del SOHO → acumulación de miles de casos individuales → catálogos globales de cometas.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94395"/>
            <a:ext cx="8253487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Deductivo, Inductivo e H-D aplicados a preguntas reales de IS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45219" y="1343769"/>
            <a:ext cx="2683892" cy="3405336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9507" y="1358057"/>
            <a:ext cx="2655317" cy="358825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1697459" y="1422946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9090" y="1817787"/>
            <a:ext cx="2416150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¿El TDD mejora la calidad del código?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9090" y="2251993"/>
            <a:ext cx="2416150" cy="236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Inductivo: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Analizo 200 proyectos open source en GitHub — los que usan TDD tienen en promedio 30% menos issues críticos → propongo patrón</a:t>
            </a:r>
            <a:endParaRPr lang="en-US" sz="9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H-D: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Hipótesis: TDD reduce defectos en ≥20% → experimento controlado con dos grupos → mido defectos → confirmo/refuto</a:t>
            </a:r>
            <a:endParaRPr lang="en-US" sz="9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Deductivo: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TDD obliga a especificar el comportamiento antes de codificar → la especificación previa reduce ambigüedad → predigo menos defectos de requisitos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30017" y="1343769"/>
            <a:ext cx="2683892" cy="3405336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4304" y="1358057"/>
            <a:ext cx="2655317" cy="358825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</p:sp>
      <p:sp>
        <p:nvSpPr>
          <p:cNvPr id="10" name="Text 8"/>
          <p:cNvSpPr/>
          <p:nvPr/>
        </p:nvSpPr>
        <p:spPr>
          <a:xfrm>
            <a:off x="4482257" y="1422946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3888" y="1817787"/>
            <a:ext cx="2416150" cy="5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hace efectivo un sistema de detección de misinformación?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63888" y="2438846"/>
            <a:ext cx="2416150" cy="16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Inductivo (Lectura 2):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Revisión de casos de sistemas existentes → identificar características comunes de los efectivos → proponer framework</a:t>
            </a:r>
            <a:endParaRPr lang="en-US" sz="9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H-D: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Hipótesis: sistema que combina análisis de contenido + análisis de fuente detecta misinformación con ≥85% de precisión → diseñar sistema → evaluar en dataset de 30.7M tweets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14814" y="1343769"/>
            <a:ext cx="2683892" cy="3405336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9102" y="1358057"/>
            <a:ext cx="2655317" cy="358825"/>
          </a:xfrm>
          <a:prstGeom prst="roundRect">
            <a:avLst>
              <a:gd name="adj" fmla="val 9223"/>
            </a:avLst>
          </a:prstGeom>
          <a:solidFill>
            <a:srgbClr val="DADBF1"/>
          </a:solidFill>
          <a:ln/>
        </p:spPr>
      </p:sp>
      <p:sp>
        <p:nvSpPr>
          <p:cNvPr id="15" name="Text 13"/>
          <p:cNvSpPr/>
          <p:nvPr/>
        </p:nvSpPr>
        <p:spPr>
          <a:xfrm>
            <a:off x="7267054" y="1422946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8685" y="1817787"/>
            <a:ext cx="2416150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los equipos distribuidos tienen más bugs?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48685" y="2251993"/>
            <a:ext cx="2416150" cy="1798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Deductivo: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ley de Conway establece que el diseño del software refleja la estructura de comunicación → equipos distribuidos tienen peor comunicación → predigo mayor deuda técnica</a:t>
            </a:r>
            <a:endParaRPr lang="en-US" sz="9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Inductivo: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Observo 50 equipos distribuidos y 50 co-localizados → comparo tasas de defectos → generalizo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50862"/>
            <a:ext cx="7794947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Razonar mal con datos buenos — los 5 errores más comunes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4489" y="1236762"/>
            <a:ext cx="2538338" cy="1310953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0202" y="1236762"/>
            <a:ext cx="57150" cy="1310953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844600" y="1364010"/>
            <a:ext cx="2240979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Generalización apresurada (inductivo)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4600" y="1770980"/>
            <a:ext cx="2240979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"En mi empresa Agile funcionó → Agile funciona para todas las empresas."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muestra de 1, sin control de variables contextuales.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02794" y="1236762"/>
            <a:ext cx="2538338" cy="1310953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88506" y="1236762"/>
            <a:ext cx="57150" cy="1310953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3472904" y="1364010"/>
            <a:ext cx="2240979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Afirmación del consecuente (deductivo)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2904" y="1770980"/>
            <a:ext cx="2240979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 el código tiene alta cobertura de tests, tiene pocos bugs. Este código tiene pocos bugs → tiene alta cobertura."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implicación no es reversible.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31098" y="1236762"/>
            <a:ext cx="2538338" cy="1310953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16811" y="1236762"/>
            <a:ext cx="57150" cy="1310953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6101209" y="1364010"/>
            <a:ext cx="2240979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Sesgo de confirmación (hipotético-deductivo)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01209" y="1770980"/>
            <a:ext cx="224097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publicar los experimentos que confirman la hipótesis, ignorar los que la refutan. Crisis de reproducibilidad en IS.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4489" y="2637681"/>
            <a:ext cx="2538338" cy="1473324"/>
          </a:xfrm>
          <a:prstGeom prst="roundRect">
            <a:avLst>
              <a:gd name="adj" fmla="val 465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202" y="2637681"/>
            <a:ext cx="57150" cy="1473324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844600" y="2764929"/>
            <a:ext cx="194771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Post hoc ergo propter hoc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4600" y="2995389"/>
            <a:ext cx="2240979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"Adoptamos microservicios y en 6 meses mejoró el tiempo de despliegue → los microservicios causaron la mejora."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confunde correlación temporal con causalidad.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02794" y="2637681"/>
            <a:ext cx="2538338" cy="1473324"/>
          </a:xfrm>
          <a:prstGeom prst="roundRect">
            <a:avLst>
              <a:gd name="adj" fmla="val 465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88506" y="2637681"/>
            <a:ext cx="57150" cy="1473324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2904" y="2764929"/>
            <a:ext cx="2240979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Apelación a la autoridad sin evidencia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2904" y="3171899"/>
            <a:ext cx="2240979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"Martin Fowler dice que X es mejor práctica → X es verdad."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autoridad puede estar equivocada sin datos empíricos que respalden la afirmación.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4489" y="4212208"/>
            <a:ext cx="7794947" cy="580355"/>
          </a:xfrm>
          <a:prstGeom prst="roundRect">
            <a:avLst>
              <a:gd name="adj" fmla="val 8176"/>
            </a:avLst>
          </a:prstGeom>
          <a:solidFill>
            <a:srgbClr val="FFB3B4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50" y="4373538"/>
            <a:ext cx="141163" cy="11296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41574" y="4330378"/>
            <a:ext cx="731490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de oro: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argumento válido lógicamente puede ser falso si sus premisas son falsas. Un argumento inválido lógicamente puede tener conclusión verdadera por accidente — pero no es investigación científica.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422597"/>
            <a:ext cx="43957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Síntesis y próximos pasos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1081385"/>
            <a:ext cx="22670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Conceptos clave de hoy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640" y="1401068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158" y="13972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Deductivo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37158" y="1699617"/>
            <a:ext cx="358355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teoría general → verificación en caso particular. Certeza si las premisas son verdaderas, pero no genera conocimiento nuevo.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640" y="2478584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7158" y="247478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Inductivo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37158" y="2777133"/>
            <a:ext cx="358355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casos particulares → teoría general. Genera conocimiento nuevo pero siempre provisional (Hume). Lectura 1 (Wardle): casos → 7 tipos de desorden informativo.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640" y="3556099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7158" y="3552304"/>
            <a:ext cx="16293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Hipotético-Deductivo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37158" y="3854648"/>
            <a:ext cx="358355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 → predicción → test → conclusión. El motor del método científico (Popper): conocimiento falseable y acumulable. Lectura 2 (Hussain &amp; Soomro) y NASA JWST: H-D en su máxima expresión.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728046" y="1094929"/>
            <a:ext cx="3986585" cy="2546896"/>
          </a:xfrm>
          <a:prstGeom prst="roundRect">
            <a:avLst>
              <a:gd name="adj" fmla="val 2046"/>
            </a:avLst>
          </a:prstGeom>
          <a:solidFill>
            <a:srgbClr val="B6D6F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2020" y="1251124"/>
            <a:ext cx="193774" cy="1550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9768" y="1234380"/>
            <a:ext cx="31685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INVB7 — Investigación Bibliográfica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169768" y="1536725"/>
            <a:ext cx="342088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Retoma el artículo que encontraste en INVB5. Identifica qué tipo de razonamiento lógico usa el estudio: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169768" y="2006426"/>
            <a:ext cx="3420889" cy="8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¿Parten de una teoría y la aplican? →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Deductivo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¿Observan casos y generalizan? →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Inductivo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¿Formulan una hipótesis y la prueban? →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Hipotético-Deductivo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5169768" y="2924101"/>
            <a:ext cx="3420889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 la sección del paper que evidencia tu respuesta. ¿Mencionan los autores limitaciones del tipo de razonamiento que usan?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728046" y="3763863"/>
            <a:ext cx="3986585" cy="671140"/>
          </a:xfrm>
          <a:prstGeom prst="roundRect">
            <a:avLst>
              <a:gd name="adj" fmla="val 7763"/>
            </a:avLst>
          </a:prstGeom>
          <a:solidFill>
            <a:srgbClr val="B6FCB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2020" y="3948410"/>
            <a:ext cx="155004" cy="12397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30998" y="3903315"/>
            <a:ext cx="345965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clase: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Medición Cualitativa, Cuantitativa y el Método Delphi en 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2026-05-28T14:57:58Z</dcterms:created>
  <dcterms:modified xsi:type="dcterms:W3CDTF">2026-05-28T14:57:58Z</dcterms:modified>
</cp:coreProperties>
</file>