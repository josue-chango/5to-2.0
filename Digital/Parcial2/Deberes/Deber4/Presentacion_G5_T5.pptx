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3"/>
    </p:embeddedFont>
    <p:embeddedFont>
      <p:font typeface="Open Sans Bold" charset="1" panose="020B080603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1303" y="-12697"/>
            <a:ext cx="9169403" cy="10312403"/>
            <a:chOff x="0" y="0"/>
            <a:chExt cx="12225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5E8E">
                <a:alpha val="35686"/>
              </a:srgbClr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927097"/>
            <a:ext cx="8255003" cy="8255003"/>
            <a:chOff x="0" y="0"/>
            <a:chExt cx="11006671" cy="11006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0B4CC">
                <a:alpha val="5882"/>
              </a:srgbClr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16459200" cy="2743200"/>
            <a:chOff x="0" y="0"/>
            <a:chExt cx="21945600" cy="365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21945600" cy="384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Rendimiento y Hardware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548640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50720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0B4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Conceptos Clave de Arquitectura de Computadores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229600"/>
            <a:ext cx="10972800" cy="731520"/>
            <a:chOff x="0" y="0"/>
            <a:chExt cx="146304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630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64640" y="2743200"/>
            <a:ext cx="3291840" cy="3291840"/>
            <a:chOff x="0" y="0"/>
            <a:chExt cx="4389120" cy="43891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¿Qué es el Desempeño?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0058400" cy="822960"/>
            <a:chOff x="0" y="0"/>
            <a:chExt cx="13411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B4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Concepto Base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34640"/>
            <a:ext cx="9692640" cy="2743200"/>
            <a:chOff x="0" y="0"/>
            <a:chExt cx="1292352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23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9235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desempeño es qué tan "bien" realiza su trabajo un computador. En arquitectura, se define como el inverso del tiempo de ejecución.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mayor velocidad de ejecución, mejor es el rendimiento del sistema.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5565143"/>
            <a:ext cx="9169403" cy="1762763"/>
            <a:chOff x="0" y="0"/>
            <a:chExt cx="12225871" cy="23503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25909" cy="2350389"/>
            </a:xfrm>
            <a:custGeom>
              <a:avLst/>
              <a:gdLst/>
              <a:ahLst/>
              <a:cxnLst/>
              <a:rect r="r" b="b" t="t" l="l"/>
              <a:pathLst>
                <a:path h="2350389" w="12225909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1978513" y="0"/>
                  </a:lnTo>
                  <a:cubicBezTo>
                    <a:pt x="12115165" y="0"/>
                    <a:pt x="12225909" y="110744"/>
                    <a:pt x="12225909" y="247396"/>
                  </a:cubicBezTo>
                  <a:lnTo>
                    <a:pt x="12225909" y="2102993"/>
                  </a:lnTo>
                  <a:cubicBezTo>
                    <a:pt x="12225909" y="2239645"/>
                    <a:pt x="12115165" y="2350389"/>
                    <a:pt x="11978513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5669280"/>
            <a:ext cx="8961120" cy="1554480"/>
            <a:chOff x="0" y="0"/>
            <a:chExt cx="1194816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481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25" r="0" b="-623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194816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Desempeño  =  1 / Tiempo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589520"/>
            <a:ext cx="9144000" cy="731520"/>
            <a:chOff x="0" y="0"/>
            <a:chExt cx="121920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 Menos tiempo = Más desempeño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Latencia y Throughput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7383" y="1816103"/>
            <a:ext cx="7889243" cy="6974843"/>
            <a:chOff x="0" y="0"/>
            <a:chExt cx="10518991" cy="9299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890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518902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872" y="0"/>
                  </a:lnTo>
                  <a:cubicBezTo>
                    <a:pt x="10354564" y="0"/>
                    <a:pt x="10518902" y="164338"/>
                    <a:pt x="10518902" y="367030"/>
                  </a:cubicBezTo>
                  <a:lnTo>
                    <a:pt x="10518902" y="8932672"/>
                  </a:lnTo>
                  <a:cubicBezTo>
                    <a:pt x="10518902" y="9135364"/>
                    <a:pt x="10354564" y="9299702"/>
                    <a:pt x="10151872" y="9299702"/>
                  </a:cubicBezTo>
                  <a:lnTo>
                    <a:pt x="367030" y="9299702"/>
                  </a:lnTo>
                  <a:cubicBezTo>
                    <a:pt x="164338" y="9299702"/>
                    <a:pt x="0" y="9135364"/>
                    <a:pt x="0" y="8932672"/>
                  </a:cubicBezTo>
                  <a:close/>
                </a:path>
              </a:pathLst>
            </a:custGeom>
            <a:solidFill>
              <a:srgbClr val="D9F7D4"/>
            </a:solidFill>
            <a:ln w="25400" cap="sq">
              <a:solidFill>
                <a:srgbClr val="D9F7D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194560"/>
            <a:ext cx="1005840" cy="1005840"/>
            <a:chOff x="0" y="0"/>
            <a:chExt cx="1341120" cy="13411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77440" y="2103120"/>
            <a:ext cx="5852160" cy="1005840"/>
            <a:chOff x="0" y="0"/>
            <a:chExt cx="780288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2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8028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7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Latencia (Tiempo)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" y="3383280"/>
            <a:ext cx="7132320" cy="4572000"/>
            <a:chOff x="0" y="0"/>
            <a:chExt cx="9509760" cy="609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que tarda una sola tarea de principio a fin.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¿Cuánto tarda una instrucción en salir de la CPU?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mide en nanosegundos (ns) o microsegundos (µs).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1383" y="1816103"/>
            <a:ext cx="7889243" cy="6974843"/>
            <a:chOff x="0" y="0"/>
            <a:chExt cx="10518991" cy="9299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1890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518902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872" y="0"/>
                  </a:lnTo>
                  <a:cubicBezTo>
                    <a:pt x="10354564" y="0"/>
                    <a:pt x="10518902" y="164338"/>
                    <a:pt x="10518902" y="367030"/>
                  </a:cubicBezTo>
                  <a:lnTo>
                    <a:pt x="10518902" y="8932672"/>
                  </a:lnTo>
                  <a:cubicBezTo>
                    <a:pt x="10518902" y="9135364"/>
                    <a:pt x="10354564" y="9299702"/>
                    <a:pt x="10151872" y="9299702"/>
                  </a:cubicBezTo>
                  <a:lnTo>
                    <a:pt x="367030" y="9299702"/>
                  </a:lnTo>
                  <a:cubicBezTo>
                    <a:pt x="164338" y="9299702"/>
                    <a:pt x="0" y="9135364"/>
                    <a:pt x="0" y="8932672"/>
                  </a:cubicBezTo>
                  <a:close/>
                </a:path>
              </a:pathLst>
            </a:custGeom>
            <a:solidFill>
              <a:srgbClr val="F0EEFF"/>
            </a:solidFill>
            <a:ln w="25400" cap="sq">
              <a:solidFill>
                <a:srgbClr val="F0EE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41280" y="2194560"/>
            <a:ext cx="1005840" cy="1005840"/>
            <a:chOff x="0" y="0"/>
            <a:chExt cx="1341120" cy="134112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0" y="2103120"/>
            <a:ext cx="5852160" cy="1005840"/>
            <a:chOff x="0" y="0"/>
            <a:chExt cx="780288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2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8028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B2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 (Productividad)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0" y="3383280"/>
            <a:ext cx="7132320" cy="4572000"/>
            <a:chOff x="0" y="0"/>
            <a:chExt cx="9509760" cy="609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Cantidad de trabajo completado por unidad de tiempo.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¿Cuántas instrucciones se terminan por segundo?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puede aumentar con paralelismo sin reducir la latencia.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El Tiempo de Ejecución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10058400" cy="1005840"/>
            <a:chOff x="0" y="0"/>
            <a:chExt cx="1341120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métrica más importante. Depende de tres factores fundamentales: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926080"/>
            <a:ext cx="822960" cy="822960"/>
            <a:chOff x="0" y="0"/>
            <a:chExt cx="1097280" cy="10972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2834640"/>
            <a:ext cx="8229600" cy="640080"/>
            <a:chOff x="0" y="0"/>
            <a:chExt cx="109728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A5C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Cantidad de Instrucciones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0240" y="3474720"/>
            <a:ext cx="8229600" cy="640080"/>
            <a:chOff x="0" y="0"/>
            <a:chExt cx="109728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 instrucciones que ejecuta el programa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480560"/>
            <a:ext cx="822960" cy="822960"/>
            <a:chOff x="0" y="0"/>
            <a:chExt cx="1097280" cy="109728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20240" y="4389120"/>
            <a:ext cx="8229600" cy="640080"/>
            <a:chOff x="0" y="0"/>
            <a:chExt cx="10972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8A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Ciclos por Instrucción (CPI)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5029200"/>
            <a:ext cx="8229600" cy="640080"/>
            <a:chOff x="0" y="0"/>
            <a:chExt cx="109728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 de ciclos de reloj que necesita cada instrucción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6035040"/>
            <a:ext cx="822960" cy="822960"/>
            <a:chOff x="0" y="0"/>
            <a:chExt cx="1097280" cy="109728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5943600"/>
            <a:ext cx="8229600" cy="640080"/>
            <a:chOff x="0" y="0"/>
            <a:chExt cx="109728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4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del Ciclo de Reloj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20240" y="6583680"/>
            <a:ext cx="8229600" cy="640080"/>
            <a:chOff x="0" y="0"/>
            <a:chExt cx="109728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Duración de cada ciclo, inversamente proporcional a la frecuencia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0263" y="7668263"/>
            <a:ext cx="10083803" cy="1671323"/>
            <a:chOff x="0" y="0"/>
            <a:chExt cx="13445071" cy="22284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451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1344511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13197460" y="0"/>
                  </a:lnTo>
                  <a:cubicBezTo>
                    <a:pt x="13334239" y="0"/>
                    <a:pt x="13445110" y="110871"/>
                    <a:pt x="13445110" y="247650"/>
                  </a:cubicBezTo>
                  <a:lnTo>
                    <a:pt x="13445110" y="1980819"/>
                  </a:lnTo>
                  <a:cubicBezTo>
                    <a:pt x="13445110" y="2117598"/>
                    <a:pt x="13334239" y="2228469"/>
                    <a:pt x="13197460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7772400"/>
            <a:ext cx="9875520" cy="1463040"/>
            <a:chOff x="0" y="0"/>
            <a:chExt cx="1316736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673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31673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CPU = Instrucciones × CPI × T_Reloj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Aceleración (Speedup)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9692640" cy="1554480"/>
            <a:chOff x="0" y="0"/>
            <a:chExt cx="12923520" cy="207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3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94" r="0" b="-714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235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Nos dice cuántas veces es más rápido un computador mejorado frente al original.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Speedup &gt; 1 indica mejora; un Speedup &lt; 1 indica degradación.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3370583"/>
            <a:ext cx="8255003" cy="2037083"/>
            <a:chOff x="0" y="0"/>
            <a:chExt cx="11006671" cy="2716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67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006710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10710418" y="0"/>
                  </a:lnTo>
                  <a:cubicBezTo>
                    <a:pt x="10874122" y="0"/>
                    <a:pt x="11006710" y="132715"/>
                    <a:pt x="11006710" y="296291"/>
                  </a:cubicBezTo>
                  <a:lnTo>
                    <a:pt x="11006710" y="2419858"/>
                  </a:lnTo>
                  <a:cubicBezTo>
                    <a:pt x="11006710" y="2583561"/>
                    <a:pt x="10873994" y="2716149"/>
                    <a:pt x="1071041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474720"/>
            <a:ext cx="8046720" cy="1828800"/>
            <a:chOff x="0" y="0"/>
            <a:chExt cx="1072896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8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728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  =  Tiempo_viejo / Tiempo_nuevo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669280"/>
            <a:ext cx="8778240" cy="822960"/>
            <a:chOff x="0" y="0"/>
            <a:chExt cx="1170432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el Speedup es 2, el nuevo computador es el doble de rápido.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6492240"/>
            <a:ext cx="8778240" cy="822960"/>
            <a:chOff x="0" y="0"/>
            <a:chExt cx="117043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AA33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el Speedup es 0.5, el nuevo sistema es el doble de lento.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41280" y="1920240"/>
            <a:ext cx="2743200" cy="640080"/>
            <a:chOff x="0" y="0"/>
            <a:chExt cx="36576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57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28583" y="2547623"/>
            <a:ext cx="7340603" cy="1122683"/>
            <a:chOff x="0" y="0"/>
            <a:chExt cx="9787471" cy="14969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873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9787382">
                  <a:moveTo>
                    <a:pt x="0" y="249428"/>
                  </a:moveTo>
                  <a:cubicBezTo>
                    <a:pt x="0" y="111760"/>
                    <a:pt x="111760" y="0"/>
                    <a:pt x="249428" y="0"/>
                  </a:cubicBezTo>
                  <a:lnTo>
                    <a:pt x="9537954" y="0"/>
                  </a:lnTo>
                  <a:cubicBezTo>
                    <a:pt x="9675749" y="0"/>
                    <a:pt x="9787382" y="111760"/>
                    <a:pt x="9787382" y="249428"/>
                  </a:cubicBezTo>
                  <a:lnTo>
                    <a:pt x="9787382" y="1247394"/>
                  </a:lnTo>
                  <a:cubicBezTo>
                    <a:pt x="9787382" y="1385189"/>
                    <a:pt x="9675623" y="1496822"/>
                    <a:pt x="9537954" y="1496822"/>
                  </a:cubicBezTo>
                  <a:lnTo>
                    <a:pt x="249428" y="1496822"/>
                  </a:lnTo>
                  <a:cubicBezTo>
                    <a:pt x="111760" y="1496949"/>
                    <a:pt x="0" y="1385189"/>
                    <a:pt x="0" y="1247394"/>
                  </a:cubicBez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332720" y="2596896"/>
            <a:ext cx="7132320" cy="1024128"/>
            <a:chOff x="0" y="0"/>
            <a:chExt cx="9509760" cy="1365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509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41280" y="3931920"/>
            <a:ext cx="3657600" cy="640080"/>
            <a:chOff x="0" y="0"/>
            <a:chExt cx="487680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Mejorado (2x)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28583" y="4559303"/>
            <a:ext cx="3683003" cy="1122683"/>
            <a:chOff x="0" y="0"/>
            <a:chExt cx="491067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105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910582">
                  <a:moveTo>
                    <a:pt x="0" y="249428"/>
                  </a:moveTo>
                  <a:cubicBezTo>
                    <a:pt x="0" y="111760"/>
                    <a:pt x="111760" y="0"/>
                    <a:pt x="249428" y="0"/>
                  </a:cubicBezTo>
                  <a:lnTo>
                    <a:pt x="4661154" y="0"/>
                  </a:lnTo>
                  <a:cubicBezTo>
                    <a:pt x="4798949" y="0"/>
                    <a:pt x="4910582" y="111760"/>
                    <a:pt x="4910582" y="249428"/>
                  </a:cubicBezTo>
                  <a:lnTo>
                    <a:pt x="4910582" y="1247394"/>
                  </a:lnTo>
                  <a:cubicBezTo>
                    <a:pt x="4910582" y="1385189"/>
                    <a:pt x="4798822" y="1496822"/>
                    <a:pt x="4661154" y="1496822"/>
                  </a:cubicBezTo>
                  <a:lnTo>
                    <a:pt x="249428" y="1496822"/>
                  </a:lnTo>
                  <a:cubicBezTo>
                    <a:pt x="111760" y="1496949"/>
                    <a:pt x="0" y="1385189"/>
                    <a:pt x="0" y="1247394"/>
                  </a:cubicBezTo>
                  <a:close/>
                </a:path>
              </a:pathLst>
            </a:custGeom>
            <a:solidFill>
              <a:srgbClr val="3B4FCC"/>
            </a:solidFill>
            <a:ln w="25400" cap="sq">
              <a:solidFill>
                <a:srgbClr val="3B4FC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332720" y="4608576"/>
            <a:ext cx="3474720" cy="1024128"/>
            <a:chOff x="0" y="0"/>
            <a:chExt cx="4632960" cy="13655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6329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74503" y="6570983"/>
            <a:ext cx="4597403" cy="2037083"/>
            <a:chOff x="0" y="0"/>
            <a:chExt cx="6129871" cy="2716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9909" cy="2716149"/>
            </a:xfrm>
            <a:custGeom>
              <a:avLst/>
              <a:gdLst/>
              <a:ahLst/>
              <a:cxnLst/>
              <a:rect r="r" b="b" t="t" l="l"/>
              <a:pathLst>
                <a:path h="2716149" w="6129909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5833618" y="0"/>
                  </a:lnTo>
                  <a:cubicBezTo>
                    <a:pt x="5997321" y="0"/>
                    <a:pt x="6129909" y="132715"/>
                    <a:pt x="6129909" y="296291"/>
                  </a:cubicBezTo>
                  <a:lnTo>
                    <a:pt x="6129909" y="2419858"/>
                  </a:lnTo>
                  <a:cubicBezTo>
                    <a:pt x="6129909" y="2583561"/>
                    <a:pt x="5997194" y="2716149"/>
                    <a:pt x="583361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00B4CC"/>
            </a:solidFill>
            <a:ln w="25400" cap="sq">
              <a:solidFill>
                <a:srgbClr val="00B4C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978640" y="6675120"/>
            <a:ext cx="4389120" cy="1828800"/>
            <a:chOff x="0" y="0"/>
            <a:chExt cx="585216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8521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 = 2.0x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Doble de rápido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La Ley de Amdahl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9692640" cy="2194560"/>
            <a:chOff x="0" y="0"/>
            <a:chExt cx="1292352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3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235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Establece que la mejora total de un sistema está limitada por la parte que no se puede mejorar.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eso, es más eficiente optimizar las secciones que más se ejecutan.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4010663"/>
            <a:ext cx="9718043" cy="1579883"/>
            <a:chOff x="0" y="0"/>
            <a:chExt cx="12957391" cy="2106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730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2957302">
                  <a:moveTo>
                    <a:pt x="0" y="247777"/>
                  </a:moveTo>
                  <a:cubicBezTo>
                    <a:pt x="0" y="110998"/>
                    <a:pt x="110998" y="0"/>
                    <a:pt x="247777" y="0"/>
                  </a:cubicBezTo>
                  <a:lnTo>
                    <a:pt x="12709525" y="0"/>
                  </a:lnTo>
                  <a:cubicBezTo>
                    <a:pt x="12846431" y="0"/>
                    <a:pt x="12957302" y="110998"/>
                    <a:pt x="12957302" y="247777"/>
                  </a:cubicBezTo>
                  <a:lnTo>
                    <a:pt x="12957302" y="1858645"/>
                  </a:lnTo>
                  <a:cubicBezTo>
                    <a:pt x="12957302" y="1995551"/>
                    <a:pt x="12846304" y="2106422"/>
                    <a:pt x="12709525" y="2106422"/>
                  </a:cubicBezTo>
                  <a:lnTo>
                    <a:pt x="247777" y="2106422"/>
                  </a:lnTo>
                  <a:cubicBezTo>
                    <a:pt x="110998" y="2106549"/>
                    <a:pt x="0" y="1995551"/>
                    <a:pt x="0" y="1858645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4114800"/>
            <a:ext cx="9509760" cy="1371600"/>
            <a:chOff x="0" y="0"/>
            <a:chExt cx="1267968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9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096" r="0" b="-850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6796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Speedup_max = 1 / (1 - p)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669280"/>
            <a:ext cx="9509760" cy="640080"/>
            <a:chOff x="0" y="0"/>
            <a:chExt cx="1267968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9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6796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donde p = fracción paralelizable del programa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0263" y="6479543"/>
            <a:ext cx="9718043" cy="2402843"/>
            <a:chOff x="0" y="0"/>
            <a:chExt cx="12957391" cy="32037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5742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295742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12661646" y="0"/>
                  </a:lnTo>
                  <a:cubicBezTo>
                    <a:pt x="12824968" y="0"/>
                    <a:pt x="12957429" y="132461"/>
                    <a:pt x="12957429" y="295783"/>
                  </a:cubicBezTo>
                  <a:lnTo>
                    <a:pt x="12957429" y="2908046"/>
                  </a:lnTo>
                  <a:cubicBezTo>
                    <a:pt x="12957429" y="3071368"/>
                    <a:pt x="12824968" y="3203829"/>
                    <a:pt x="12661646" y="3203829"/>
                  </a:cubicBezTo>
                  <a:lnTo>
                    <a:pt x="295783" y="3203829"/>
                  </a:lnTo>
                  <a:cubicBezTo>
                    <a:pt x="132461" y="3203829"/>
                    <a:pt x="0" y="3071368"/>
                    <a:pt x="0" y="2908046"/>
                  </a:cubicBezTo>
                  <a:close/>
                </a:path>
              </a:pathLst>
            </a:custGeom>
            <a:solidFill>
              <a:srgbClr val="FFFDE0"/>
            </a:solidFill>
            <a:ln w="25400" cap="sq">
              <a:solidFill>
                <a:srgbClr val="E8D0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6675120"/>
            <a:ext cx="9144000" cy="2011680"/>
            <a:chOff x="0" y="0"/>
            <a:chExt cx="1219200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19200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3A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"No importa cuántos procesadores pongas, si el 10% del programa es secuencial, nunca serás más de 10 veces más rápido."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3A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Regla de Oro: Haz que el caso común sea rápido.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9144000" cy="1371600"/>
            <a:chOff x="0" y="0"/>
            <a:chExt cx="12192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920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Bandwidth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8997" y="1894837"/>
            <a:ext cx="8280397" cy="50797"/>
            <a:chOff x="0" y="0"/>
            <a:chExt cx="11040529" cy="67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40491" cy="67691"/>
            </a:xfrm>
            <a:custGeom>
              <a:avLst/>
              <a:gdLst/>
              <a:ahLst/>
              <a:cxnLst/>
              <a:rect r="r" b="b" t="t" l="l"/>
              <a:pathLst>
                <a:path h="67691" w="11040491">
                  <a:moveTo>
                    <a:pt x="0" y="0"/>
                  </a:moveTo>
                  <a:lnTo>
                    <a:pt x="110404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128018" r="0" b="-3128074"/>
              </a:stretch>
            </a:blipFill>
            <a:ln w="50800" cap="sq">
              <a:solidFill>
                <a:srgbClr val="00B4C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9144000" cy="6400800"/>
            <a:chOff x="0" y="0"/>
            <a:chExt cx="12192000" cy="853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192000" cy="859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capacidad máxima de un canal para mover datos. Se mide en Bits por segundo (bps) o Gigabytes por segundo (GB/s).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arquitectura, es crítico en el Bus de Memoria: qué tan rápido puede la RAM enviar datos al procesador.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procesador muy rápido puede quedar limitado si el ancho de banda de memoria es bajo — a esto se le llama cuello de botella de memoria.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8034023"/>
            <a:ext cx="9169403" cy="1397003"/>
            <a:chOff x="0" y="0"/>
            <a:chExt cx="1222587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25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22257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12027154" y="0"/>
                  </a:lnTo>
                  <a:cubicBezTo>
                    <a:pt x="12136882" y="0"/>
                    <a:pt x="12225782" y="88900"/>
                    <a:pt x="12225782" y="198628"/>
                  </a:cubicBezTo>
                  <a:lnTo>
                    <a:pt x="12225782" y="1663954"/>
                  </a:lnTo>
                  <a:cubicBezTo>
                    <a:pt x="12225782" y="1773682"/>
                    <a:pt x="12136882" y="1862582"/>
                    <a:pt x="1202715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0D2A3A"/>
            </a:solidFill>
            <a:ln w="25400" cap="sq">
              <a:solidFill>
                <a:srgbClr val="0D2A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8138160"/>
            <a:ext cx="8778240" cy="1188720"/>
            <a:chOff x="0" y="0"/>
            <a:chExt cx="1170432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04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043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B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DDR5 ofrece hasta 76.8 GB/s por canal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54939" y="3517410"/>
            <a:ext cx="6504361" cy="3252180"/>
          </a:xfrm>
          <a:custGeom>
            <a:avLst/>
            <a:gdLst/>
            <a:ahLst/>
            <a:cxnLst/>
            <a:rect r="r" b="b" t="t" l="l"/>
            <a:pathLst>
              <a:path h="3252180" w="6504361">
                <a:moveTo>
                  <a:pt x="0" y="0"/>
                </a:moveTo>
                <a:lnTo>
                  <a:pt x="6504361" y="0"/>
                </a:lnTo>
                <a:lnTo>
                  <a:pt x="6504361" y="3252180"/>
                </a:lnTo>
                <a:lnTo>
                  <a:pt x="0" y="3252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 Throughput en Arquitectura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2611643"/>
            <a:ext cx="10058400" cy="822960"/>
            <a:chOff x="0" y="0"/>
            <a:chExt cx="13411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tasa real de éxito en completar instrucciones.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4348107"/>
            <a:ext cx="822960" cy="822960"/>
            <a:chOff x="0" y="0"/>
            <a:chExt cx="1097280" cy="10972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37360" y="4384683"/>
            <a:ext cx="8412480" cy="731520"/>
            <a:chOff x="0" y="0"/>
            <a:chExt cx="1121664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216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B4F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MIPS — Millones de instrucciones por segundo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37360" y="5116203"/>
            <a:ext cx="8412480" cy="640080"/>
            <a:chOff x="0" y="0"/>
            <a:chExt cx="112166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 para instrucciones de enteros y control.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6435181"/>
            <a:ext cx="822960" cy="822960"/>
            <a:chOff x="0" y="0"/>
            <a:chExt cx="1097280" cy="109728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37360" y="6471757"/>
            <a:ext cx="8412480" cy="731520"/>
            <a:chOff x="0" y="0"/>
            <a:chExt cx="112166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216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FLOPS — Operaciones de punto flotante por segundo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37360" y="7203277"/>
            <a:ext cx="8412480" cy="640080"/>
            <a:chOff x="0" y="0"/>
            <a:chExt cx="112166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Esencial en cómputo científico, IA y gráficos 3D.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45703" y="1724663"/>
            <a:ext cx="7523483" cy="7340603"/>
            <a:chOff x="0" y="0"/>
            <a:chExt cx="10031311" cy="9787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3134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03134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9664319" y="0"/>
                  </a:lnTo>
                  <a:cubicBezTo>
                    <a:pt x="9867011" y="0"/>
                    <a:pt x="10031349" y="164338"/>
                    <a:pt x="10031349" y="367030"/>
                  </a:cubicBezTo>
                  <a:lnTo>
                    <a:pt x="10031349" y="9420479"/>
                  </a:lnTo>
                  <a:cubicBezTo>
                    <a:pt x="10031349" y="9623172"/>
                    <a:pt x="9867011" y="9787510"/>
                    <a:pt x="966431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EAFAF0"/>
            </a:solidFill>
            <a:ln w="25400" cap="sq">
              <a:solidFill>
                <a:srgbClr val="EAFA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424160" y="2011680"/>
            <a:ext cx="6766560" cy="914400"/>
            <a:chOff x="0" y="0"/>
            <a:chExt cx="902208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0220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7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Pipeline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24160" y="3017520"/>
            <a:ext cx="6766560" cy="5486400"/>
            <a:chOff x="0" y="0"/>
            <a:chExt cx="9022080" cy="731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022080" cy="735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 como una cadena de montaje. Aunque cada instrucción sigue tardando lo mismo en completarse (latencia), al solapar etapas se logra terminar más instrucciones por segundo (throughput).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Un pipeline de 5 etapas puede completar 1 instrucción por ciclo en estado estable.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Analogía: Latencia vs Throughput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907543"/>
            <a:ext cx="7889243" cy="7340603"/>
            <a:chOff x="0" y="0"/>
            <a:chExt cx="10518991" cy="9787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902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51902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999" y="0"/>
                  </a:lnTo>
                  <a:cubicBezTo>
                    <a:pt x="10354691" y="0"/>
                    <a:pt x="10519029" y="164338"/>
                    <a:pt x="10519029" y="367030"/>
                  </a:cubicBezTo>
                  <a:lnTo>
                    <a:pt x="10519029" y="9420479"/>
                  </a:lnTo>
                  <a:cubicBezTo>
                    <a:pt x="10519029" y="9623172"/>
                    <a:pt x="10354691" y="9787510"/>
                    <a:pt x="1015199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F0F0FF"/>
            </a:solidFill>
            <a:ln w="25400" cap="sq">
              <a:solidFill>
                <a:srgbClr val="F0F0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5" y="2377440"/>
            <a:ext cx="2011680" cy="2011680"/>
            <a:chOff x="0" y="0"/>
            <a:chExt cx="2438400" cy="24384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4389120"/>
            <a:ext cx="7498080" cy="914400"/>
            <a:chOff x="0" y="0"/>
            <a:chExt cx="9997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997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Lavar 1 carga: 30 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266944"/>
            <a:ext cx="7498080" cy="731520"/>
            <a:chOff x="0" y="0"/>
            <a:chExt cx="99974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(Latencia)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6217920"/>
            <a:ext cx="7132320" cy="1463040"/>
            <a:chOff x="0" y="0"/>
            <a:chExt cx="950976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5097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desde que empieza hasta que termina una sola carga.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79943" y="1907543"/>
            <a:ext cx="7889243" cy="7340603"/>
            <a:chOff x="0" y="0"/>
            <a:chExt cx="10518991" cy="9787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902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51902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999" y="0"/>
                  </a:lnTo>
                  <a:cubicBezTo>
                    <a:pt x="10354691" y="0"/>
                    <a:pt x="10519029" y="164338"/>
                    <a:pt x="10519029" y="367030"/>
                  </a:cubicBezTo>
                  <a:lnTo>
                    <a:pt x="10519029" y="9420479"/>
                  </a:lnTo>
                  <a:cubicBezTo>
                    <a:pt x="10519029" y="9623172"/>
                    <a:pt x="10354691" y="9787510"/>
                    <a:pt x="1015199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E0FFF8"/>
            </a:solidFill>
            <a:ln w="25400" cap="sq">
              <a:solidFill>
                <a:srgbClr val="E0FFF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881360" y="2377440"/>
            <a:ext cx="1463040" cy="1463040"/>
            <a:chOff x="0" y="0"/>
            <a:chExt cx="1950720" cy="195072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27280" y="2377440"/>
            <a:ext cx="1463040" cy="1463040"/>
            <a:chOff x="0" y="0"/>
            <a:chExt cx="1950720" cy="19507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73200" y="2377440"/>
            <a:ext cx="1463040" cy="1463040"/>
            <a:chOff x="0" y="0"/>
            <a:chExt cx="1950720" cy="195072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0" y="4389120"/>
            <a:ext cx="7498080" cy="914400"/>
            <a:chOff x="0" y="0"/>
            <a:chExt cx="999744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997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AA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cargas por hora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5266944"/>
            <a:ext cx="7498080" cy="731520"/>
            <a:chOff x="0" y="0"/>
            <a:chExt cx="999744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(Throughput)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0" y="6217920"/>
            <a:ext cx="7132320" cy="1463040"/>
            <a:chOff x="0" y="0"/>
            <a:chExt cx="950976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5097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4 lavadoras en paralelo: misma latencia, 4x más trabajo por hora.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de Métricas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7383" y="1779527"/>
            <a:ext cx="1854203" cy="1214123"/>
            <a:chOff x="0" y="0"/>
            <a:chExt cx="2472271" cy="1618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E05555"/>
            </a:solidFill>
            <a:ln w="25400" cap="sq">
              <a:solidFill>
                <a:srgbClr val="E0555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1975104"/>
            <a:ext cx="914400" cy="914400"/>
            <a:chOff x="0" y="0"/>
            <a:chExt cx="1219200" cy="1219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43200" y="1828800"/>
            <a:ext cx="4023360" cy="548640"/>
            <a:chOff x="0" y="0"/>
            <a:chExt cx="53644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36743" y="1870967"/>
            <a:ext cx="10815323" cy="1031243"/>
            <a:chOff x="0" y="0"/>
            <a:chExt cx="1442043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E05555"/>
            </a:solidFill>
            <a:ln w="25400" cap="sq">
              <a:solidFill>
                <a:srgbClr val="E0555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0" y="1938528"/>
            <a:ext cx="10424160" cy="914400"/>
            <a:chOff x="0" y="0"/>
            <a:chExt cx="138988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Mide segundos por tarea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3334007"/>
            <a:ext cx="1854203" cy="1214123"/>
            <a:chOff x="0" y="0"/>
            <a:chExt cx="2472271" cy="1618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3BB86B"/>
            </a:solidFill>
            <a:ln w="25400" cap="sq">
              <a:solidFill>
                <a:srgbClr val="3BB86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3529584"/>
            <a:ext cx="914400" cy="914400"/>
            <a:chOff x="0" y="0"/>
            <a:chExt cx="1219200" cy="12192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43200" y="3383280"/>
            <a:ext cx="4023360" cy="548640"/>
            <a:chOff x="0" y="0"/>
            <a:chExt cx="53644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Desempeño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36743" y="3425447"/>
            <a:ext cx="10815323" cy="1031243"/>
            <a:chOff x="0" y="0"/>
            <a:chExt cx="14420431" cy="137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3BB86B"/>
            </a:solidFill>
            <a:ln w="25400" cap="sq">
              <a:solidFill>
                <a:srgbClr val="3BB86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132320" y="3493008"/>
            <a:ext cx="10424160" cy="914400"/>
            <a:chOff x="0" y="0"/>
            <a:chExt cx="1389888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Mide tareas por segundo  (= 1 / Tiempo)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7383" y="4888487"/>
            <a:ext cx="1854203" cy="1214123"/>
            <a:chOff x="0" y="0"/>
            <a:chExt cx="2472271" cy="161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3B8FE0"/>
            </a:solidFill>
            <a:ln w="25400" cap="sq">
              <a:solidFill>
                <a:srgbClr val="3B8FE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" y="5084064"/>
            <a:ext cx="914400" cy="914400"/>
            <a:chOff x="0" y="0"/>
            <a:chExt cx="1219200" cy="12192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43200" y="4937760"/>
            <a:ext cx="4023360" cy="548640"/>
            <a:chOff x="0" y="0"/>
            <a:chExt cx="53644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Bandwidth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36743" y="4979927"/>
            <a:ext cx="10815323" cy="1031243"/>
            <a:chOff x="0" y="0"/>
            <a:chExt cx="1442043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3B8FE0"/>
            </a:solidFill>
            <a:ln w="25400" cap="sq">
              <a:solidFill>
                <a:srgbClr val="3B8FE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32320" y="5047488"/>
            <a:ext cx="10424160" cy="914400"/>
            <a:chOff x="0" y="0"/>
            <a:chExt cx="1389888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Capacidad máxima de transporte de datos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7383" y="6442967"/>
            <a:ext cx="1854203" cy="1214123"/>
            <a:chOff x="0" y="0"/>
            <a:chExt cx="2472271" cy="161883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A855D0"/>
            </a:solidFill>
            <a:ln w="25400" cap="sq">
              <a:solidFill>
                <a:srgbClr val="A855D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05840" y="6638544"/>
            <a:ext cx="914400" cy="914400"/>
            <a:chOff x="0" y="0"/>
            <a:chExt cx="1219200" cy="12192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743200" y="6492240"/>
            <a:ext cx="4023360" cy="548640"/>
            <a:chOff x="0" y="0"/>
            <a:chExt cx="53644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36743" y="6534407"/>
            <a:ext cx="10815323" cy="1031243"/>
            <a:chOff x="0" y="0"/>
            <a:chExt cx="14420431" cy="13749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A855D0"/>
            </a:solidFill>
            <a:ln w="25400" cap="sq">
              <a:solidFill>
                <a:srgbClr val="A855D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132320" y="6601968"/>
            <a:ext cx="10424160" cy="914400"/>
            <a:chOff x="0" y="0"/>
            <a:chExt cx="1389888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Tiempo_viejo / Tiempo_nuevo — cuánto mejoró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27383" y="7997447"/>
            <a:ext cx="1854203" cy="1214123"/>
            <a:chOff x="0" y="0"/>
            <a:chExt cx="2472271" cy="16188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E08A3B"/>
            </a:solidFill>
            <a:ln w="25400" cap="sq">
              <a:solidFill>
                <a:srgbClr val="E08A3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840" y="8193024"/>
            <a:ext cx="914400" cy="914400"/>
            <a:chOff x="0" y="0"/>
            <a:chExt cx="1219200" cy="12192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743200" y="8046720"/>
            <a:ext cx="4023360" cy="548640"/>
            <a:chOff x="0" y="0"/>
            <a:chExt cx="53644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MIPS / FLOPS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36743" y="8088887"/>
            <a:ext cx="10815323" cy="1031243"/>
            <a:chOff x="0" y="0"/>
            <a:chExt cx="14420431" cy="13749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E08A3B"/>
            </a:solidFill>
            <a:ln w="25400" cap="sq">
              <a:solidFill>
                <a:srgbClr val="E08A3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132320" y="8156448"/>
            <a:ext cx="10424160" cy="914400"/>
            <a:chOff x="0" y="0"/>
            <a:chExt cx="1389888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Throughput real: instrucciones u operaciones por segundo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9810" y="2645728"/>
            <a:ext cx="6088380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SU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DAHMsrs4LQg</dc:identifier>
  <dcterms:modified xsi:type="dcterms:W3CDTF">2011-08-01T06:04:30Z</dcterms:modified>
  <cp:revision>1</cp:revision>
  <dc:title>Rendimiento_Arquitectura_vv2.pptx</dc:title>
</cp:coreProperties>
</file>